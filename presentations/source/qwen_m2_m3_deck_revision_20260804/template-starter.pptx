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a6b88e61eb43e9" /><Relationship Type="http://schemas.openxmlformats.org/officeDocument/2006/relationships/extended-properties" Target="/docProps/app.xml" Id="R72be37cf97454a25" /><Relationship Type="http://schemas.openxmlformats.org/officeDocument/2006/relationships/officeDocument" Target="/ppt/presentation.xml" Id="R687414d9c56f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1ba90af9e44a05"/>
  </p:sldMasterIdLst>
  <p:notesMasterIdLst>
    <p:notesMasterId xmlns:r="http://schemas.openxmlformats.org/officeDocument/2006/relationships" r:id="Rb7b276fc3a664650"/>
  </p:notesMasterIdLst>
  <p:sldIdLst>
    <p:sldId xmlns:r="http://schemas.openxmlformats.org/officeDocument/2006/relationships" id="256" r:id="R7319a09606274187"/>
    <p:sldId xmlns:r="http://schemas.openxmlformats.org/officeDocument/2006/relationships" id="257" r:id="R7bcc501a459c40e8"/>
    <p:sldId xmlns:r="http://schemas.openxmlformats.org/officeDocument/2006/relationships" id="258" r:id="R702c63a752f2402f"/>
    <p:sldId xmlns:r="http://schemas.openxmlformats.org/officeDocument/2006/relationships" id="259" r:id="Ra961a930824d4e18"/>
    <p:sldId xmlns:r="http://schemas.openxmlformats.org/officeDocument/2006/relationships" id="260" r:id="R4cb57ce982d94445"/>
    <p:sldId xmlns:r="http://schemas.openxmlformats.org/officeDocument/2006/relationships" id="261" r:id="R2a68402a341f4053"/>
    <p:sldId xmlns:r="http://schemas.openxmlformats.org/officeDocument/2006/relationships" id="262" r:id="R19c602b5dcc94e2f"/>
    <p:sldId xmlns:r="http://schemas.openxmlformats.org/officeDocument/2006/relationships" id="263" r:id="R4ca5f19f85114bd4"/>
    <p:sldId xmlns:r="http://schemas.openxmlformats.org/officeDocument/2006/relationships" id="264" r:id="R0648cb9a8d984b3c"/>
    <p:sldId xmlns:r="http://schemas.openxmlformats.org/officeDocument/2006/relationships" id="265" r:id="R602008b11422406f"/>
    <p:sldId xmlns:r="http://schemas.openxmlformats.org/officeDocument/2006/relationships" id="266" r:id="R61474e72773b46cc"/>
    <p:sldId xmlns:r="http://schemas.openxmlformats.org/officeDocument/2006/relationships" id="267" r:id="Rac979462cda64f97"/>
    <p:sldId xmlns:r="http://schemas.openxmlformats.org/officeDocument/2006/relationships" id="268" r:id="R23089eb94839436e"/>
    <p:sldId xmlns:r="http://schemas.openxmlformats.org/officeDocument/2006/relationships" id="269" r:id="R02bd12c54c3a4c92"/>
    <p:sldId xmlns:r="http://schemas.openxmlformats.org/officeDocument/2006/relationships" id="270" r:id="R4b3dfded80054086"/>
    <p:sldId xmlns:r="http://schemas.openxmlformats.org/officeDocument/2006/relationships" id="271" r:id="R4b6cb46ea20149bd"/>
    <p:sldId xmlns:r="http://schemas.openxmlformats.org/officeDocument/2006/relationships" id="272" r:id="R69c312c9a27f48f1"/>
    <p:sldId xmlns:r="http://schemas.openxmlformats.org/officeDocument/2006/relationships" id="273" r:id="Rc559e965608a4019"/>
    <p:sldId xmlns:r="http://schemas.openxmlformats.org/officeDocument/2006/relationships" id="274" r:id="Rc9b08a2096644f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7948da09d34db9" /><Relationship Type="http://schemas.openxmlformats.org/officeDocument/2006/relationships/slideMaster" Target="/ppt/slideMasters/slideMaster1.xml" Id="Rc41ba90af9e44a05" /><Relationship Type="http://schemas.openxmlformats.org/officeDocument/2006/relationships/notesMaster" Target="/ppt/notesMasters/notesMaster1.xml" Id="Rb7b276fc3a664650" /><Relationship Type="http://schemas.openxmlformats.org/officeDocument/2006/relationships/presProps" Target="/ppt/presProps.xml" Id="Rcc1db7e1e1d2468f" /><Relationship Type="http://schemas.openxmlformats.org/officeDocument/2006/relationships/tableStyles" Target="/ppt/tableStyles.xml" Id="Re5b6bad126444e89" /><Relationship Type="http://schemas.openxmlformats.org/officeDocument/2006/relationships/slide" Target="/ppt/slides/slide1.xml" Id="R7319a09606274187" /><Relationship Type="http://schemas.openxmlformats.org/officeDocument/2006/relationships/slide" Target="/ppt/slides/slide2.xml" Id="R7bcc501a459c40e8" /><Relationship Type="http://schemas.openxmlformats.org/officeDocument/2006/relationships/slide" Target="/ppt/slides/slide3.xml" Id="R702c63a752f2402f" /><Relationship Type="http://schemas.openxmlformats.org/officeDocument/2006/relationships/slide" Target="/ppt/slides/slide4.xml" Id="Ra961a930824d4e18" /><Relationship Type="http://schemas.openxmlformats.org/officeDocument/2006/relationships/slide" Target="/ppt/slides/slide5.xml" Id="R4cb57ce982d94445" /><Relationship Type="http://schemas.openxmlformats.org/officeDocument/2006/relationships/slide" Target="/ppt/slides/slide6.xml" Id="R2a68402a341f4053" /><Relationship Type="http://schemas.openxmlformats.org/officeDocument/2006/relationships/slide" Target="/ppt/slides/slide7.xml" Id="R19c602b5dcc94e2f" /><Relationship Type="http://schemas.openxmlformats.org/officeDocument/2006/relationships/slide" Target="/ppt/slides/slide8.xml" Id="R4ca5f19f85114bd4" /><Relationship Type="http://schemas.openxmlformats.org/officeDocument/2006/relationships/slide" Target="/ppt/slides/slide9.xml" Id="R0648cb9a8d984b3c" /><Relationship Type="http://schemas.openxmlformats.org/officeDocument/2006/relationships/slide" Target="/ppt/slides/slide10.xml" Id="R602008b11422406f" /><Relationship Type="http://schemas.openxmlformats.org/officeDocument/2006/relationships/slide" Target="/ppt/slides/slide11.xml" Id="R61474e72773b46cc" /><Relationship Type="http://schemas.openxmlformats.org/officeDocument/2006/relationships/slide" Target="/ppt/slides/slide12.xml" Id="Rac979462cda64f97" /><Relationship Type="http://schemas.openxmlformats.org/officeDocument/2006/relationships/slide" Target="/ppt/slides/slide13.xml" Id="R23089eb94839436e" /><Relationship Type="http://schemas.openxmlformats.org/officeDocument/2006/relationships/slide" Target="/ppt/slides/slide14.xml" Id="R02bd12c54c3a4c92" /><Relationship Type="http://schemas.openxmlformats.org/officeDocument/2006/relationships/slide" Target="/ppt/slides/slide15.xml" Id="R4b3dfded80054086" /><Relationship Type="http://schemas.openxmlformats.org/officeDocument/2006/relationships/slide" Target="/ppt/slides/slide16.xml" Id="R4b6cb46ea20149bd" /><Relationship Type="http://schemas.openxmlformats.org/officeDocument/2006/relationships/slide" Target="/ppt/slides/slide17.xml" Id="R69c312c9a27f48f1" /><Relationship Type="http://schemas.openxmlformats.org/officeDocument/2006/relationships/slide" Target="/ppt/slides/slide18.xml" Id="Rc559e965608a4019" /><Relationship Type="http://schemas.openxmlformats.org/officeDocument/2006/relationships/slide" Target="/ppt/slides/slide19.xml" Id="Rc9b08a209664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c2a16f181746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f418f115014c77" /><Relationship Type="http://schemas.openxmlformats.org/officeDocument/2006/relationships/notesMaster" Target="/ppt/notesMasters/notesMaster1.xml" Id="R27f2bdc82e3a4a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a003156a2a4feb" /><Relationship Type="http://schemas.openxmlformats.org/officeDocument/2006/relationships/notesMaster" Target="/ppt/notesMasters/notesMaster1.xml" Id="R11790c1b2fb34f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1e84a482804454" /><Relationship Type="http://schemas.openxmlformats.org/officeDocument/2006/relationships/notesMaster" Target="/ppt/notesMasters/notesMaster1.xml" Id="R5bf2a42229f94c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fc7cd9b6bc47ad" /><Relationship Type="http://schemas.openxmlformats.org/officeDocument/2006/relationships/notesMaster" Target="/ppt/notesMasters/notesMaster1.xml" Id="R473c5b70e273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b8b97ef5fc4fdb" /><Relationship Type="http://schemas.openxmlformats.org/officeDocument/2006/relationships/notesMaster" Target="/ppt/notesMasters/notesMaster1.xml" Id="Rea962ce0f53546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c0db612cd54fa2" /><Relationship Type="http://schemas.openxmlformats.org/officeDocument/2006/relationships/notesMaster" Target="/ppt/notesMasters/notesMaster1.xml" Id="Rf7a4e7d138834b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f15efd9e1c4f75" /><Relationship Type="http://schemas.openxmlformats.org/officeDocument/2006/relationships/notesMaster" Target="/ppt/notesMasters/notesMaster1.xml" Id="Re0cf6a99de6b4d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fa89c4d4e6446e" /><Relationship Type="http://schemas.openxmlformats.org/officeDocument/2006/relationships/notesMaster" Target="/ppt/notesMasters/notesMaster1.xml" Id="Rb0edc1c3bf3549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5d8e9ea509405d" /><Relationship Type="http://schemas.openxmlformats.org/officeDocument/2006/relationships/notesMaster" Target="/ppt/notesMasters/notesMaster1.xml" Id="Rfc613fcc22b04c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a04e28d22b42fc" /><Relationship Type="http://schemas.openxmlformats.org/officeDocument/2006/relationships/notesMaster" Target="/ppt/notesMasters/notesMaster1.xml" Id="Rfbfa2bbb3c1945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8c8dd523514dbb" /><Relationship Type="http://schemas.openxmlformats.org/officeDocument/2006/relationships/notesMaster" Target="/ppt/notesMasters/notesMaster1.xml" Id="R6478f20e4bd045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96325ffc2c45ed" /><Relationship Type="http://schemas.openxmlformats.org/officeDocument/2006/relationships/notesMaster" Target="/ppt/notesMasters/notesMaster1.xml" Id="Rd1a7d32aa56949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a9c96b06204bae" /><Relationship Type="http://schemas.openxmlformats.org/officeDocument/2006/relationships/notesMaster" Target="/ppt/notesMasters/notesMaster1.xml" Id="Rcde091b3e1c24f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fdd67ded454ca3" /><Relationship Type="http://schemas.openxmlformats.org/officeDocument/2006/relationships/notesMaster" Target="/ppt/notesMasters/notesMaster1.xml" Id="R377a7cc734b240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fafbaad6dd46e9" /><Relationship Type="http://schemas.openxmlformats.org/officeDocument/2006/relationships/notesMaster" Target="/ppt/notesMasters/notesMaster1.xml" Id="Reeaa258fd08843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60ad583d874273" /><Relationship Type="http://schemas.openxmlformats.org/officeDocument/2006/relationships/notesMaster" Target="/ppt/notesMasters/notesMaster1.xml" Id="R8b13eecc65e446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76a2e8b3cd4d0d" /><Relationship Type="http://schemas.openxmlformats.org/officeDocument/2006/relationships/notesMaster" Target="/ppt/notesMasters/notesMaster1.xml" Id="R3198455ccf4a4b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e166e63d2b4b60" /><Relationship Type="http://schemas.openxmlformats.org/officeDocument/2006/relationships/notesMaster" Target="/ppt/notesMasters/notesMaster1.xml" Id="R4b170656ba6d44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cb7aec63144726" /><Relationship Type="http://schemas.openxmlformats.org/officeDocument/2006/relationships/notesMaster" Target="/ppt/notesMasters/notesMaster1.xml" Id="R9fe08783156349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documentation/95_PRE_M2_PARAPHRASE_COUNTERBALANCE_REPORT.md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documentation/94_PRE_M2_FROZEN_HARD_EVALUATION_REPORT.md</a:t>
            </a:r>
          </a:p>
          <a:p xmlns:a="http://schemas.openxmlformats.org/drawingml/2006/main">
            <a:r>
              <a:t>- documentation/95_PRE_M2_PARAPHRASE_COUNTERBALANCE_REPORT.md</a:t>
            </a:r>
          </a:p>
          <a:p xmlns:a="http://schemas.openxmlformats.org/drawingml/2006/main">
            <a:r>
              <a:t>- documentation/96_PRE_M2_JOINT_RELATION_CONTROL_REPORT.md</a:t>
            </a:r>
          </a:p>
          <a:p xmlns:a="http://schemas.openxmlformats.org/drawingml/2006/main">
            <a:r>
              <a:t>- documentation/97_PRE_M2_DRIFT_ABLATION_REPORT.md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documentation/128_SMOLLM_500_FACT_PROMPT_CONSISTENCY_REMEDIATION_PLAN.md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documentation/132_PRE_M2_QWEN_READINESS_AND_BASELINE_PLAN.md</a:t>
            </a:r>
          </a:p>
          <a:p xmlns:a="http://schemas.openxmlformats.org/drawingml/2006/main">
            <a:r>
              <a:t>- documentation/134_QWEN_PRE_M2_GPU_BLOCKER_AND_OFFLINE_PREPARATION_STATUS.md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documentation/134_QWEN_PRE_M2_GPU_BLOCKER_AND_OFFLINE_PREPARATION_STATUS.md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documentation/139_POST_M2_M3_INDEPENDENT_NEXT_ACTION_PLAN_EN.md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documentation/139_POST_M2_M3_INDEPENDENT_NEXT_ACTION_PLAN_EN.md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dc44ef61845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112859aa6a4481" /><Relationship Type="http://schemas.openxmlformats.org/officeDocument/2006/relationships/slideLayout" Target="/ppt/slideLayouts/slideLayout1.xml" Id="R745995861e2a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5995861e2a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ca0aa6caa4460" /><Relationship Type="http://schemas.openxmlformats.org/officeDocument/2006/relationships/notesSlide" Target="/ppt/notesSlides/notesSlide1.xml" Id="R798082cc3da44a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ce802c9dc4c67" /><Relationship Type="http://schemas.openxmlformats.org/officeDocument/2006/relationships/notesSlide" Target="/ppt/notesSlides/notesSlide2.xml" Id="Rc7d236e1433048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7d669df0d457c" /><Relationship Type="http://schemas.openxmlformats.org/officeDocument/2006/relationships/notesSlide" Target="/ppt/notesSlides/notesSlide3.xml" Id="R9c52621deda746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945e527aa48b5" /><Relationship Type="http://schemas.openxmlformats.org/officeDocument/2006/relationships/notesSlide" Target="/ppt/notesSlides/notesSlide4.xml" Id="R8c73ad63d97c4d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c10a4be5f495e" /><Relationship Type="http://schemas.openxmlformats.org/officeDocument/2006/relationships/notesSlide" Target="/ppt/notesSlides/notesSlide5.xml" Id="R7c5c467e21c045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6cbed86194a7b" /><Relationship Type="http://schemas.openxmlformats.org/officeDocument/2006/relationships/notesSlide" Target="/ppt/notesSlides/notesSlide6.xml" Id="R17353c1ef03f49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662e87bf4c4a" /><Relationship Type="http://schemas.openxmlformats.org/officeDocument/2006/relationships/chart" Target="/ppt/slides/charts/chart1.xml" Id="Rcc76ede5cba54b22" /><Relationship Type="http://schemas.openxmlformats.org/officeDocument/2006/relationships/notesSlide" Target="/ppt/notesSlides/notesSlide7.xml" Id="R19ffa7d7505840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c0afc58894e58" /><Relationship Type="http://schemas.openxmlformats.org/officeDocument/2006/relationships/notesSlide" Target="/ppt/notesSlides/notesSlide8.xml" Id="R1ddf2ef4588845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4229a4cfa45cf" /><Relationship Type="http://schemas.openxmlformats.org/officeDocument/2006/relationships/notesSlide" Target="/ppt/notesSlides/notesSlide9.xml" Id="R88b8f8a30aba4a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0a838ed7540b6" /><Relationship Type="http://schemas.openxmlformats.org/officeDocument/2006/relationships/notesSlide" Target="/ppt/notesSlides/notesSlide10.xml" Id="R26f03a75c4664a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87c1f9b544411" /><Relationship Type="http://schemas.openxmlformats.org/officeDocument/2006/relationships/notesSlide" Target="/ppt/notesSlides/notesSlide11.xml" Id="R21273875311b4b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235bd11cc412b" /><Relationship Type="http://schemas.openxmlformats.org/officeDocument/2006/relationships/notesSlide" Target="/ppt/notesSlides/notesSlide12.xml" Id="R7ed65964ad1b47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7b541e56e46b5" /><Relationship Type="http://schemas.openxmlformats.org/officeDocument/2006/relationships/notesSlide" Target="/ppt/notesSlides/notesSlide13.xml" Id="Rc3630a181a8a49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51e4ec01e4371" /><Relationship Type="http://schemas.openxmlformats.org/officeDocument/2006/relationships/chart" Target="/ppt/slides/charts/chart2.xml" Id="R64cf9f8d18ad4518" /><Relationship Type="http://schemas.openxmlformats.org/officeDocument/2006/relationships/notesSlide" Target="/ppt/notesSlides/notesSlide14.xml" Id="R4ec864e7e27b4c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d7daa96d84063" /><Relationship Type="http://schemas.openxmlformats.org/officeDocument/2006/relationships/notesSlide" Target="/ppt/notesSlides/notesSlide15.xml" Id="R5af7c8ef58b04b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d4449500143c5" /><Relationship Type="http://schemas.openxmlformats.org/officeDocument/2006/relationships/notesSlide" Target="/ppt/notesSlides/notesSlide16.xml" Id="R2516528d11fb48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704b98c74557" /><Relationship Type="http://schemas.openxmlformats.org/officeDocument/2006/relationships/notesSlide" Target="/ppt/notesSlides/notesSlide17.xml" Id="R7074dea4e0604c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856ac3ecc45e5" /><Relationship Type="http://schemas.openxmlformats.org/officeDocument/2006/relationships/notesSlide" Target="/ppt/notesSlides/notesSlide18.xml" Id="Rf390044c3bef4b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6370db4aa4baf" /><Relationship Type="http://schemas.openxmlformats.org/officeDocument/2006/relationships/notesSlide" Target="/ppt/notesSlides/notesSlide19.xml" Id="R7521b43a7baf40c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Eight-cell robust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5"/>
              <c:pt idx="0">
                <c:v>Qwen</c:v>
              </c:pt>
              <c:pt idx="1">
                <c:v>StableLM</c:v>
              </c:pt>
              <c:pt idx="2">
                <c:v>Llama</c:v>
              </c:pt>
              <c:pt idx="3">
                <c:v>Gemma</c:v>
              </c:pt>
              <c:pt idx="4">
                <c:v>SmolLM</c:v>
              </c:pt>
            </c:strLit>
          </c:cat>
          <c:val>
            <c:numLit>
              <c:formatCode>General</c:formatCode>
              <c:ptCount val="5"/>
              <c:pt idx="0">
                <c:v>99.6</c:v>
              </c:pt>
              <c:pt idx="1">
                <c:v>93.8</c:v>
              </c:pt>
              <c:pt idx="2">
                <c:v>81.4</c:v>
              </c:pt>
              <c:pt idx="3">
                <c:v>78</c:v>
              </c:pt>
              <c:pt idx="4">
                <c:v>39.6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TR→EN top-1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6"/>
              <c:pt idx="0">
                <c:v>M1
S42</c:v>
              </c:pt>
              <c:pt idx="1">
                <c:v>M2
S42</c:v>
              </c:pt>
              <c:pt idx="2">
                <c:v>M3
S42</c:v>
              </c:pt>
              <c:pt idx="3">
                <c:v>M1
S43</c:v>
              </c:pt>
              <c:pt idx="4">
                <c:v>M2
S43</c:v>
              </c:pt>
              <c:pt idx="5">
                <c:v>M3
S43</c:v>
              </c:pt>
            </c:strLit>
          </c:cat>
          <c:val>
            <c:numLit>
              <c:formatCode>General</c:formatCode>
              <c:ptCount val="6"/>
              <c:pt idx="0">
                <c:v>52.03</c:v>
              </c:pt>
              <c:pt idx="1">
                <c:v>33.29</c:v>
              </c:pt>
              <c:pt idx="2">
                <c:v>35.14</c:v>
              </c:pt>
              <c:pt idx="3">
                <c:v>52.52</c:v>
              </c:pt>
              <c:pt idx="4">
                <c:v>33.7</c:v>
              </c:pt>
              <c:pt idx="5">
                <c:v>35.59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725F1D92-EBD3-4056-9400-6E84350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7547831-FFFA-4F9F-9D24-E85D4F9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THESIS RESEARCH UPDATE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3B52-06E5-4E7B-8CB3-23847FC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048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From robust English acquisition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to cross-lingual adaptation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DDFCF4A-C7B8-42A2-9776-3543A6A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What changed, what the first causal family shows, and what remains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582E30-CBB8-4880-AFD7-536222E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75E6A072-0E89-4B06-AE34-C79619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Umut Yeşildal  ·  Thesis progress discussion  ·  August 2026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A5F2753-A297-484D-9FC4-F8D7100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Qwen M1 replication · M2/M3 endpoint evidence · 2,500 facts</a:t>
            </a:r>
          </a:p>
        </p:txBody>
      </p:sp>
    </p:spTree>
    <p:extLst>
      <p:ext uri="{BB962C8B-B14F-4D97-AF65-F5344CB8AC3E}">
        <p14:creationId xmlns:p14="http://schemas.microsoft.com/office/powerpoint/2010/main" val="18365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SINCE THE LAST UPDATE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We moved from an apparent M1 solution to a completed causal test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Stronger measurement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Subject-held-out forms showed that SmolLM’s 500-fact success depended strongly on prompt exposure.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Model decision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A frozen cross-family screen and retention replay selected Qwen, replicated at 2,500 facts.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Causal execution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M2-clean and M3-fact completed in two seed chains at a fixed endpoint with 240,000 endpoint probes.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result is valid but not conclusive: M3 partially recovers access, while the primary interaction replicates in only one seed.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SCIENTIFIC INTERPRETATION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causal family is complete—not the thesis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English-acquired facts were already partly accessible from Turkish prompts; clean adaptation strongly reduced that access.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M3 adds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Correct Turkish factual exposure produced a small, consistent descriptive recovery relative to M2-clean.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we cannot claim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The Branch-B-specific factual-relearning advantage was not replicated under the precommitted two-seed confidence rule.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This is a valid negative/inconclusive result—not a failed experiment and not evidence that all future transfer mechanisms are exhausted.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1A763FD2-14C5-4915-A69B-7AEA4D7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MEASUREMENT EVOLUTION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7BFD4A-66C8-4C9E-BFB0-4C54C81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Exact storage does not guarantee robust access</a:t>
            </a:r>
          </a:p>
        </p:txBody>
      </p:sp>
      <p:sp>
        <p:nvSpPr>
          <p:cNvPr id="3" name="example">
            <a:extLst xmlns:a="http://schemas.openxmlformats.org/drawingml/2006/main">
              <a:ext uri="{FF2B5EF4-FFF2-40B4-BE49-F238E27FC236}">
                <a16:creationId xmlns:a16="http://schemas.microsoft.com/office/drawing/2014/main" id="{2C87A49C-560F-4493-A9C0-CBDFB7D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fact">
            <a:extLst xmlns:a="http://schemas.openxmlformats.org/drawingml/2006/main">
              <a:ext uri="{FF2B5EF4-FFF2-40B4-BE49-F238E27FC236}">
                <a16:creationId xmlns:a16="http://schemas.microsoft.com/office/drawing/2014/main" id="{53C1EE77-6508-48E4-83FB-C4F6865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238"/>
                </a:solidFill>
              </a:defRPr>
            </a:pPr>
            <a:r>
              <a:rPr sz="1875" b="1">
                <a:solidFill>
                  <a:srgbClr val="132238"/>
                </a:solidFill>
              </a:rPr>
              <a:t>One fact  →  multiple unseen retrieval conditions</a:t>
            </a:r>
          </a:p>
        </p:txBody>
      </p:sp>
      <p:sp>
        <p:nvSpPr>
          <p:cNvPr id="5" name="train-form">
            <a:extLst xmlns:a="http://schemas.openxmlformats.org/drawingml/2006/main">
              <a:ext uri="{FF2B5EF4-FFF2-40B4-BE49-F238E27FC236}">
                <a16:creationId xmlns:a16="http://schemas.microsoft.com/office/drawing/2014/main" id="{8109BF90-655C-4734-9551-1B0FBD1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evaluator became progressively harder before M2/M3 was allowed.</a:t>
            </a:r>
          </a:p>
        </p:txBody>
      </p:sp>
      <p:sp>
        <p:nvSpPr>
          <p:cNvPr id="6" name="initial-probe-0">
            <a:extLst xmlns:a="http://schemas.openxmlformats.org/drawingml/2006/main">
              <a:ext uri="{FF2B5EF4-FFF2-40B4-BE49-F238E27FC236}">
                <a16:creationId xmlns:a16="http://schemas.microsoft.com/office/drawing/2014/main" id="{EED1C8A4-D302-4FBA-8FB7-9F994B6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itial-probe-title-0">
            <a:extLst xmlns:a="http://schemas.openxmlformats.org/drawingml/2006/main">
              <a:ext uri="{FF2B5EF4-FFF2-40B4-BE49-F238E27FC236}">
                <a16:creationId xmlns:a16="http://schemas.microsoft.com/office/drawing/2014/main" id="{7421E568-F153-4A88-A271-349E889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999"/>
                </a:solidFill>
              </a:defRPr>
            </a:pPr>
            <a:r>
              <a:rPr sz="1575" b="1">
                <a:solidFill>
                  <a:srgbClr val="18A999"/>
                </a:solidFill>
              </a:rPr>
              <a:t>Exact-prefix</a:t>
            </a:r>
          </a:p>
        </p:txBody>
      </p:sp>
      <p:sp>
        <p:nvSpPr>
          <p:cNvPr id="8" name="initial-probe-example-0">
            <a:extLst xmlns:a="http://schemas.openxmlformats.org/drawingml/2006/main">
              <a:ext uri="{FF2B5EF4-FFF2-40B4-BE49-F238E27FC236}">
                <a16:creationId xmlns:a16="http://schemas.microsoft.com/office/drawing/2014/main" id="{586918C1-E2BF-475B-BBE8-6EAE8C1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Can the model complete the canonical fact string?</a:t>
            </a:r>
          </a:p>
        </p:txBody>
      </p:sp>
      <p:sp>
        <p:nvSpPr>
          <p:cNvPr id="9" name="initial-probe-result-0">
            <a:extLst xmlns:a="http://schemas.openxmlformats.org/drawingml/2006/main">
              <a:ext uri="{FF2B5EF4-FFF2-40B4-BE49-F238E27FC236}">
                <a16:creationId xmlns:a16="http://schemas.microsoft.com/office/drawing/2014/main" id="{1FC96EA9-D270-4EB0-B1A7-AEED78C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storage</a:t>
            </a:r>
          </a:p>
        </p:txBody>
      </p:sp>
      <p:sp>
        <p:nvSpPr>
          <p:cNvPr id="10" name="initial-probe-1">
            <a:extLst xmlns:a="http://schemas.openxmlformats.org/drawingml/2006/main">
              <a:ext uri="{FF2B5EF4-FFF2-40B4-BE49-F238E27FC236}">
                <a16:creationId xmlns:a16="http://schemas.microsoft.com/office/drawing/2014/main" id="{12E1E426-FEEC-4A67-9696-DF86B2A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itial-probe-title-1">
            <a:extLst xmlns:a="http://schemas.openxmlformats.org/drawingml/2006/main">
              <a:ext uri="{FF2B5EF4-FFF2-40B4-BE49-F238E27FC236}">
                <a16:creationId xmlns:a16="http://schemas.microsoft.com/office/drawing/2014/main" id="{BCCF64E2-1CA4-4783-8FB6-2D54407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forms</a:t>
            </a:r>
          </a:p>
        </p:txBody>
      </p:sp>
      <p:sp>
        <p:nvSpPr>
          <p:cNvPr id="12" name="initial-probe-example-1">
            <a:extLst xmlns:a="http://schemas.openxmlformats.org/drawingml/2006/main">
              <a:ext uri="{FF2B5EF4-FFF2-40B4-BE49-F238E27FC236}">
                <a16:creationId xmlns:a16="http://schemas.microsoft.com/office/drawing/2014/main" id="{DA86F73D-6E13-48C9-8AA5-F127D50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Forms A–D under direct and QA scaffolds</a:t>
            </a:r>
          </a:p>
        </p:txBody>
      </p:sp>
      <p:sp>
        <p:nvSpPr>
          <p:cNvPr id="13" name="initial-probe-result-1">
            <a:extLst xmlns:a="http://schemas.openxmlformats.org/drawingml/2006/main">
              <a:ext uri="{FF2B5EF4-FFF2-40B4-BE49-F238E27FC236}">
                <a16:creationId xmlns:a16="http://schemas.microsoft.com/office/drawing/2014/main" id="{EEE04052-3609-4324-B1F4-A8197A5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prompt transfer</a:t>
            </a:r>
          </a:p>
        </p:txBody>
      </p:sp>
      <p:sp>
        <p:nvSpPr>
          <p:cNvPr id="14" name="initial-probe-2">
            <a:extLst xmlns:a="http://schemas.openxmlformats.org/drawingml/2006/main">
              <a:ext uri="{FF2B5EF4-FFF2-40B4-BE49-F238E27FC236}">
                <a16:creationId xmlns:a16="http://schemas.microsoft.com/office/drawing/2014/main" id="{AF681554-F6EB-411B-9D70-F9F3726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itial-probe-title-2">
            <a:extLst xmlns:a="http://schemas.openxmlformats.org/drawingml/2006/main">
              <a:ext uri="{FF2B5EF4-FFF2-40B4-BE49-F238E27FC236}">
                <a16:creationId xmlns:a16="http://schemas.microsoft.com/office/drawing/2014/main" id="{7808BB2D-FDCC-4803-963D-FEA7283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Binding + retention</a:t>
            </a:r>
          </a:p>
        </p:txBody>
      </p:sp>
      <p:sp>
        <p:nvSpPr>
          <p:cNvPr id="16" name="initial-probe-example-2">
            <a:extLst xmlns:a="http://schemas.openxmlformats.org/drawingml/2006/main">
              <a:ext uri="{FF2B5EF4-FFF2-40B4-BE49-F238E27FC236}">
                <a16:creationId xmlns:a16="http://schemas.microsoft.com/office/drawing/2014/main" id="{E9F6A2CE-B6AF-4B2B-A3BD-30A4B76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Forced choice, PPL, generic outputs, intrusion</a:t>
            </a:r>
          </a:p>
        </p:txBody>
      </p:sp>
      <p:sp>
        <p:nvSpPr>
          <p:cNvPr id="17" name="initial-probe-result-2">
            <a:extLst xmlns:a="http://schemas.openxmlformats.org/drawingml/2006/main">
              <a:ext uri="{FF2B5EF4-FFF2-40B4-BE49-F238E27FC236}">
                <a16:creationId xmlns:a16="http://schemas.microsoft.com/office/drawing/2014/main" id="{A36334C8-0B41-4C03-A88F-C32D369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interpretation</a:t>
            </a:r>
          </a:p>
        </p:txBody>
      </p:sp>
      <p:sp>
        <p:nvSpPr>
          <p:cNvPr id="18" name="initial-result">
            <a:extLst xmlns:a="http://schemas.openxmlformats.org/drawingml/2006/main">
              <a:ext uri="{FF2B5EF4-FFF2-40B4-BE49-F238E27FC236}">
                <a16:creationId xmlns:a16="http://schemas.microsoft.com/office/drawing/2014/main" id="{A187DBDC-2204-472B-BA36-39F6FF6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itial-result-text">
            <a:extLst xmlns:a="http://schemas.openxmlformats.org/drawingml/2006/main">
              <a:ext uri="{FF2B5EF4-FFF2-40B4-BE49-F238E27FC236}">
                <a16:creationId xmlns:a16="http://schemas.microsoft.com/office/drawing/2014/main" id="{686EB7B4-20DE-469F-9096-85EB80D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 fact is robust only when it survives every required form/scaffold cell—not when one familiar prompt succeeds.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14948C-748B-4AEA-8EB6-2ED3D2B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069D340C-3375-4143-B6AC-9356B46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hard evaluation, counterbalance, relation binding and PPL controls; reports 94–98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16BF829-284A-49B3-B675-4670FB0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7437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SMOLLM AT 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SmolLM stored every fact, but robust access plateaued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final gate required eight-cell robustness across Forms A–D × direct/QA, globally and per relation.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Exact storage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100%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canonical acquisition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Best robust access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55.8%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frozen gate: ≥70%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Eight-cell robust: 39.6% control · 52.2% contrastive · 50.4% higher λ · 55.8% prompt consistency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Contrastive and consistency objectives helped—but did not make SmolLM eligible for M2/M3.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SmolLM frozen comparison and remediation results; reports 127–128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MODEL-FAMILY SCREEN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Only Qwen passed every factual robustness gate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76ede5cba54b22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1.461×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initial Qwen PPL ratio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0 / 5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families passed all gates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Qwen alone achieved near-ceiling held-out robustness and relation binding.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Next move: preserve Qwen’s factual strength while repairing retention—not more model fishing.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500-fact cross-family screen; report 106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QWEN AT 2,500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Qwen passed the 2,500-fact M1 gate in both seeds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frozen rule selected the earliest checkpoint passing exact, hard, robust, binding, PPL and integrity gates.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 · step 75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96.08%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· exact 99.96% · PPL ×1.082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↔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 · step 50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96.20%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robust · exact 99.68% · PPL ×1.032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500 subjects · 2,500 facts · 20,000 hard probes per seed · Forms A–D × direct/QA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Qwen became the sole replicated intermediate-scale M1 candidate and both artifacts were frozen.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Replicated Qwen scale result and artifact freeze; report 127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78FB7DF1-D3BA-449B-9B36-2797F7B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PRE-M2 READINESS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4E435-CBE4-4FBE-98F9-E553788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Pre-M2 measurements were frozen before training</a:t>
            </a:r>
          </a:p>
        </p:txBody>
      </p:sp>
      <p:sp>
        <p:nvSpPr>
          <p:cNvPr id="3" name="direct-example">
            <a:extLst xmlns:a="http://schemas.openxmlformats.org/drawingml/2006/main">
              <a:ext uri="{FF2B5EF4-FFF2-40B4-BE49-F238E27FC236}">
                <a16:creationId xmlns:a16="http://schemas.microsoft.com/office/drawing/2014/main" id="{2346EC99-623F-46A3-86B6-A9345B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direct-fact">
            <a:extLst xmlns:a="http://schemas.openxmlformats.org/drawingml/2006/main">
              <a:ext uri="{FF2B5EF4-FFF2-40B4-BE49-F238E27FC236}">
                <a16:creationId xmlns:a16="http://schemas.microsoft.com/office/drawing/2014/main" id="{0E5A1C0D-FD5C-4B08-AA92-DFB8704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Three answer directions measure different mechanisms</a:t>
            </a:r>
          </a:p>
        </p:txBody>
      </p:sp>
      <p:sp>
        <p:nvSpPr>
          <p:cNvPr id="5" name="train-label">
            <a:extLst xmlns:a="http://schemas.openxmlformats.org/drawingml/2006/main">
              <a:ext uri="{FF2B5EF4-FFF2-40B4-BE49-F238E27FC236}">
                <a16:creationId xmlns:a16="http://schemas.microsoft.com/office/drawing/2014/main" id="{028FEFBC-3CAD-4754-80FA-9FC5D30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Directions</a:t>
            </a:r>
          </a:p>
        </p:txBody>
      </p:sp>
      <p:sp>
        <p:nvSpPr>
          <p:cNvPr id="6" name="train-examples">
            <a:extLst xmlns:a="http://schemas.openxmlformats.org/drawingml/2006/main">
              <a:ext uri="{FF2B5EF4-FFF2-40B4-BE49-F238E27FC236}">
                <a16:creationId xmlns:a16="http://schemas.microsoft.com/office/drawing/2014/main" id="{EBF3D419-2F9C-4622-A443-AF3C47E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EN→EN: English retention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TR→EN: cross-lingual factual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TR→TR: access plus Turkish lexicalization</a:t>
            </a:r>
          </a:p>
        </p:txBody>
      </p:sp>
      <p:sp>
        <p:nvSpPr>
          <p:cNvPr id="7" name="heldout-label">
            <a:extLst xmlns:a="http://schemas.openxmlformats.org/drawingml/2006/main">
              <a:ext uri="{FF2B5EF4-FFF2-40B4-BE49-F238E27FC236}">
                <a16:creationId xmlns:a16="http://schemas.microsoft.com/office/drawing/2014/main" id="{E1611AED-F843-46D4-99C5-B368EE3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Surface and scoring controls</a:t>
            </a:r>
          </a:p>
        </p:txBody>
      </p:sp>
      <p:sp>
        <p:nvSpPr>
          <p:cNvPr id="8" name="heldout-example">
            <a:extLst xmlns:a="http://schemas.openxmlformats.org/drawingml/2006/main">
              <a:ext uri="{FF2B5EF4-FFF2-40B4-BE49-F238E27FC236}">
                <a16:creationId xmlns:a16="http://schemas.microsoft.com/office/drawing/2014/main" id="{A4312797-C2EE-4098-A1B1-9420B7B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Forms A–D · direct/QA · candidate ranking · robust intersection</a:t>
            </a:r>
          </a:p>
        </p:txBody>
      </p:sp>
      <p:sp>
        <p:nvSpPr>
          <p:cNvPr id="9" name="ladder">
            <a:extLst xmlns:a="http://schemas.openxmlformats.org/drawingml/2006/main">
              <a:ext uri="{FF2B5EF4-FFF2-40B4-BE49-F238E27FC236}">
                <a16:creationId xmlns:a16="http://schemas.microsoft.com/office/drawing/2014/main" id="{3B728C9A-FF04-4B11-AE60-A26B8B6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1813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dder-title">
            <a:extLst xmlns:a="http://schemas.openxmlformats.org/drawingml/2006/main">
              <a:ext uri="{FF2B5EF4-FFF2-40B4-BE49-F238E27FC236}">
                <a16:creationId xmlns:a16="http://schemas.microsoft.com/office/drawing/2014/main" id="{03BC40FF-BC4C-4A2C-89BB-E1D6E14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Frozen package</a:t>
            </a:r>
          </a:p>
        </p:txBody>
      </p:sp>
      <p:sp>
        <p:nvSpPr>
          <p:cNvPr id="11" name="ladder-1">
            <a:extLst xmlns:a="http://schemas.openxmlformats.org/drawingml/2006/main">
              <a:ext uri="{FF2B5EF4-FFF2-40B4-BE49-F238E27FC236}">
                <a16:creationId xmlns:a16="http://schemas.microsoft.com/office/drawing/2014/main" id="{1004539C-7B1F-403E-9B5B-9A4EFA8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60k</a:t>
            </a:r>
          </a:p>
        </p:txBody>
      </p:sp>
      <p:sp>
        <p:nvSpPr>
          <p:cNvPr id="12" name="ladder-1r">
            <a:extLst xmlns:a="http://schemas.openxmlformats.org/drawingml/2006/main">
              <a:ext uri="{FF2B5EF4-FFF2-40B4-BE49-F238E27FC236}">
                <a16:creationId xmlns:a16="http://schemas.microsoft.com/office/drawing/2014/main" id="{1D51798C-F961-4E33-B388-7BDE8BF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probes / M1 seed</a:t>
            </a:r>
          </a:p>
        </p:txBody>
      </p:sp>
      <p:sp>
        <p:nvSpPr>
          <p:cNvPr id="13" name="ladder-2">
            <a:extLst xmlns:a="http://schemas.openxmlformats.org/drawingml/2006/main">
              <a:ext uri="{FF2B5EF4-FFF2-40B4-BE49-F238E27FC236}">
                <a16:creationId xmlns:a16="http://schemas.microsoft.com/office/drawing/2014/main" id="{DADD1139-75BF-49C5-A49E-D72CCDD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2,000</a:t>
            </a:r>
          </a:p>
        </p:txBody>
      </p:sp>
      <p:sp>
        <p:nvSpPr>
          <p:cNvPr id="14" name="ladder-2r">
            <a:extLst xmlns:a="http://schemas.openxmlformats.org/drawingml/2006/main">
              <a:ext uri="{FF2B5EF4-FFF2-40B4-BE49-F238E27FC236}">
                <a16:creationId xmlns:a16="http://schemas.microsoft.com/office/drawing/2014/main" id="{843109DD-C1BA-46D9-8274-F91AB02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subject bootstraps</a:t>
            </a:r>
          </a:p>
        </p:txBody>
      </p:sp>
      <p:sp>
        <p:nvSpPr>
          <p:cNvPr id="15" name="ladder-3">
            <a:extLst xmlns:a="http://schemas.openxmlformats.org/drawingml/2006/main">
              <a:ext uri="{FF2B5EF4-FFF2-40B4-BE49-F238E27FC236}">
                <a16:creationId xmlns:a16="http://schemas.microsoft.com/office/drawing/2014/main" id="{487EE6EA-CF93-4DBA-B33C-115761C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EN + TR</a:t>
            </a:r>
          </a:p>
        </p:txBody>
      </p:sp>
      <p:sp>
        <p:nvSpPr>
          <p:cNvPr id="16" name="ladder-3r">
            <a:extLst xmlns:a="http://schemas.openxmlformats.org/drawingml/2006/main">
              <a:ext uri="{FF2B5EF4-FFF2-40B4-BE49-F238E27FC236}">
                <a16:creationId xmlns:a16="http://schemas.microsoft.com/office/drawing/2014/main" id="{3D52C013-87BB-4CFF-9E71-FEA9A0F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generic PPL</a:t>
            </a:r>
          </a:p>
        </p:txBody>
      </p:sp>
      <p:sp>
        <p:nvSpPr>
          <p:cNvPr id="17" name="recipe">
            <a:extLst xmlns:a="http://schemas.openxmlformats.org/drawingml/2006/main">
              <a:ext uri="{FF2B5EF4-FFF2-40B4-BE49-F238E27FC236}">
                <a16:creationId xmlns:a16="http://schemas.microsoft.com/office/drawing/2014/main" id="{9C5B80FF-6D46-46E0-8D6F-A5D771E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36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ipe-title">
            <a:extLst xmlns:a="http://schemas.openxmlformats.org/drawingml/2006/main">
              <a:ext uri="{FF2B5EF4-FFF2-40B4-BE49-F238E27FC236}">
                <a16:creationId xmlns:a16="http://schemas.microsoft.com/office/drawing/2014/main" id="{789F6230-3894-4A89-8433-E325C54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Pre-adaptation guardrails</a:t>
            </a:r>
          </a:p>
        </p:txBody>
      </p:sp>
      <p:sp>
        <p:nvSpPr>
          <p:cNvPr id="19" name="recipe-body">
            <a:extLst xmlns:a="http://schemas.openxmlformats.org/drawingml/2006/main">
              <a:ext uri="{FF2B5EF4-FFF2-40B4-BE49-F238E27FC236}">
                <a16:creationId xmlns:a16="http://schemas.microsoft.com/office/drawing/2014/main" id="{38AE3051-52C8-4A4D-B0A4-C3F9C71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Reload both frozen M1 artifacts · audit Turkish contamination · freeze endpoint, aliases, estimand and gates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45EE355-9B28-4CFF-BCC1-DED45A9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EAECBA4E-CE10-4E40-A995-DA00701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Bilingual baseline and contract freeze; reports 132–135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0BBDECFE-B97C-4688-8191-5D72E6E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2014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M2/M3 INTERVENTION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M2 and M3 differed only in factual exposure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M2-clean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1,048,576 tokens · 128 updates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Exposure rule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Generic Turkish + neutral filler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Zero target synthetic facts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Tests what clean Turkish adaptation does to already acquired factual access.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M3-fact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Same Turkish blocks and budget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Neutral filler replaced by correct Branch B facts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1,048,576 tokens · 128 updates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4 cycles · 5,000 factual exposures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Branch A receives zero factual exposure; M3 starts from M1, never from M2.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 estimand:  [(M3 − M2)Branch B  −  (M3 − M2)Branch A]  on TR→EN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matched-input and causal contract; reports 133 and 135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SCIENTIFIC INTERPRETATION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causal family is complete—not the thesis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English-acquired facts were already partly accessible from Turkish prompts; clean adaptation strongly reduced that access.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M3 adds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Correct Turkish factual exposure produced a small, consistent descriptive recovery relative to M2-clean.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we cannot claim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The Branch-B-specific factual-relearning advantage was not replicated under the precommitted two-seed confidence rule.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This is a valid negative/inconclusive result—not a failed experiment and not evidence that all future transfer mechanisms are exhausted.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3B5BE2A3-75A0-4867-A0FB-E4FF4A0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EXECUTION AND INTEGRITY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3D528-74BC-438F-999A-4D480D8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All four runs used one precommitted endpoint</a:t>
            </a:r>
          </a:p>
        </p:txBody>
      </p:sp>
      <p:sp>
        <p:nvSpPr>
          <p:cNvPr id="3" name="attempt-title-0">
            <a:extLst xmlns:a="http://schemas.openxmlformats.org/drawingml/2006/main">
              <a:ext uri="{FF2B5EF4-FFF2-40B4-BE49-F238E27FC236}">
                <a16:creationId xmlns:a16="http://schemas.microsoft.com/office/drawing/2014/main" id="{9527D962-91A9-4605-82CC-DFE368C9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Training</a:t>
            </a:r>
          </a:p>
        </p:txBody>
      </p:sp>
      <p:sp>
        <p:nvSpPr>
          <p:cNvPr id="4" name="attempt-example-0">
            <a:extLst xmlns:a="http://schemas.openxmlformats.org/drawingml/2006/main">
              <a:ext uri="{FF2B5EF4-FFF2-40B4-BE49-F238E27FC236}">
                <a16:creationId xmlns:a16="http://schemas.microsoft.com/office/drawing/2014/main" id="{1A2EB3F3-1D04-4C6F-AAB4-7331574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Four sibling runs: M2-clean and M3-fact for seed 42 and seed 43; all start from their matching frozen M1.</a:t>
            </a:r>
          </a:p>
        </p:txBody>
      </p:sp>
      <p:sp>
        <p:nvSpPr>
          <p:cNvPr id="5" name="attempt-result-0">
            <a:extLst xmlns:a="http://schemas.openxmlformats.org/drawingml/2006/main">
              <a:ext uri="{FF2B5EF4-FFF2-40B4-BE49-F238E27FC236}">
                <a16:creationId xmlns:a16="http://schemas.microsoft.com/office/drawing/2014/main" id="{D9A44372-9BAE-47A4-9C9F-E88216F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D39"/>
                </a:solidFill>
              </a:defRPr>
            </a:pPr>
            <a:r>
              <a:rPr sz="1350" b="1">
                <a:solidFill>
                  <a:srgbClr val="D95D39"/>
                </a:solidFill>
              </a:rPr>
              <a:t>All four completed 128 updates · fixed checkpoint-128</a:t>
            </a:r>
          </a:p>
        </p:txBody>
      </p:sp>
      <p:sp>
        <p:nvSpPr>
          <p:cNvPr id="6" name="attempt-line-0">
            <a:extLst xmlns:a="http://schemas.openxmlformats.org/drawingml/2006/main">
              <a:ext uri="{FF2B5EF4-FFF2-40B4-BE49-F238E27FC236}">
                <a16:creationId xmlns:a16="http://schemas.microsoft.com/office/drawing/2014/main" id="{ED648564-FB73-4E41-8140-9D96AC9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ttempt-title-1">
            <a:extLst xmlns:a="http://schemas.openxmlformats.org/drawingml/2006/main">
              <a:ext uri="{FF2B5EF4-FFF2-40B4-BE49-F238E27FC236}">
                <a16:creationId xmlns:a16="http://schemas.microsoft.com/office/drawing/2014/main" id="{03DAFD46-1579-4E82-96A1-30B63FB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Endpoint evaluation</a:t>
            </a:r>
          </a:p>
        </p:txBody>
      </p:sp>
      <p:sp>
        <p:nvSpPr>
          <p:cNvPr id="8" name="attempt-example-1">
            <a:extLst xmlns:a="http://schemas.openxmlformats.org/drawingml/2006/main">
              <a:ext uri="{FF2B5EF4-FFF2-40B4-BE49-F238E27FC236}">
                <a16:creationId xmlns:a16="http://schemas.microsoft.com/office/drawing/2014/main" id="{939679C3-4537-448F-BE1C-82BA08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slices per state × 2,500 probes; all required forms, scaffolds and directions.</a:t>
            </a:r>
          </a:p>
        </p:txBody>
      </p:sp>
      <p:sp>
        <p:nvSpPr>
          <p:cNvPr id="9" name="attempt-result-1">
            <a:extLst xmlns:a="http://schemas.openxmlformats.org/drawingml/2006/main">
              <a:ext uri="{FF2B5EF4-FFF2-40B4-BE49-F238E27FC236}">
                <a16:creationId xmlns:a16="http://schemas.microsoft.com/office/drawing/2014/main" id="{0AD32074-8B7F-4EE5-84ED-1474A53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96 / 96 slices · 240,000 M2/M3 endpoint probes</a:t>
            </a:r>
          </a:p>
        </p:txBody>
      </p:sp>
      <p:sp>
        <p:nvSpPr>
          <p:cNvPr id="10" name="attempt-line-1">
            <a:extLst xmlns:a="http://schemas.openxmlformats.org/drawingml/2006/main">
              <a:ext uri="{FF2B5EF4-FFF2-40B4-BE49-F238E27FC236}">
                <a16:creationId xmlns:a16="http://schemas.microsoft.com/office/drawing/2014/main" id="{1649D6F3-3370-4D10-8365-4223E83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ttempt-title-2">
            <a:extLst xmlns:a="http://schemas.openxmlformats.org/drawingml/2006/main">
              <a:ext uri="{FF2B5EF4-FFF2-40B4-BE49-F238E27FC236}">
                <a16:creationId xmlns:a16="http://schemas.microsoft.com/office/drawing/2014/main" id="{5ADE8A9A-724D-454C-910A-5865A44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Independent verification</a:t>
            </a:r>
          </a:p>
        </p:txBody>
      </p:sp>
      <p:sp>
        <p:nvSpPr>
          <p:cNvPr id="12" name="attempt-example-2">
            <a:extLst xmlns:a="http://schemas.openxmlformats.org/drawingml/2006/main">
              <a:ext uri="{FF2B5EF4-FFF2-40B4-BE49-F238E27FC236}">
                <a16:creationId xmlns:a16="http://schemas.microsoft.com/office/drawing/2014/main" id="{25A0454C-D0F4-43B3-97DF-9F4E091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86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Raw manifests, registry membership, hashes, bootstrap logic and gate were checked read-only.</a:t>
            </a:r>
          </a:p>
        </p:txBody>
      </p:sp>
      <p:sp>
        <p:nvSpPr>
          <p:cNvPr id="13" name="attempt-result-2">
            <a:extLst xmlns:a="http://schemas.openxmlformats.org/drawingml/2006/main">
              <a:ext uri="{FF2B5EF4-FFF2-40B4-BE49-F238E27FC236}">
                <a16:creationId xmlns:a16="http://schemas.microsoft.com/office/drawing/2014/main" id="{1B1E323A-9BC9-46C4-B1E3-CE1D5A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72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PASS WITH CONCERNS · no blocker or major issue</a:t>
            </a:r>
          </a:p>
        </p:txBody>
      </p:sp>
      <p:sp>
        <p:nvSpPr>
          <p:cNvPr id="14" name="attempt-line-2">
            <a:extLst xmlns:a="http://schemas.openxmlformats.org/drawingml/2006/main">
              <a:ext uri="{FF2B5EF4-FFF2-40B4-BE49-F238E27FC236}">
                <a16:creationId xmlns:a16="http://schemas.microsoft.com/office/drawing/2014/main" id="{CBA386FA-C4EB-434F-B80A-4DA0481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ttempt-lesson">
            <a:extLst xmlns:a="http://schemas.openxmlformats.org/drawingml/2006/main">
              <a:ext uri="{FF2B5EF4-FFF2-40B4-BE49-F238E27FC236}">
                <a16:creationId xmlns:a16="http://schemas.microsoft.com/office/drawing/2014/main" id="{977D6668-7CDB-4514-9EBB-2176C25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ttempt-lesson-text">
            <a:extLst xmlns:a="http://schemas.openxmlformats.org/drawingml/2006/main">
              <a:ext uri="{FF2B5EF4-FFF2-40B4-BE49-F238E27FC236}">
                <a16:creationId xmlns:a16="http://schemas.microsoft.com/office/drawing/2014/main" id="{E6259835-FC76-4A61-B31E-7697A38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No checkpoint, seed, threshold or primary metric was selected after seeing the result.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536488-23F4-45BA-950D-2F44EB6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9CA371D0-9E09-4D33-B681-D8B997F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Execution, independent review and retention freeze; reports 136, 140a and 143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E39F707C-6724-4DB4-8D03-8928111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99828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BEFORE TURKISH ADAPTATION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already exposed substantial cross-lingual factual access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M1 seed 42 · step 75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EN→EN 99.29% · TR→EN 52.03%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End-to-end Turkish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TR→TR 29.05%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EN PPL 15.909 · TR PPL 17.349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Cross-lingual access existed before any Turkish adaptation stage.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M1 seed 43 · step 50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EN→EN 99.24%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TR→EN 52.52%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TR→TR 30.12%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EN PPL 15.170 · TR PPL 15.741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two seeds provide nearly identical factual starting points for the causal family.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M2 therefore had both headroom to improve Turkish access—and existing access to preserve.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bilingual/PPL M1 baselines; report 134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PRIMARY DIRECTION: TR→EN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Turkish adaptation reduced access; M3 recovered little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cf9f8d18ad4518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−18.8 pp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→ M2 in both seeds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+1.9 pp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M2 → M3 in both seeds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The dominant effect is broad Turkish-prompt factual-access degradation in M2.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M3-fact is consistently higher than M2-clean, but remains far below the M1 baseline.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state accuracy and paired contrasts; reports 136 and 142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FROZEN PRIMARY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primary causal interaction did not replicate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Primary interaction = (M3 − M2)Branch B − (M3 − M2)Branch A on TR→EN; both seeds had to exclude zero.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+0.25 pp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95% CI −0.51 to +1.01 · FAIL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+1.35 pp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95% CI +0.51 to +2.18 · PASS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Operational validity passed · EN→EN retention guardrail passed · no post-hoc gate change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Overall frozen decision: primary_success_criterion_not_met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gate and independent raw-data reproduction; reports 136 and 140a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SCIENTIFIC INTERPRETATION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causal family is complete—not the thesis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English-acquired facts were already partly accessible from Turkish prompts; clean adaptation strongly reduced that access.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M3 adds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Correct Turkish factual exposure produced a small, consistent descriptive recovery relative to M2-clean.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we cannot claim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The Branch-B-specific factual-relearning advantage was not replicated under the precommitted two-seed confidence rule.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This is a valid negative/inconclusive result—not a failed experiment and not evidence that all future transfer mechanisms are exhausted.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SCIENTIFIC INTERPRETATION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causal family is complete—not the thesis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English-acquired facts were already partly accessible from Turkish prompts; clean adaptation strongly reduced that access.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M3 adds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Correct Turkish factual exposure produced a small, consistent descriptive recovery relative to M2-clean.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we cannot claim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The Branch-B-specific factual-relearning advantage was not replicated under the precommitted two-seed confidence rule.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This is a valid negative/inconclusive result—not a failed experiment and not evidence that all future transfer mechanisms are exhausted.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WHAT REMAINS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This experiment is complete; substantial work remains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Without new training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Finalize figures, methods, limitations, seed heterogeneity and the interpretation of broad Turkish-access degradation.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Turn the verified evidence chain into the thesis narrative and supervisor-ready decisions.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Possible amended experiments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M3-lexical, a revised Turkish adaptation intervention, additional replication, or 25,000-fact scale validation.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Each option needs a separate scientific rationale and frozen contract; none follows automatically from this gate.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Decision boundary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Treat the completed 2,500-fact family as the main current result—then add only experiments that resolve a specific remaining mechanism.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Current milestone, review, exploratory result and retention closure; reports 138, 140a, 142 and 143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WHAT REMAINS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This experiment is complete; substantial work remains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Without new training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Finalize figures, methods, limitations, seed heterogeneity and the interpretation of broad Turkish-access degradation.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Turn the verified evidence chain into the thesis narrative and supervisor-ready decisions.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Possible amended experiments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M3-lexical, a revised Turkish adaptation intervention, additional replication, or 25,000-fact scale validation.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Each option needs a separate scientific rationale and frozen contract; none follows automatically from this gate.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Decision boundary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Treat the completed 2,500-fact family as the main current result—then add only experiments that resolve a specific remaining mechanism.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Current milestone, review, exploratory result and retention closure; reports 138, 140a, 142 and 143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2026-08-04T19:50:08.6890000Z</dcterms:created>
  <dcterms:modified xsi:type="dcterms:W3CDTF">2026-08-04T19:50:08.6890000Z</dcterms:modified>
</coreProperties>
</file>