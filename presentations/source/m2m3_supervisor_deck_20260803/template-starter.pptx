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c2649cc02c41eb" /><Relationship Type="http://schemas.openxmlformats.org/officeDocument/2006/relationships/extended-properties" Target="/docProps/app.xml" Id="R7063643454d34903" /><Relationship Type="http://schemas.openxmlformats.org/officeDocument/2006/relationships/officeDocument" Target="/ppt/presentation.xml" Id="R8beca21e58da40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e4f90331fc44fc"/>
  </p:sldMasterIdLst>
  <p:notesMasterIdLst>
    <p:notesMasterId xmlns:r="http://schemas.openxmlformats.org/officeDocument/2006/relationships" r:id="R77bd10aff7de46d0"/>
  </p:notesMasterIdLst>
  <p:sldIdLst>
    <p:sldId xmlns:r="http://schemas.openxmlformats.org/officeDocument/2006/relationships" id="256" r:id="R648f806e4d224410"/>
    <p:sldId xmlns:r="http://schemas.openxmlformats.org/officeDocument/2006/relationships" id="257" r:id="R61d9173356824dc5"/>
    <p:sldId xmlns:r="http://schemas.openxmlformats.org/officeDocument/2006/relationships" id="258" r:id="R5fbae45f22804182"/>
    <p:sldId xmlns:r="http://schemas.openxmlformats.org/officeDocument/2006/relationships" id="259" r:id="R6c85c4faae6a4608"/>
    <p:sldId xmlns:r="http://schemas.openxmlformats.org/officeDocument/2006/relationships" id="260" r:id="Rcaa53c43307d41ad"/>
    <p:sldId xmlns:r="http://schemas.openxmlformats.org/officeDocument/2006/relationships" id="261" r:id="Rfa270e088b3b47e3"/>
    <p:sldId xmlns:r="http://schemas.openxmlformats.org/officeDocument/2006/relationships" id="262" r:id="R80535e299e6e4a8f"/>
    <p:sldId xmlns:r="http://schemas.openxmlformats.org/officeDocument/2006/relationships" id="263" r:id="R5786057032774ecc"/>
    <p:sldId xmlns:r="http://schemas.openxmlformats.org/officeDocument/2006/relationships" id="264" r:id="R95f7b0c00a7d4d64"/>
    <p:sldId xmlns:r="http://schemas.openxmlformats.org/officeDocument/2006/relationships" id="265" r:id="Rd3b396069b9b4c6d"/>
    <p:sldId xmlns:r="http://schemas.openxmlformats.org/officeDocument/2006/relationships" id="266" r:id="R5ee2a74fe0f24d92"/>
    <p:sldId xmlns:r="http://schemas.openxmlformats.org/officeDocument/2006/relationships" id="267" r:id="Rfe89abd2a955473a"/>
    <p:sldId xmlns:r="http://schemas.openxmlformats.org/officeDocument/2006/relationships" id="268" r:id="Re21017000c5644a7"/>
    <p:sldId xmlns:r="http://schemas.openxmlformats.org/officeDocument/2006/relationships" id="269" r:id="R37835ec9d5f74ad7"/>
    <p:sldId xmlns:r="http://schemas.openxmlformats.org/officeDocument/2006/relationships" id="270" r:id="R4d5aeb012b1e4c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45dc4da0f04f60" /><Relationship Type="http://schemas.openxmlformats.org/officeDocument/2006/relationships/slideMaster" Target="/ppt/slideMasters/slideMaster1.xml" Id="Rfae4f90331fc44fc" /><Relationship Type="http://schemas.openxmlformats.org/officeDocument/2006/relationships/notesMaster" Target="/ppt/notesMasters/notesMaster1.xml" Id="R77bd10aff7de46d0" /><Relationship Type="http://schemas.openxmlformats.org/officeDocument/2006/relationships/presProps" Target="/ppt/presProps.xml" Id="R579f6647541b4d61" /><Relationship Type="http://schemas.openxmlformats.org/officeDocument/2006/relationships/tableStyles" Target="/ppt/tableStyles.xml" Id="R809c689a7ae54e22" /><Relationship Type="http://schemas.openxmlformats.org/officeDocument/2006/relationships/slide" Target="/ppt/slides/slide1.xml" Id="R648f806e4d224410" /><Relationship Type="http://schemas.openxmlformats.org/officeDocument/2006/relationships/slide" Target="/ppt/slides/slide2.xml" Id="R61d9173356824dc5" /><Relationship Type="http://schemas.openxmlformats.org/officeDocument/2006/relationships/slide" Target="/ppt/slides/slide3.xml" Id="R5fbae45f22804182" /><Relationship Type="http://schemas.openxmlformats.org/officeDocument/2006/relationships/slide" Target="/ppt/slides/slide4.xml" Id="R6c85c4faae6a4608" /><Relationship Type="http://schemas.openxmlformats.org/officeDocument/2006/relationships/slide" Target="/ppt/slides/slide5.xml" Id="Rcaa53c43307d41ad" /><Relationship Type="http://schemas.openxmlformats.org/officeDocument/2006/relationships/slide" Target="/ppt/slides/slide6.xml" Id="Rfa270e088b3b47e3" /><Relationship Type="http://schemas.openxmlformats.org/officeDocument/2006/relationships/slide" Target="/ppt/slides/slide7.xml" Id="R80535e299e6e4a8f" /><Relationship Type="http://schemas.openxmlformats.org/officeDocument/2006/relationships/slide" Target="/ppt/slides/slide8.xml" Id="R5786057032774ecc" /><Relationship Type="http://schemas.openxmlformats.org/officeDocument/2006/relationships/slide" Target="/ppt/slides/slide9.xml" Id="R95f7b0c00a7d4d64" /><Relationship Type="http://schemas.openxmlformats.org/officeDocument/2006/relationships/slide" Target="/ppt/slides/slide10.xml" Id="Rd3b396069b9b4c6d" /><Relationship Type="http://schemas.openxmlformats.org/officeDocument/2006/relationships/slide" Target="/ppt/slides/slide11.xml" Id="R5ee2a74fe0f24d92" /><Relationship Type="http://schemas.openxmlformats.org/officeDocument/2006/relationships/slide" Target="/ppt/slides/slide12.xml" Id="Rfe89abd2a955473a" /><Relationship Type="http://schemas.openxmlformats.org/officeDocument/2006/relationships/slide" Target="/ppt/slides/slide13.xml" Id="Re21017000c5644a7" /><Relationship Type="http://schemas.openxmlformats.org/officeDocument/2006/relationships/slide" Target="/ppt/slides/slide14.xml" Id="R37835ec9d5f74ad7" /><Relationship Type="http://schemas.openxmlformats.org/officeDocument/2006/relationships/slide" Target="/ppt/slides/slide15.xml" Id="R4d5aeb012b1e4c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5738b4e9094b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ea47501cbd4448" /><Relationship Type="http://schemas.openxmlformats.org/officeDocument/2006/relationships/notesMaster" Target="/ppt/notesMasters/notesMaster1.xml" Id="R756516ea9e7e40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ce4b9606a34668" /><Relationship Type="http://schemas.openxmlformats.org/officeDocument/2006/relationships/notesMaster" Target="/ppt/notesMasters/notesMaster1.xml" Id="Rf47f8340c4db44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8eab0bd3914173" /><Relationship Type="http://schemas.openxmlformats.org/officeDocument/2006/relationships/notesMaster" Target="/ppt/notesMasters/notesMaster1.xml" Id="R37a42cc8e46049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4dadff683c4ec0" /><Relationship Type="http://schemas.openxmlformats.org/officeDocument/2006/relationships/notesMaster" Target="/ppt/notesMasters/notesMaster1.xml" Id="R91c7a8430abe4d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898ea275d04241" /><Relationship Type="http://schemas.openxmlformats.org/officeDocument/2006/relationships/notesMaster" Target="/ppt/notesMasters/notesMaster1.xml" Id="Rf318ce6d8cdd4e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7eec53b4eb47dd" /><Relationship Type="http://schemas.openxmlformats.org/officeDocument/2006/relationships/notesMaster" Target="/ppt/notesMasters/notesMaster1.xml" Id="R544ab9aa294142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6570ddb3e5428f" /><Relationship Type="http://schemas.openxmlformats.org/officeDocument/2006/relationships/notesMaster" Target="/ppt/notesMasters/notesMaster1.xml" Id="R5476d550700f43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e66859c7104212" /><Relationship Type="http://schemas.openxmlformats.org/officeDocument/2006/relationships/notesMaster" Target="/ppt/notesMasters/notesMaster1.xml" Id="R957a508003f442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1bac7ca8934b98" /><Relationship Type="http://schemas.openxmlformats.org/officeDocument/2006/relationships/notesMaster" Target="/ppt/notesMasters/notesMaster1.xml" Id="R1c4351544ccd4f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9018e01ae54733" /><Relationship Type="http://schemas.openxmlformats.org/officeDocument/2006/relationships/notesMaster" Target="/ppt/notesMasters/notesMaster1.xml" Id="Rfd1ef8a7163d49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af0d66a0284b59" /><Relationship Type="http://schemas.openxmlformats.org/officeDocument/2006/relationships/notesMaster" Target="/ppt/notesMasters/notesMaster1.xml" Id="R8d6f09ed32c342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af0eebff9048e0" /><Relationship Type="http://schemas.openxmlformats.org/officeDocument/2006/relationships/notesMaster" Target="/ppt/notesMasters/notesMaster1.xml" Id="R5305ca69cec340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503803f42a4bdf" /><Relationship Type="http://schemas.openxmlformats.org/officeDocument/2006/relationships/notesMaster" Target="/ppt/notesMasters/notesMaster1.xml" Id="R0722b8c8925f41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160656f32f405f" /><Relationship Type="http://schemas.openxmlformats.org/officeDocument/2006/relationships/notesMaster" Target="/ppt/notesMasters/notesMaster1.xml" Id="R90d2253f05684b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089cfb75c046c1" /><Relationship Type="http://schemas.openxmlformats.org/officeDocument/2006/relationships/notesMaster" Target="/ppt/notesMasters/notesMaster1.xml" Id="R0185f457170f4b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448d21f9c4b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8b5755c1cf4d6b" /><Relationship Type="http://schemas.openxmlformats.org/officeDocument/2006/relationships/slideLayout" Target="/ppt/slideLayouts/slideLayout1.xml" Id="R9bd171d571f448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d171d571f448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9af2d99a64030" /><Relationship Type="http://schemas.openxmlformats.org/officeDocument/2006/relationships/notesSlide" Target="/ppt/notesSlides/notesSlide1.xml" Id="Re64b2d682aeb49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3e316f82a4faa" /><Relationship Type="http://schemas.openxmlformats.org/officeDocument/2006/relationships/notesSlide" Target="/ppt/notesSlides/notesSlide2.xml" Id="Rf0e795f7ecfb47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caf9f6f3145df" /><Relationship Type="http://schemas.openxmlformats.org/officeDocument/2006/relationships/notesSlide" Target="/ppt/notesSlides/notesSlide3.xml" Id="R08fcd56886a344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599c678c349aa" /><Relationship Type="http://schemas.openxmlformats.org/officeDocument/2006/relationships/notesSlide" Target="/ppt/notesSlides/notesSlide4.xml" Id="Ra89919ff92e944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c4ce367b744eb" /><Relationship Type="http://schemas.openxmlformats.org/officeDocument/2006/relationships/notesSlide" Target="/ppt/notesSlides/notesSlide5.xml" Id="Rfbf488c4749c40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cf22b6c2b42e5" /><Relationship Type="http://schemas.openxmlformats.org/officeDocument/2006/relationships/chart" Target="/ppt/slides/charts/chart1.xml" Id="R120b3174a00e497c" /><Relationship Type="http://schemas.openxmlformats.org/officeDocument/2006/relationships/notesSlide" Target="/ppt/notesSlides/notesSlide6.xml" Id="Rb34b0b0453f645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a9403d926457f" /><Relationship Type="http://schemas.openxmlformats.org/officeDocument/2006/relationships/notesSlide" Target="/ppt/notesSlides/notesSlide7.xml" Id="R2819fdcd772c48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5298b187745a5" /><Relationship Type="http://schemas.openxmlformats.org/officeDocument/2006/relationships/notesSlide" Target="/ppt/notesSlides/notesSlide8.xml" Id="R1a6602cf4f9645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c3cf3e6e44765" /><Relationship Type="http://schemas.openxmlformats.org/officeDocument/2006/relationships/notesSlide" Target="/ppt/notesSlides/notesSlide9.xml" Id="Ra8a70f00d9724b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bcdbb83584e16" /><Relationship Type="http://schemas.openxmlformats.org/officeDocument/2006/relationships/notesSlide" Target="/ppt/notesSlides/notesSlide10.xml" Id="R01ca8d4db7ed4f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613b77d7d47ad" /><Relationship Type="http://schemas.openxmlformats.org/officeDocument/2006/relationships/notesSlide" Target="/ppt/notesSlides/notesSlide11.xml" Id="Rc4cdcff7e86342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38f6ea0f542eb" /><Relationship Type="http://schemas.openxmlformats.org/officeDocument/2006/relationships/chart" Target="/ppt/slides/charts/chart2.xml" Id="R1d334d1fdab948e7" /><Relationship Type="http://schemas.openxmlformats.org/officeDocument/2006/relationships/notesSlide" Target="/ppt/notesSlides/notesSlide12.xml" Id="Rea34f42d4fdd44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18c9f5dac423d" /><Relationship Type="http://schemas.openxmlformats.org/officeDocument/2006/relationships/notesSlide" Target="/ppt/notesSlides/notesSlide13.xml" Id="Re12923b438084d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4dda21a624067" /><Relationship Type="http://schemas.openxmlformats.org/officeDocument/2006/relationships/notesSlide" Target="/ppt/notesSlides/notesSlide14.xml" Id="Rec5472630a1b4f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4de06c06d4b6c" /><Relationship Type="http://schemas.openxmlformats.org/officeDocument/2006/relationships/notesSlide" Target="/ppt/notesSlides/notesSlide15.xml" Id="R53203dc6564b41e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WikiText-2 perplexity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3"/>
              <c:pt idx="0">
                <c:v>Base</c:v>
              </c:pt>
              <c:pt idx="1">
                <c:v>Seed 42</c:v>
              </c:pt>
              <c:pt idx="2">
                <c:v>Seed 43</c:v>
              </c:pt>
            </c:strLit>
          </c:cat>
          <c:val>
            <c:numLit>
              <c:formatCode>General</c:formatCode>
              <c:ptCount val="3"/>
              <c:pt idx="0">
                <c:v>15.924</c:v>
              </c:pt>
              <c:pt idx="1">
                <c:v>19.018</c:v>
              </c:pt>
              <c:pt idx="2">
                <c:v>18.681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WikiText-2 perplexity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3"/>
              <c:pt idx="0">
                <c:v>Base</c:v>
              </c:pt>
              <c:pt idx="1">
                <c:v>Seed 42</c:v>
              </c:pt>
              <c:pt idx="2">
                <c:v>Seed 43</c:v>
              </c:pt>
            </c:strLit>
          </c:cat>
          <c:val>
            <c:numLit>
              <c:formatCode>General</c:formatCode>
              <c:ptCount val="3"/>
              <c:pt idx="0">
                <c:v>15.924</c:v>
              </c:pt>
              <c:pt idx="1">
                <c:v>19.018</c:v>
              </c:pt>
              <c:pt idx="2">
                <c:v>18.681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725F1D92-EBD3-4056-9400-6E84350D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7547831-FFFA-4F9F-9D24-E85D4F9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THESIS RESEARCH UPDATE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A03B52-06E5-4E7B-8CB3-23847FC6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9048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English factual acquisition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before cross-lingual adaptation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DDFCF4A-C7B8-42A2-9776-3543A6A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What failed, what worked, and what remains unresolved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A582E30-CBB8-4880-AFD7-536222ED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a">
            <a:extLst xmlns:a="http://schemas.openxmlformats.org/drawingml/2006/main">
              <a:ext uri="{FF2B5EF4-FFF2-40B4-BE49-F238E27FC236}">
                <a16:creationId xmlns:a16="http://schemas.microsoft.com/office/drawing/2014/main" id="{75E6A072-0E89-4B06-AE34-C796195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Umut Yeşildal  ·  M1 research discussion  ·  July 2026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BA5F2753-A297-484D-9FC4-F8D7100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Development condition: Relation V2 · 500 facts · SmolLM2</a:t>
            </a:r>
          </a:p>
        </p:txBody>
      </p:sp>
    </p:spTree>
    <p:extLst>
      <p:ext uri="{BB962C8B-B14F-4D97-AF65-F5344CB8AC3E}">
        <p14:creationId xmlns:p14="http://schemas.microsoft.com/office/powerpoint/2010/main" val="183655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WHERE THE PROJECT STANDS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We solved M1 acquisition—not the full research question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What we now know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Direct prompt coverage, Relation V2, and model capacity can produce robust English retrieval at the 500-fact development scale.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What remains uncertain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General-language retention, checkpoint selection, higher-scale retrieval, and the eventual M2/M3 transfer-versus-relearning comparison.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What I want to discuss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Whether to proceed with the frozen M1 checkpoints, run a controlled LR sensitivity test first, and treat EOS supervision as a separate ablation.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 for the meeting: move into M2/M3 now, or first optimize the factual-retention vs. general-capability trade-off?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M1 is the validity condition for the thesis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Can a fact learned in English remain accessible after Turkish adaptation—and can we separate transfer from relearning?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Base-model baseline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Verify that synthetic facts are not already known.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English acquisition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Learn and robustly retrieve the target facts in English.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adaptation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No target-fact repetition; tests cross-lingual transfer.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relearning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Repeat target facts in Turkish as the comparison condition.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If M1 is weak, a later Turkish failure is not interpretable as evidence against transfer.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Project design summary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1A763FD2-14C5-4915-A69B-7AEA4D7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STARTING POINT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7BFD4A-66C8-4C9E-BFB0-4C54C81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model stored facts without robust access</a:t>
            </a:r>
          </a:p>
        </p:txBody>
      </p:sp>
      <p:sp>
        <p:nvSpPr>
          <p:cNvPr id="3" name="example">
            <a:extLst xmlns:a="http://schemas.openxmlformats.org/drawingml/2006/main">
              <a:ext uri="{FF2B5EF4-FFF2-40B4-BE49-F238E27FC236}">
                <a16:creationId xmlns:a16="http://schemas.microsoft.com/office/drawing/2014/main" id="{2C87A49C-560F-4493-A9C0-CBDFB7D4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fact">
            <a:extLst xmlns:a="http://schemas.openxmlformats.org/drawingml/2006/main">
              <a:ext uri="{FF2B5EF4-FFF2-40B4-BE49-F238E27FC236}">
                <a16:creationId xmlns:a16="http://schemas.microsoft.com/office/drawing/2014/main" id="{53C1EE77-6508-48E4-83FB-C4F6865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238"/>
                </a:solidFill>
              </a:defRPr>
            </a:pPr>
            <a:r>
              <a:rPr sz="1875" b="1">
                <a:solidFill>
                  <a:srgbClr val="132238"/>
                </a:solidFill>
              </a:rPr>
              <a:t>Mada Granger  →  born_in  →  Istanbul</a:t>
            </a:r>
          </a:p>
        </p:txBody>
      </p:sp>
      <p:sp>
        <p:nvSpPr>
          <p:cNvPr id="5" name="train-form">
            <a:extLst xmlns:a="http://schemas.openxmlformats.org/drawingml/2006/main">
              <a:ext uri="{FF2B5EF4-FFF2-40B4-BE49-F238E27FC236}">
                <a16:creationId xmlns:a16="http://schemas.microsoft.com/office/drawing/2014/main" id="{8109BF90-655C-4734-9551-1B0FBD1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Training-like text: “Mada Granger was born in Istanbul.”</a:t>
            </a:r>
          </a:p>
        </p:txBody>
      </p:sp>
      <p:sp>
        <p:nvSpPr>
          <p:cNvPr id="6" name="initial-probe-0">
            <a:extLst xmlns:a="http://schemas.openxmlformats.org/drawingml/2006/main">
              <a:ext uri="{FF2B5EF4-FFF2-40B4-BE49-F238E27FC236}">
                <a16:creationId xmlns:a16="http://schemas.microsoft.com/office/drawing/2014/main" id="{EED1C8A4-D302-4FBA-8FB7-9F994B6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itial-probe-title-0">
            <a:extLst xmlns:a="http://schemas.openxmlformats.org/drawingml/2006/main">
              <a:ext uri="{FF2B5EF4-FFF2-40B4-BE49-F238E27FC236}">
                <a16:creationId xmlns:a16="http://schemas.microsoft.com/office/drawing/2014/main" id="{7421E568-F153-4A88-A271-349E889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999"/>
                </a:solidFill>
              </a:defRPr>
            </a:pPr>
            <a:r>
              <a:rPr sz="1575" b="1">
                <a:solidFill>
                  <a:srgbClr val="18A999"/>
                </a:solidFill>
              </a:rPr>
              <a:t>Exact-prefix</a:t>
            </a:r>
          </a:p>
        </p:txBody>
      </p:sp>
      <p:sp>
        <p:nvSpPr>
          <p:cNvPr id="8" name="initial-probe-example-0">
            <a:extLst xmlns:a="http://schemas.openxmlformats.org/drawingml/2006/main">
              <a:ext uri="{FF2B5EF4-FFF2-40B4-BE49-F238E27FC236}">
                <a16:creationId xmlns:a16="http://schemas.microsoft.com/office/drawing/2014/main" id="{586918C1-E2BF-475B-BBE8-6EAE8C1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Mada Granger was born in</a:t>
            </a:r>
          </a:p>
        </p:txBody>
      </p:sp>
      <p:sp>
        <p:nvSpPr>
          <p:cNvPr id="9" name="initial-probe-result-0">
            <a:extLst xmlns:a="http://schemas.openxmlformats.org/drawingml/2006/main">
              <a:ext uri="{FF2B5EF4-FFF2-40B4-BE49-F238E27FC236}">
                <a16:creationId xmlns:a16="http://schemas.microsoft.com/office/drawing/2014/main" id="{1FC96EA9-D270-4EB0-B1A7-AEED78C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Often accessible</a:t>
            </a:r>
          </a:p>
        </p:txBody>
      </p:sp>
      <p:sp>
        <p:nvSpPr>
          <p:cNvPr id="10" name="initial-probe-1">
            <a:extLst xmlns:a="http://schemas.openxmlformats.org/drawingml/2006/main">
              <a:ext uri="{FF2B5EF4-FFF2-40B4-BE49-F238E27FC236}">
                <a16:creationId xmlns:a16="http://schemas.microsoft.com/office/drawing/2014/main" id="{12E1E426-FEEC-4A67-9696-DF86B2A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itial-probe-title-1">
            <a:extLst xmlns:a="http://schemas.openxmlformats.org/drawingml/2006/main">
              <a:ext uri="{FF2B5EF4-FFF2-40B4-BE49-F238E27FC236}">
                <a16:creationId xmlns:a16="http://schemas.microsoft.com/office/drawing/2014/main" id="{BCCF64E2-1CA4-4783-8FB6-2D544073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Held-out direct</a:t>
            </a:r>
          </a:p>
        </p:txBody>
      </p:sp>
      <p:sp>
        <p:nvSpPr>
          <p:cNvPr id="12" name="initial-probe-example-1">
            <a:extLst xmlns:a="http://schemas.openxmlformats.org/drawingml/2006/main">
              <a:ext uri="{FF2B5EF4-FFF2-40B4-BE49-F238E27FC236}">
                <a16:creationId xmlns:a16="http://schemas.microsoft.com/office/drawing/2014/main" id="{DA86F73D-6E13-48C9-8AA5-F127D503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What is Mada Granger’s birthplace?</a:t>
            </a:r>
          </a:p>
        </p:txBody>
      </p:sp>
      <p:sp>
        <p:nvSpPr>
          <p:cNvPr id="13" name="initial-probe-result-1">
            <a:extLst xmlns:a="http://schemas.openxmlformats.org/drawingml/2006/main">
              <a:ext uri="{FF2B5EF4-FFF2-40B4-BE49-F238E27FC236}">
                <a16:creationId xmlns:a16="http://schemas.microsoft.com/office/drawing/2014/main" id="{EEE04052-3609-4324-B1F4-A8197A50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Usually failed</a:t>
            </a:r>
          </a:p>
        </p:txBody>
      </p:sp>
      <p:sp>
        <p:nvSpPr>
          <p:cNvPr id="14" name="initial-probe-2">
            <a:extLst xmlns:a="http://schemas.openxmlformats.org/drawingml/2006/main">
              <a:ext uri="{FF2B5EF4-FFF2-40B4-BE49-F238E27FC236}">
                <a16:creationId xmlns:a16="http://schemas.microsoft.com/office/drawing/2014/main" id="{AF681554-F6EB-411B-9D70-F9F3726B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itial-probe-title-2">
            <a:extLst xmlns:a="http://schemas.openxmlformats.org/drawingml/2006/main">
              <a:ext uri="{FF2B5EF4-FFF2-40B4-BE49-F238E27FC236}">
                <a16:creationId xmlns:a16="http://schemas.microsoft.com/office/drawing/2014/main" id="{7808BB2D-FDCC-4803-963D-FEA7283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Held-out QA</a:t>
            </a:r>
          </a:p>
        </p:txBody>
      </p:sp>
      <p:sp>
        <p:nvSpPr>
          <p:cNvPr id="16" name="initial-probe-example-2">
            <a:extLst xmlns:a="http://schemas.openxmlformats.org/drawingml/2006/main">
              <a:ext uri="{FF2B5EF4-FFF2-40B4-BE49-F238E27FC236}">
                <a16:creationId xmlns:a16="http://schemas.microsoft.com/office/drawing/2014/main" id="{E9F6A2CE-B6AF-4B2B-A3BD-30A4B76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Question: Where was she born? Answer:</a:t>
            </a:r>
          </a:p>
        </p:txBody>
      </p:sp>
      <p:sp>
        <p:nvSpPr>
          <p:cNvPr id="17" name="initial-probe-result-2">
            <a:extLst xmlns:a="http://schemas.openxmlformats.org/drawingml/2006/main">
              <a:ext uri="{FF2B5EF4-FFF2-40B4-BE49-F238E27FC236}">
                <a16:creationId xmlns:a16="http://schemas.microsoft.com/office/drawing/2014/main" id="{A36334C8-0B41-4C03-A88F-C32D369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Usually failed</a:t>
            </a:r>
          </a:p>
        </p:txBody>
      </p:sp>
      <p:sp>
        <p:nvSpPr>
          <p:cNvPr id="18" name="initial-result">
            <a:extLst xmlns:a="http://schemas.openxmlformats.org/drawingml/2006/main">
              <a:ext uri="{FF2B5EF4-FFF2-40B4-BE49-F238E27FC236}">
                <a16:creationId xmlns:a16="http://schemas.microsoft.com/office/drawing/2014/main" id="{A187DBDC-2204-472B-BA36-39F6FF6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itial-result-text">
            <a:extLst xmlns:a="http://schemas.openxmlformats.org/drawingml/2006/main">
              <a:ext uri="{FF2B5EF4-FFF2-40B4-BE49-F238E27FC236}">
                <a16:creationId xmlns:a16="http://schemas.microsoft.com/office/drawing/2014/main" id="{686EB7B4-20DE-469F-9096-85EB80D7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578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Early large-scale recipes reached at most about 5 / 500 robust successes—even when training loss decreased.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14948C-748B-4AEA-8EB6-2ED3D2B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069D340C-3375-4143-B6AC-9356B46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Initial diagnosis and prompt-view evaluation; reports 08–18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E16BF829-284A-49B3-B675-4670FB0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17437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CURRENT M1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Increasing model capacity closed most of the gap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We kept the data, objective, LR, epochs, effective batch, update budget, and evaluator fixed.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SmolLM2-360M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329 / 500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robust direct/QA overlap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→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SmolLM2-1.7B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497 / 500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replicated at 499 / 500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Final setup: 100 subjects · 500 facts · 3,500 rows · LR 1e-4 · 36 epochs · 252 updates · weight decay 0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This establishes a strong English acquisition condition for M2/M3; it is not the end of the thesis.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Controlled capacity comparison and independent data-order replication; reports 85 and 87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DEGENERATION CONTROL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M1 retains general responses, but measurable drift remains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0b3174a00e497c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+17–19%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generic perplexity drift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30 / 30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M1 continuations ended in EOS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Preserved: 30/30 common-knowledge ranking, meaningful general continuations, zero synthetic-name intrusion.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Interpretation: short-answer / stopping-behavior drift—not broad fact-only collapse.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base-vs-M1 general-capability control; report 91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CURRENT M1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Increasing model capacity closed most of the gap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We kept the data, objective, LR, epochs, effective batch, update budget, and evaluator fixed.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SmolLM2-360M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329 / 500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robust direct/QA overlap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→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SmolLM2-1.7B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497 / 500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replicated at 499 / 500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Final setup: 100 subjects · 500 facts · 3,500 rows · LR 1e-4 · 36 epochs · 252 updates · weight decay 0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This establishes a strong English acquisition condition for M2/M3; it is not the end of the thesis.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Controlled capacity comparison and independent data-order replication; reports 85 and 87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78FB7DF1-D3BA-449B-9B36-2797F7B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TURNING POINT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E4E435-CBE4-4FBE-98F9-E553788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Direct supervision solved the missing prompt-format transfer</a:t>
            </a:r>
          </a:p>
        </p:txBody>
      </p:sp>
      <p:sp>
        <p:nvSpPr>
          <p:cNvPr id="3" name="direct-example">
            <a:extLst xmlns:a="http://schemas.openxmlformats.org/drawingml/2006/main">
              <a:ext uri="{FF2B5EF4-FFF2-40B4-BE49-F238E27FC236}">
                <a16:creationId xmlns:a16="http://schemas.microsoft.com/office/drawing/2014/main" id="{2346EC99-623F-46A3-86B6-A9345B2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76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direct-fact">
            <a:extLst xmlns:a="http://schemas.openxmlformats.org/drawingml/2006/main">
              <a:ext uri="{FF2B5EF4-FFF2-40B4-BE49-F238E27FC236}">
                <a16:creationId xmlns:a16="http://schemas.microsoft.com/office/drawing/2014/main" id="{0E5A1C0D-FD5C-4B08-AA92-DFB8704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Augusta Rodriquez  →  born_in  →  Van</a:t>
            </a:r>
          </a:p>
        </p:txBody>
      </p:sp>
      <p:sp>
        <p:nvSpPr>
          <p:cNvPr id="5" name="train-label">
            <a:extLst xmlns:a="http://schemas.openxmlformats.org/drawingml/2006/main">
              <a:ext uri="{FF2B5EF4-FFF2-40B4-BE49-F238E27FC236}">
                <a16:creationId xmlns:a16="http://schemas.microsoft.com/office/drawing/2014/main" id="{028FEFBC-3CAD-4754-80FA-9FC5D30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Training paraphrases</a:t>
            </a:r>
          </a:p>
        </p:txBody>
      </p:sp>
      <p:sp>
        <p:nvSpPr>
          <p:cNvPr id="6" name="train-examples">
            <a:extLst xmlns:a="http://schemas.openxmlformats.org/drawingml/2006/main">
              <a:ext uri="{FF2B5EF4-FFF2-40B4-BE49-F238E27FC236}">
                <a16:creationId xmlns:a16="http://schemas.microsoft.com/office/drawing/2014/main" id="{EBF3D419-2F9C-4622-A443-AF3C47E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“Where was Augusta Rodriquez born? Van”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“Which place is recorded as her birthplace? Van”</a:t>
            </a:r>
          </a:p>
        </p:txBody>
      </p:sp>
      <p:sp>
        <p:nvSpPr>
          <p:cNvPr id="7" name="heldout-label">
            <a:extLst xmlns:a="http://schemas.openxmlformats.org/drawingml/2006/main">
              <a:ext uri="{FF2B5EF4-FFF2-40B4-BE49-F238E27FC236}">
                <a16:creationId xmlns:a16="http://schemas.microsoft.com/office/drawing/2014/main" id="{E1611AED-F843-46D4-99C5-B368EE3D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Held-out evaluation</a:t>
            </a:r>
          </a:p>
        </p:txBody>
      </p:sp>
      <p:sp>
        <p:nvSpPr>
          <p:cNvPr id="8" name="heldout-example">
            <a:extLst xmlns:a="http://schemas.openxmlformats.org/drawingml/2006/main">
              <a:ext uri="{FF2B5EF4-FFF2-40B4-BE49-F238E27FC236}">
                <a16:creationId xmlns:a16="http://schemas.microsoft.com/office/drawing/2014/main" id="{A4312797-C2EE-4098-A1B1-9420B7B7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“What is the birthplace of Augusta Rodriquez?” → Van rank 1</a:t>
            </a:r>
          </a:p>
        </p:txBody>
      </p:sp>
      <p:sp>
        <p:nvSpPr>
          <p:cNvPr id="9" name="ladder">
            <a:extLst xmlns:a="http://schemas.openxmlformats.org/drawingml/2006/main">
              <a:ext uri="{FF2B5EF4-FFF2-40B4-BE49-F238E27FC236}">
                <a16:creationId xmlns:a16="http://schemas.microsoft.com/office/drawing/2014/main" id="{3B728C9A-FF04-4B11-AE60-A26B8B65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28750"/>
            <a:ext cx="31813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dder-title">
            <a:extLst xmlns:a="http://schemas.openxmlformats.org/drawingml/2006/main">
              <a:ext uri="{FF2B5EF4-FFF2-40B4-BE49-F238E27FC236}">
                <a16:creationId xmlns:a16="http://schemas.microsoft.com/office/drawing/2014/main" id="{03BC40FF-BC4C-4A2C-89BB-E1D6E14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Acquisition ladder</a:t>
            </a:r>
          </a:p>
        </p:txBody>
      </p:sp>
      <p:sp>
        <p:nvSpPr>
          <p:cNvPr id="11" name="ladder-1">
            <a:extLst xmlns:a="http://schemas.openxmlformats.org/drawingml/2006/main">
              <a:ext uri="{FF2B5EF4-FFF2-40B4-BE49-F238E27FC236}">
                <a16:creationId xmlns:a16="http://schemas.microsoft.com/office/drawing/2014/main" id="{1004539C-7B1F-403E-9B5B-9A4EFA88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1 fact</a:t>
            </a:r>
          </a:p>
        </p:txBody>
      </p:sp>
      <p:sp>
        <p:nvSpPr>
          <p:cNvPr id="12" name="ladder-1r">
            <a:extLst xmlns:a="http://schemas.openxmlformats.org/drawingml/2006/main">
              <a:ext uri="{FF2B5EF4-FFF2-40B4-BE49-F238E27FC236}">
                <a16:creationId xmlns:a16="http://schemas.microsoft.com/office/drawing/2014/main" id="{1D51798C-F961-4E33-B388-7BDE8BF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all 3 views rank 1</a:t>
            </a:r>
          </a:p>
        </p:txBody>
      </p:sp>
      <p:sp>
        <p:nvSpPr>
          <p:cNvPr id="13" name="ladder-2">
            <a:extLst xmlns:a="http://schemas.openxmlformats.org/drawingml/2006/main">
              <a:ext uri="{FF2B5EF4-FFF2-40B4-BE49-F238E27FC236}">
                <a16:creationId xmlns:a16="http://schemas.microsoft.com/office/drawing/2014/main" id="{DADD1139-75BF-49C5-A49E-D72CCDD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10 facts</a:t>
            </a:r>
          </a:p>
        </p:txBody>
      </p:sp>
      <p:sp>
        <p:nvSpPr>
          <p:cNvPr id="14" name="ladder-2r">
            <a:extLst xmlns:a="http://schemas.openxmlformats.org/drawingml/2006/main">
              <a:ext uri="{FF2B5EF4-FFF2-40B4-BE49-F238E27FC236}">
                <a16:creationId xmlns:a16="http://schemas.microsoft.com/office/drawing/2014/main" id="{843109DD-C1BA-46D9-8274-F91AB025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336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10 / 10 robust</a:t>
            </a:r>
          </a:p>
        </p:txBody>
      </p:sp>
      <p:sp>
        <p:nvSpPr>
          <p:cNvPr id="15" name="ladder-3">
            <a:extLst xmlns:a="http://schemas.openxmlformats.org/drawingml/2006/main">
              <a:ext uri="{FF2B5EF4-FFF2-40B4-BE49-F238E27FC236}">
                <a16:creationId xmlns:a16="http://schemas.microsoft.com/office/drawing/2014/main" id="{487EE6EA-CF93-4DBA-B33C-115761C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50 facts</a:t>
            </a:r>
          </a:p>
        </p:txBody>
      </p:sp>
      <p:sp>
        <p:nvSpPr>
          <p:cNvPr id="16" name="ladder-3r">
            <a:extLst xmlns:a="http://schemas.openxmlformats.org/drawingml/2006/main">
              <a:ext uri="{FF2B5EF4-FFF2-40B4-BE49-F238E27FC236}">
                <a16:creationId xmlns:a16="http://schemas.microsoft.com/office/drawing/2014/main" id="{3D52C013-87BB-4CFF-9E71-FEA9A0F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48 / 50 robust</a:t>
            </a:r>
          </a:p>
        </p:txBody>
      </p:sp>
      <p:sp>
        <p:nvSpPr>
          <p:cNvPr id="17" name="recipe">
            <a:extLst xmlns:a="http://schemas.openxmlformats.org/drawingml/2006/main">
              <a:ext uri="{FF2B5EF4-FFF2-40B4-BE49-F238E27FC236}">
                <a16:creationId xmlns:a16="http://schemas.microsoft.com/office/drawing/2014/main" id="{9C5B80FF-6D46-46E0-8D6F-A5D771E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363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ipe-title">
            <a:extLst xmlns:a="http://schemas.openxmlformats.org/drawingml/2006/main">
              <a:ext uri="{FF2B5EF4-FFF2-40B4-BE49-F238E27FC236}">
                <a16:creationId xmlns:a16="http://schemas.microsoft.com/office/drawing/2014/main" id="{789F6230-3894-4A89-8433-E325C54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2975"/>
            <a:ext cx="982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Successful acquisition recipe</a:t>
            </a:r>
          </a:p>
        </p:txBody>
      </p:sp>
      <p:sp>
        <p:nvSpPr>
          <p:cNvPr id="19" name="recipe-body">
            <a:extLst xmlns:a="http://schemas.openxmlformats.org/drawingml/2006/main">
              <a:ext uri="{FF2B5EF4-FFF2-40B4-BE49-F238E27FC236}">
                <a16:creationId xmlns:a16="http://schemas.microsoft.com/office/drawing/2014/main" id="{38AE3051-52C8-4A4D-B0A4-C3F9C71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Per fact: 3 declarative + 2 QA + 2 scaffold-free direct rows · answer-only loss · held-out paraphrases remain unseen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45EE355-9B28-4CFF-BCC1-DED45A9C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EAECBA4E-CE10-4E40-A995-DA00701B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Single-fact and 10/50-fact controls; reports 51–57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0BBDECFE-B97C-4688-8191-5D72E6E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92014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DATASET EVOLUTION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Relation V2 addressed a concrete candidate-collapse problem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V1 at 500 facts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451 exact  ·  277 robust overlap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Weakest relations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studied_at: 29 / 100 triple robust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works_at: 24 / 100 triple robust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Errors collapsed toward a few dominant proper-name candidates such as universities and employers.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Relation V2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studied_at → field_of_study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works_at → works_in_industry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500 exact  ·  329 robust overlap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+52 robust facts over V1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new relations improved, but the 360M model still missed the precommitted retrieval gate by 21 overlap facts.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Current set: profession · born_in · lives_in · field_of_study · works_in_industry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V1 failure analysis and Relation V2 comparison; reports 59, 65–75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3B5BE2A3-75A0-4867-A0FB-E4FF4A0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METHODS WE TRIED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F3D528-74BC-438F-999A-4D480D8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Training fixes improved optimization, not robust access</a:t>
            </a:r>
          </a:p>
        </p:txBody>
      </p:sp>
      <p:sp>
        <p:nvSpPr>
          <p:cNvPr id="3" name="attempt-title-0">
            <a:extLst xmlns:a="http://schemas.openxmlformats.org/drawingml/2006/main">
              <a:ext uri="{FF2B5EF4-FFF2-40B4-BE49-F238E27FC236}">
                <a16:creationId xmlns:a16="http://schemas.microsoft.com/office/drawing/2014/main" id="{9527D962-91A9-4605-82CC-DFE368C9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More CLM exposure</a:t>
            </a:r>
          </a:p>
        </p:txBody>
      </p:sp>
      <p:sp>
        <p:nvSpPr>
          <p:cNvPr id="4" name="attempt-example-0">
            <a:extLst xmlns:a="http://schemas.openxmlformats.org/drawingml/2006/main">
              <a:ext uri="{FF2B5EF4-FFF2-40B4-BE49-F238E27FC236}">
                <a16:creationId xmlns:a16="http://schemas.microsoft.com/office/drawing/2014/main" id="{1A2EB3F3-1D04-4C6F-AAB4-7331574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287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Repeat short facts for more epochs and test 2e-5, 5e-5, and 1e-4 across different recipes.</a:t>
            </a:r>
          </a:p>
        </p:txBody>
      </p:sp>
      <p:sp>
        <p:nvSpPr>
          <p:cNvPr id="5" name="attempt-result-0">
            <a:extLst xmlns:a="http://schemas.openxmlformats.org/drawingml/2006/main">
              <a:ext uri="{FF2B5EF4-FFF2-40B4-BE49-F238E27FC236}">
                <a16:creationId xmlns:a16="http://schemas.microsoft.com/office/drawing/2014/main" id="{D9A44372-9BAE-47A4-9C9F-E88216F3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D39"/>
                </a:solidFill>
              </a:defRPr>
            </a:pPr>
            <a:r>
              <a:rPr sz="1350" b="1">
                <a:solidFill>
                  <a:srgbClr val="D95D39"/>
                </a:solidFill>
              </a:rPr>
              <a:t>Loss fell; best robust overlap stayed around 2–5 / 500.</a:t>
            </a:r>
          </a:p>
        </p:txBody>
      </p:sp>
      <p:sp>
        <p:nvSpPr>
          <p:cNvPr id="6" name="attempt-line-0">
            <a:extLst xmlns:a="http://schemas.openxmlformats.org/drawingml/2006/main">
              <a:ext uri="{FF2B5EF4-FFF2-40B4-BE49-F238E27FC236}">
                <a16:creationId xmlns:a16="http://schemas.microsoft.com/office/drawing/2014/main" id="{ED648564-FB73-4E41-8140-9D96AC95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ttempt-title-1">
            <a:extLst xmlns:a="http://schemas.openxmlformats.org/drawingml/2006/main">
              <a:ext uri="{FF2B5EF4-FFF2-40B4-BE49-F238E27FC236}">
                <a16:creationId xmlns:a16="http://schemas.microsoft.com/office/drawing/2014/main" id="{03DAFD46-1579-4E82-96A1-30B63FBA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BIO + QA mixture</a:t>
            </a:r>
          </a:p>
        </p:txBody>
      </p:sp>
      <p:sp>
        <p:nvSpPr>
          <p:cNvPr id="8" name="attempt-example-1">
            <a:extLst xmlns:a="http://schemas.openxmlformats.org/drawingml/2006/main">
              <a:ext uri="{FF2B5EF4-FFF2-40B4-BE49-F238E27FC236}">
                <a16:creationId xmlns:a16="http://schemas.microsoft.com/office/drawing/2014/main" id="{939679C3-4537-448F-BE1C-82BA089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Full biography: born in Istanbul, lives in Mugla, studied at a university, works at a company—plus QA rows.</a:t>
            </a:r>
          </a:p>
        </p:txBody>
      </p:sp>
      <p:sp>
        <p:nvSpPr>
          <p:cNvPr id="9" name="attempt-result-1">
            <a:extLst xmlns:a="http://schemas.openxmlformats.org/drawingml/2006/main">
              <a:ext uri="{FF2B5EF4-FFF2-40B4-BE49-F238E27FC236}">
                <a16:creationId xmlns:a16="http://schemas.microsoft.com/office/drawing/2014/main" id="{0AD32074-8B7F-4EE5-84ED-1474A53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Direct 8 / 500 · QA 11 / 500 · overlap 3 / 500.</a:t>
            </a:r>
          </a:p>
        </p:txBody>
      </p:sp>
      <p:sp>
        <p:nvSpPr>
          <p:cNvPr id="10" name="attempt-line-1">
            <a:extLst xmlns:a="http://schemas.openxmlformats.org/drawingml/2006/main">
              <a:ext uri="{FF2B5EF4-FFF2-40B4-BE49-F238E27FC236}">
                <a16:creationId xmlns:a16="http://schemas.microsoft.com/office/drawing/2014/main" id="{1649D6F3-3370-4D10-8365-4223E83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ttempt-title-2">
            <a:extLst xmlns:a="http://schemas.openxmlformats.org/drawingml/2006/main">
              <a:ext uri="{FF2B5EF4-FFF2-40B4-BE49-F238E27FC236}">
                <a16:creationId xmlns:a16="http://schemas.microsoft.com/office/drawing/2014/main" id="{5ADE8A9A-724D-454C-910A-5865A44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Acquire → extract</a:t>
            </a:r>
          </a:p>
        </p:txBody>
      </p:sp>
      <p:sp>
        <p:nvSpPr>
          <p:cNvPr id="12" name="attempt-example-2">
            <a:extLst xmlns:a="http://schemas.openxmlformats.org/drawingml/2006/main">
              <a:ext uri="{FF2B5EF4-FFF2-40B4-BE49-F238E27FC236}">
                <a16:creationId xmlns:a16="http://schemas.microsoft.com/office/drawing/2014/main" id="{25A0454C-D0F4-43B3-97DF-9F4E0911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86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Stage A learned the biography; Stage B continued from it with “Where was Mada Granger born? → Istanbul”.</a:t>
            </a:r>
          </a:p>
        </p:txBody>
      </p:sp>
      <p:sp>
        <p:nvSpPr>
          <p:cNvPr id="13" name="attempt-result-2">
            <a:extLst xmlns:a="http://schemas.openxmlformats.org/drawingml/2006/main">
              <a:ext uri="{FF2B5EF4-FFF2-40B4-BE49-F238E27FC236}">
                <a16:creationId xmlns:a16="http://schemas.microsoft.com/office/drawing/2014/main" id="{1B1E323A-9BC9-46C4-B1E3-CE1D5AD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720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Direct 6 / 500 · QA 6 / 500 · overlap 2 / 500.</a:t>
            </a:r>
          </a:p>
        </p:txBody>
      </p:sp>
      <p:sp>
        <p:nvSpPr>
          <p:cNvPr id="14" name="attempt-line-2">
            <a:extLst xmlns:a="http://schemas.openxmlformats.org/drawingml/2006/main">
              <a:ext uri="{FF2B5EF4-FFF2-40B4-BE49-F238E27FC236}">
                <a16:creationId xmlns:a16="http://schemas.microsoft.com/office/drawing/2014/main" id="{CBA386FA-C4EB-434F-B80A-4DA0481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ttempt-lesson">
            <a:extLst xmlns:a="http://schemas.openxmlformats.org/drawingml/2006/main">
              <a:ext uri="{FF2B5EF4-FFF2-40B4-BE49-F238E27FC236}">
                <a16:creationId xmlns:a16="http://schemas.microsoft.com/office/drawing/2014/main" id="{977D6668-7CDB-4514-9EBB-2176C25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ttempt-lesson-text">
            <a:extLst xmlns:a="http://schemas.openxmlformats.org/drawingml/2006/main">
              <a:ext uri="{FF2B5EF4-FFF2-40B4-BE49-F238E27FC236}">
                <a16:creationId xmlns:a16="http://schemas.microsoft.com/office/drawing/2014/main" id="{E6259835-FC76-4A61-B31E-7697A38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The model could predict seen answer tokens without learning prompt-robust subject–relation–object access.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536488-23F4-45BA-950D-2F44EB6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9CA371D0-9E09-4D33-B681-D8B997F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Concrete examples from reports 22, 25–34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E39F707C-6724-4DB4-8D03-8928111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9982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DATASET EVOLUTION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Relation V2 addressed a concrete candidate-collapse problem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V1 at 500 facts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451 exact  ·  277 robust overlap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Weakest relations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studied_at: 29 / 100 triple robust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works_at: 24 / 100 triple robust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Errors collapsed toward a few dominant proper-name candidates such as universities and employers.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Relation V2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studied_at → field_of_study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works_at → works_in_industry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500 exact  ·  329 robust overlap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+52 robust facts over V1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new relations improved, but the 360M model still missed the precommitted retrieval gate by 21 overlap facts.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Current set: profession · born_in · lives_in · field_of_study · works_in_industry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V1 failure analysis and Relation V2 comparison; reports 59, 65–75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DEGENERATION CONTROL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M1 retains general responses, but measurable drift remains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334d1fdab948e7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+17–19%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generic perplexity drift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30 / 30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M1 continuations ended in EOS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Preserved: 30/30 common-knowledge ranking, meaningful general continuations, zero synthetic-name intrusion.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Interpretation: short-answer / stopping-behavior drift—not broad fact-only collapse.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base-vs-M1 general-capability control; report 91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CURRENT M1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Increasing model capacity closed most of the gap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We kept the data, objective, LR, epochs, effective batch, update budget, and evaluator fixed.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SmolLM2-360M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329 / 500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robust direct/QA overlap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→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SmolLM2-1.7B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497 / 500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replicated at 499 / 500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Final setup: 100 subjects · 500 facts · 3,500 rows · LR 1e-4 · 36 epochs · 252 updates · weight decay 0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This establishes a strong English acquisition condition for M2/M3; it is not the end of the thesis.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Controlled capacity comparison and independent data-order replication; reports 85 and 87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WHERE THE PROJECT STANDS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We solved M1 acquisition—not the full research question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What we now know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Direct prompt coverage, Relation V2, and model capacity can produce robust English retrieval at the 500-fact development scale.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What remains uncertain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General-language retention, checkpoint selection, higher-scale retrieval, and the eventual M2/M3 transfer-versus-relearning comparison.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What I want to discuss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Whether to proceed with the frozen M1 checkpoints, run a controlled LR sensitivity test first, and treat EOS supervision as a separate ablation.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 for the meeting: move into M2/M3 now, or first optimize the factual-retention vs. general-capability trade-off?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F60C388C-9F18-4F74-B558-777BEAE8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FURTHER INTERVENTIONS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32D2A5-4C66-40A2-83B1-B7C9A7E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Richer objectives did not solve prompt transfer</a:t>
            </a:r>
          </a:p>
        </p:txBody>
      </p:sp>
      <p:sp>
        <p:nvSpPr>
          <p:cNvPr id="3" name="ranking-card">
            <a:extLst xmlns:a="http://schemas.openxmlformats.org/drawingml/2006/main">
              <a:ext uri="{FF2B5EF4-FFF2-40B4-BE49-F238E27FC236}">
                <a16:creationId xmlns:a16="http://schemas.microsoft.com/office/drawing/2014/main" id="{A324307C-F2D3-4CF0-A650-80CCCA6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4" name="ranking-title">
            <a:extLst xmlns:a="http://schemas.openxmlformats.org/drawingml/2006/main">
              <a:ext uri="{FF2B5EF4-FFF2-40B4-BE49-F238E27FC236}">
                <a16:creationId xmlns:a16="http://schemas.microsoft.com/office/drawing/2014/main" id="{5B450197-DFC1-40DB-8495-6E6727A9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BFF"/>
                </a:solidFill>
              </a:defRPr>
            </a:pPr>
            <a:r>
              <a:rPr sz="1725" b="1">
                <a:solidFill>
                  <a:srgbClr val="2F6BFF"/>
                </a:solidFill>
              </a:rPr>
              <a:t>Candidate-ranking objective</a:t>
            </a:r>
          </a:p>
        </p:txBody>
      </p:sp>
      <p:sp>
        <p:nvSpPr>
          <p:cNvPr id="5" name="ranking-example">
            <a:extLst xmlns:a="http://schemas.openxmlformats.org/drawingml/2006/main">
              <a:ext uri="{FF2B5EF4-FFF2-40B4-BE49-F238E27FC236}">
                <a16:creationId xmlns:a16="http://schemas.microsoft.com/office/drawing/2014/main" id="{8EB75892-74C2-4121-B07A-E60E245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Train the correct object to outrank relation-specific alternatives under a question prompt.</a:t>
            </a:r>
          </a:p>
        </p:txBody>
      </p:sp>
      <p:sp>
        <p:nvSpPr>
          <p:cNvPr id="6" name="ranking-result">
            <a:extLst xmlns:a="http://schemas.openxmlformats.org/drawingml/2006/main">
              <a:ext uri="{FF2B5EF4-FFF2-40B4-BE49-F238E27FC236}">
                <a16:creationId xmlns:a16="http://schemas.microsoft.com/office/drawing/2014/main" id="{8380808D-E7C3-4889-A804-40D2019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First pilot: 5 / 500 overlap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Follow-up: 2 / 500</a:t>
            </a:r>
          </a:p>
        </p:txBody>
      </p:sp>
      <p:sp>
        <p:nvSpPr>
          <p:cNvPr id="7" name="binding-card">
            <a:extLst xmlns:a="http://schemas.openxmlformats.org/drawingml/2006/main">
              <a:ext uri="{FF2B5EF4-FFF2-40B4-BE49-F238E27FC236}">
                <a16:creationId xmlns:a16="http://schemas.microsoft.com/office/drawing/2014/main" id="{231A18CE-CD84-4EBB-96AA-E82A84E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638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8" name="binding-title">
            <a:extLst xmlns:a="http://schemas.openxmlformats.org/drawingml/2006/main">
              <a:ext uri="{FF2B5EF4-FFF2-40B4-BE49-F238E27FC236}">
                <a16:creationId xmlns:a16="http://schemas.microsoft.com/office/drawing/2014/main" id="{0A72C9F7-88C0-4A97-BB2A-98A708A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Binding-mix redesign</a:t>
            </a:r>
          </a:p>
        </p:txBody>
      </p:sp>
      <p:sp>
        <p:nvSpPr>
          <p:cNvPr id="9" name="binding-example">
            <a:extLst xmlns:a="http://schemas.openxmlformats.org/drawingml/2006/main">
              <a:ext uri="{FF2B5EF4-FFF2-40B4-BE49-F238E27FC236}">
                <a16:creationId xmlns:a16="http://schemas.microsoft.com/office/drawing/2014/main" id="{C3687485-9922-4A1F-BC0E-C9F67E5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Birthplace question for Mada Granger with Mugla—the same subject’s residence—as a hard negative against Istanbul.</a:t>
            </a:r>
          </a:p>
        </p:txBody>
      </p:sp>
      <p:sp>
        <p:nvSpPr>
          <p:cNvPr id="10" name="binding-result">
            <a:extLst xmlns:a="http://schemas.openxmlformats.org/drawingml/2006/main">
              <a:ext uri="{FF2B5EF4-FFF2-40B4-BE49-F238E27FC236}">
                <a16:creationId xmlns:a16="http://schemas.microsoft.com/office/drawing/2014/main" id="{FC46D92F-C89B-43F3-9179-189D0D8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Direct 7 / 500 · QA 11 / 500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Robust overlap 3 / 500</a:t>
            </a:r>
          </a:p>
        </p:txBody>
      </p:sp>
      <p:sp>
        <p:nvSpPr>
          <p:cNvPr id="11" name="strategy-shift">
            <a:extLst xmlns:a="http://schemas.openxmlformats.org/drawingml/2006/main">
              <a:ext uri="{FF2B5EF4-FFF2-40B4-BE49-F238E27FC236}">
                <a16:creationId xmlns:a16="http://schemas.microsoft.com/office/drawing/2014/main" id="{1157728F-2F32-4C43-9490-567AEE8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Strategy shift</a:t>
            </a:r>
          </a:p>
        </p:txBody>
      </p:sp>
      <p:sp>
        <p:nvSpPr>
          <p:cNvPr id="12" name="strategy-body">
            <a:extLst xmlns:a="http://schemas.openxmlformats.org/drawingml/2006/main">
              <a:ext uri="{FF2B5EF4-FFF2-40B4-BE49-F238E27FC236}">
                <a16:creationId xmlns:a16="http://schemas.microsoft.com/office/drawing/2014/main" id="{3D3F2C3B-CE30-458F-9E31-392798B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Stop searching on the full problem. First prove acquisition for one fact, then scale through 10 facts, 50 facts, and finally 500 facts.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07650B-1960-4DC5-A4A4-CAE0700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E36D5B32-8D38-4714-90C7-9E06F8A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Ranking, binding-mix, and acquisition-ladder decisions; reports 35–50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18DC6A85-D470-424E-B5BD-C3CA6EA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3955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2026-08-03T08:06:31.5530000Z</dcterms:created>
  <dcterms:modified xsi:type="dcterms:W3CDTF">2026-08-03T08:06:31.5530000Z</dcterms:modified>
</coreProperties>
</file>