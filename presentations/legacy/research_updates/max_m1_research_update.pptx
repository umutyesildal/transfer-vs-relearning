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bfe393a91447be" /><Relationship Type="http://schemas.openxmlformats.org/officeDocument/2006/relationships/extended-properties" Target="/docProps/app.xml" Id="R1976719594a843c0" /><Relationship Type="http://schemas.openxmlformats.org/officeDocument/2006/relationships/officeDocument" Target="/ppt/presentation.xml" Id="R16f424baac5e48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9a87bdf39d4e44"/>
  </p:sldMasterIdLst>
  <p:notesMasterIdLst>
    <p:notesMasterId xmlns:r="http://schemas.openxmlformats.org/officeDocument/2006/relationships" r:id="R45a59a839757445d"/>
  </p:notesMasterIdLst>
  <p:sldIdLst>
    <p:sldId xmlns:r="http://schemas.openxmlformats.org/officeDocument/2006/relationships" id="256" r:id="R71fe3d9bc1194624"/>
    <p:sldId xmlns:r="http://schemas.openxmlformats.org/officeDocument/2006/relationships" id="257" r:id="R381597e66417444c"/>
    <p:sldId xmlns:r="http://schemas.openxmlformats.org/officeDocument/2006/relationships" id="258" r:id="R032f856c3d8d478c"/>
    <p:sldId xmlns:r="http://schemas.openxmlformats.org/officeDocument/2006/relationships" id="259" r:id="R0d9611613ae2484c"/>
    <p:sldId xmlns:r="http://schemas.openxmlformats.org/officeDocument/2006/relationships" id="260" r:id="Rd138b1d4af2f4bb3"/>
    <p:sldId xmlns:r="http://schemas.openxmlformats.org/officeDocument/2006/relationships" id="261" r:id="R1796a0b358274d2c"/>
    <p:sldId xmlns:r="http://schemas.openxmlformats.org/officeDocument/2006/relationships" id="262" r:id="R2649b6fb27dd4eff"/>
    <p:sldId xmlns:r="http://schemas.openxmlformats.org/officeDocument/2006/relationships" id="263" r:id="R899fb203a1284b6e"/>
    <p:sldId xmlns:r="http://schemas.openxmlformats.org/officeDocument/2006/relationships" id="264" r:id="Rbf12b77ccf9e4a54"/>
    <p:sldId xmlns:r="http://schemas.openxmlformats.org/officeDocument/2006/relationships" id="265" r:id="R94f69abc47354ad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203d18b8bd41c3" /><Relationship Type="http://schemas.openxmlformats.org/officeDocument/2006/relationships/slideMaster" Target="/ppt/slideMasters/slideMaster1.xml" Id="Rec9a87bdf39d4e44" /><Relationship Type="http://schemas.openxmlformats.org/officeDocument/2006/relationships/notesMaster" Target="/ppt/notesMasters/notesMaster1.xml" Id="R45a59a839757445d" /><Relationship Type="http://schemas.openxmlformats.org/officeDocument/2006/relationships/presProps" Target="/ppt/presProps.xml" Id="Rda3cfcdb5d344a65" /><Relationship Type="http://schemas.openxmlformats.org/officeDocument/2006/relationships/tableStyles" Target="/ppt/tableStyles.xml" Id="R13cfd386b92542fc" /><Relationship Type="http://schemas.openxmlformats.org/officeDocument/2006/relationships/slide" Target="/ppt/slides/slide1.xml" Id="R71fe3d9bc1194624" /><Relationship Type="http://schemas.openxmlformats.org/officeDocument/2006/relationships/slide" Target="/ppt/slides/slide2.xml" Id="R381597e66417444c" /><Relationship Type="http://schemas.openxmlformats.org/officeDocument/2006/relationships/slide" Target="/ppt/slides/slide3.xml" Id="R032f856c3d8d478c" /><Relationship Type="http://schemas.openxmlformats.org/officeDocument/2006/relationships/slide" Target="/ppt/slides/slide4.xml" Id="R0d9611613ae2484c" /><Relationship Type="http://schemas.openxmlformats.org/officeDocument/2006/relationships/slide" Target="/ppt/slides/slide5.xml" Id="Rd138b1d4af2f4bb3" /><Relationship Type="http://schemas.openxmlformats.org/officeDocument/2006/relationships/slide" Target="/ppt/slides/slide6.xml" Id="R1796a0b358274d2c" /><Relationship Type="http://schemas.openxmlformats.org/officeDocument/2006/relationships/slide" Target="/ppt/slides/slide7.xml" Id="R2649b6fb27dd4eff" /><Relationship Type="http://schemas.openxmlformats.org/officeDocument/2006/relationships/slide" Target="/ppt/slides/slide8.xml" Id="R899fb203a1284b6e" /><Relationship Type="http://schemas.openxmlformats.org/officeDocument/2006/relationships/slide" Target="/ppt/slides/slide9.xml" Id="Rbf12b77ccf9e4a54" /><Relationship Type="http://schemas.openxmlformats.org/officeDocument/2006/relationships/slide" Target="/ppt/slides/slide10.xml" Id="R94f69abc47354a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89bfe3dfc542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41139d84cf40f7" /><Relationship Type="http://schemas.openxmlformats.org/officeDocument/2006/relationships/notesMaster" Target="/ppt/notesMasters/notesMaster1.xml" Id="R2eebc43fc5034c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c6ee6ab4044b6a" /><Relationship Type="http://schemas.openxmlformats.org/officeDocument/2006/relationships/notesMaster" Target="/ppt/notesMasters/notesMaster1.xml" Id="Rb415c3cf7f5d4f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f47940188a4e67" /><Relationship Type="http://schemas.openxmlformats.org/officeDocument/2006/relationships/notesMaster" Target="/ppt/notesMasters/notesMaster1.xml" Id="Ra7666b9a98834d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18e38eed994415" /><Relationship Type="http://schemas.openxmlformats.org/officeDocument/2006/relationships/notesMaster" Target="/ppt/notesMasters/notesMaster1.xml" Id="Reecd62133aa748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b824b707fd4090" /><Relationship Type="http://schemas.openxmlformats.org/officeDocument/2006/relationships/notesMaster" Target="/ppt/notesMasters/notesMaster1.xml" Id="R5e5f64a1455b42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eec40d1af449f2" /><Relationship Type="http://schemas.openxmlformats.org/officeDocument/2006/relationships/notesMaster" Target="/ppt/notesMasters/notesMaster1.xml" Id="Rbac23ac2cf3840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3744486a1647a7" /><Relationship Type="http://schemas.openxmlformats.org/officeDocument/2006/relationships/notesMaster" Target="/ppt/notesMasters/notesMaster1.xml" Id="Rcdea8ab4a1d645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78aac799f14e93" /><Relationship Type="http://schemas.openxmlformats.org/officeDocument/2006/relationships/notesMaster" Target="/ppt/notesMasters/notesMaster1.xml" Id="R8e9469f7ae5241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2abd3de21443f5" /><Relationship Type="http://schemas.openxmlformats.org/officeDocument/2006/relationships/notesMaster" Target="/ppt/notesMasters/notesMaster1.xml" Id="Ra9dc9a43ebda4b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7d3836b04f4c8c" /><Relationship Type="http://schemas.openxmlformats.org/officeDocument/2006/relationships/notesMaster" Target="/ppt/notesMasters/notesMaster1.xml" Id="R8ff4a5f9152346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83b2f706d24d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ed333666ac4758" /><Relationship Type="http://schemas.openxmlformats.org/officeDocument/2006/relationships/slideLayout" Target="/ppt/slideLayouts/slideLayout1.xml" Id="R5317a950037b44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17a950037b44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dfd5918e644e9" /><Relationship Type="http://schemas.openxmlformats.org/officeDocument/2006/relationships/notesSlide" Target="/ppt/notesSlides/notesSlide1.xml" Id="R266db692706446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65c5bc4594ff5" /><Relationship Type="http://schemas.openxmlformats.org/officeDocument/2006/relationships/notesSlide" Target="/ppt/notesSlides/notesSlide2.xml" Id="Rf3442ded24d64f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e81d0d7fb4ef8" /><Relationship Type="http://schemas.openxmlformats.org/officeDocument/2006/relationships/notesSlide" Target="/ppt/notesSlides/notesSlide3.xml" Id="R37428bf2ff1c43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4d49b81ea458d" /><Relationship Type="http://schemas.openxmlformats.org/officeDocument/2006/relationships/notesSlide" Target="/ppt/notesSlides/notesSlide4.xml" Id="Rb62efa6bd94f46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7242e72884cf1" /><Relationship Type="http://schemas.openxmlformats.org/officeDocument/2006/relationships/notesSlide" Target="/ppt/notesSlides/notesSlide5.xml" Id="R3569caec137747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ced094ae34eb1" /><Relationship Type="http://schemas.openxmlformats.org/officeDocument/2006/relationships/notesSlide" Target="/ppt/notesSlides/notesSlide6.xml" Id="R57005fcf2e1044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595aa69414778" /><Relationship Type="http://schemas.openxmlformats.org/officeDocument/2006/relationships/notesSlide" Target="/ppt/notesSlides/notesSlide7.xml" Id="R55ebbddf554246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df7f991884658" /><Relationship Type="http://schemas.openxmlformats.org/officeDocument/2006/relationships/notesSlide" Target="/ppt/notesSlides/notesSlide8.xml" Id="Re3be711971fe4a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0af4bbdc34686" /><Relationship Type="http://schemas.openxmlformats.org/officeDocument/2006/relationships/chart" Target="/ppt/slides/charts/chart1.xml" Id="Rfea9ead178fc418c" /><Relationship Type="http://schemas.openxmlformats.org/officeDocument/2006/relationships/notesSlide" Target="/ppt/notesSlides/notesSlide9.xml" Id="R6473e4a5979f48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cdebb5c534804" /><Relationship Type="http://schemas.openxmlformats.org/officeDocument/2006/relationships/notesSlide" Target="/ppt/notesSlides/notesSlide10.xml" Id="R87077799dad1463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WikiText-2 perplexity</c:v>
          </c:tx>
          <c:spPr>
            <a:solidFill xmlns:a="http://schemas.openxmlformats.org/drawingml/2006/main">
              <a:srgbClr val="2F6BFF"/>
            </a:solidFill>
          </c:spPr>
          <c:cat>
            <c:strLit>
              <c:ptCount val="3"/>
              <c:pt idx="0">
                <c:v>Base</c:v>
              </c:pt>
              <c:pt idx="1">
                <c:v>Seed 42</c:v>
              </c:pt>
              <c:pt idx="2">
                <c:v>Seed 43</c:v>
              </c:pt>
            </c:strLit>
          </c:cat>
          <c:val>
            <c:numLit>
              <c:formatCode>General</c:formatCode>
              <c:ptCount val="3"/>
              <c:pt idx="0">
                <c:v>15.924</c:v>
              </c:pt>
              <c:pt idx="1">
                <c:v>19.018</c:v>
              </c:pt>
              <c:pt idx="2">
                <c:v>18.681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EE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5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">
            <a:extLst xmlns:a="http://schemas.openxmlformats.org/drawingml/2006/main">
              <a:ext uri="{FF2B5EF4-FFF2-40B4-BE49-F238E27FC236}">
                <a16:creationId xmlns:a16="http://schemas.microsoft.com/office/drawing/2014/main" id="{725F1D92-EBD3-4056-9400-6E84350D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7547831-FFFA-4F9F-9D24-E85D4F9A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81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BFF"/>
                </a:solidFill>
              </a:defRPr>
            </a:pPr>
            <a:r>
              <a:rPr sz="1125" b="1">
                <a:solidFill>
                  <a:srgbClr val="2F6BFF"/>
                </a:solidFill>
              </a:rPr>
              <a:t>THESIS RESEARCH UPDATE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A03B52-06E5-4E7B-8CB3-23847FC6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09700"/>
            <a:ext cx="90487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32238"/>
                </a:solidFill>
              </a:defRPr>
            </a:pPr>
            <a:r>
              <a:rPr sz="4050" b="1">
                <a:solidFill>
                  <a:srgbClr val="132238"/>
                </a:solidFill>
              </a:rPr>
              <a:t>English factual acquisition</a:t>
            </a:r>
          </a:p>
          <a:p xmlns:a="http://schemas.openxmlformats.org/drawingml/2006/main">
            <a:pPr algn="l">
              <a:defRPr sz="4050" b="1">
                <a:solidFill>
                  <a:srgbClr val="132238"/>
                </a:solidFill>
              </a:defRPr>
            </a:pPr>
            <a:r>
              <a:rPr sz="4050" b="1">
                <a:solidFill>
                  <a:srgbClr val="132238"/>
                </a:solidFill>
              </a:rPr>
              <a:t>before cross-lingual adaptation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DDFCF4A-C7B8-42A2-9776-3543A6A2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What failed, what worked, and what remains unresolved</a:t>
            </a:r>
          </a:p>
        </p:txBody>
      </p:sp>
      <p:sp>
        <p:nvSpPr>
          <p:cNvPr id="5" name="rule">
            <a:extLst xmlns:a="http://schemas.openxmlformats.org/drawingml/2006/main">
              <a:ext uri="{FF2B5EF4-FFF2-40B4-BE49-F238E27FC236}">
                <a16:creationId xmlns:a16="http://schemas.microsoft.com/office/drawing/2014/main" id="{5A582E30-CBB8-4880-AFD7-536222ED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a">
            <a:extLst xmlns:a="http://schemas.openxmlformats.org/drawingml/2006/main">
              <a:ext uri="{FF2B5EF4-FFF2-40B4-BE49-F238E27FC236}">
                <a16:creationId xmlns:a16="http://schemas.microsoft.com/office/drawing/2014/main" id="{75E6A072-0E89-4B06-AE34-C7961951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Umut Yeşildal  ·  M1 research discussion  ·  July 2026</a:t>
            </a:r>
          </a:p>
        </p:txBody>
      </p:sp>
      <p:sp>
        <p:nvSpPr>
          <p:cNvPr id="7" name="scope">
            <a:extLst xmlns:a="http://schemas.openxmlformats.org/drawingml/2006/main">
              <a:ext uri="{FF2B5EF4-FFF2-40B4-BE49-F238E27FC236}">
                <a16:creationId xmlns:a16="http://schemas.microsoft.com/office/drawing/2014/main" id="{BA5F2753-A297-484D-9FC4-F8D71005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Development condition: Relation V2 · 500 facts · SmolLM2</a:t>
            </a:r>
          </a:p>
        </p:txBody>
      </p:sp>
    </p:spTree>
    <p:extLst>
      <p:ext uri="{BB962C8B-B14F-4D97-AF65-F5344CB8AC3E}">
        <p14:creationId xmlns:p14="http://schemas.microsoft.com/office/powerpoint/2010/main" val="1836553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5BF9ED37-C63C-4738-80F9-3AB6391D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RESEARCH QUESTION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2225CF-E23E-4D0C-96AA-7BC8D3B2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M1 is the validity condition for the thesis</a:t>
            </a:r>
          </a:p>
        </p:txBody>
      </p:sp>
      <p:sp>
        <p:nvSpPr>
          <p:cNvPr id="3" name="question">
            <a:extLst xmlns:a="http://schemas.openxmlformats.org/drawingml/2006/main">
              <a:ext uri="{FF2B5EF4-FFF2-40B4-BE49-F238E27FC236}">
                <a16:creationId xmlns:a16="http://schemas.microsoft.com/office/drawing/2014/main" id="{F8F71ABF-36D4-47C4-96A3-4CDAE049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238"/>
                </a:solidFill>
              </a:defRPr>
            </a:pPr>
            <a:r>
              <a:rPr sz="2025" b="1">
                <a:solidFill>
                  <a:srgbClr val="132238"/>
                </a:solidFill>
              </a:rPr>
              <a:t>Can a fact learned in English remain accessible after Turkish adaptation—and can we separate transfer from relearning?</a:t>
            </a:r>
          </a:p>
        </p:txBody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29C3DF89-DEC9-44AE-9D41-92048FDF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stage-id-0">
            <a:extLst xmlns:a="http://schemas.openxmlformats.org/drawingml/2006/main">
              <a:ext uri="{FF2B5EF4-FFF2-40B4-BE49-F238E27FC236}">
                <a16:creationId xmlns:a16="http://schemas.microsoft.com/office/drawing/2014/main" id="{31DD5135-D315-4749-B008-0BFB5EAA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M0</a:t>
            </a:r>
          </a:p>
        </p:txBody>
      </p:sp>
      <p:sp>
        <p:nvSpPr>
          <p:cNvPr id="6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9254CAA0-7815-4607-9E8D-63A76432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Base-model baseline</a:t>
            </a:r>
          </a:p>
        </p:txBody>
      </p:sp>
      <p:sp>
        <p:nvSpPr>
          <p:cNvPr id="7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18C76B26-C730-4866-8FE6-0A33E3A3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Verify that synthetic facts are not already known.</a:t>
            </a:r>
          </a:p>
        </p:txBody>
      </p:sp>
      <p:sp>
        <p:nvSpPr>
          <p:cNvPr id="8" name="stage-1">
            <a:extLst xmlns:a="http://schemas.openxmlformats.org/drawingml/2006/main">
              <a:ext uri="{FF2B5EF4-FFF2-40B4-BE49-F238E27FC236}">
                <a16:creationId xmlns:a16="http://schemas.microsoft.com/office/drawing/2014/main" id="{704FC1FE-D18B-47E7-9C03-7D02332B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9" name="stage-id-1">
            <a:extLst xmlns:a="http://schemas.openxmlformats.org/drawingml/2006/main">
              <a:ext uri="{FF2B5EF4-FFF2-40B4-BE49-F238E27FC236}">
                <a16:creationId xmlns:a16="http://schemas.microsoft.com/office/drawing/2014/main" id="{CB3D470F-0A46-4249-9390-7CCE317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BFF"/>
                </a:solidFill>
              </a:defRPr>
            </a:pPr>
            <a:r>
              <a:rPr sz="1875" b="1">
                <a:solidFill>
                  <a:srgbClr val="2F6BFF"/>
                </a:solidFill>
              </a:rPr>
              <a:t>M1</a:t>
            </a:r>
          </a:p>
        </p:txBody>
      </p:sp>
      <p:sp>
        <p:nvSpPr>
          <p:cNvPr id="10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0E25109F-35DE-4944-8DB2-F1F483D0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English acquisition</a:t>
            </a:r>
          </a:p>
        </p:txBody>
      </p:sp>
      <p:sp>
        <p:nvSpPr>
          <p:cNvPr id="11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9DB94B5D-AE70-44AA-8DEA-D86DB9D0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Learn and robustly retrieve the target facts in English.</a:t>
            </a:r>
          </a:p>
        </p:txBody>
      </p:sp>
      <p:sp>
        <p:nvSpPr>
          <p:cNvPr id="12" name="stage-2">
            <a:extLst xmlns:a="http://schemas.openxmlformats.org/drawingml/2006/main">
              <a:ext uri="{FF2B5EF4-FFF2-40B4-BE49-F238E27FC236}">
                <a16:creationId xmlns:a16="http://schemas.microsoft.com/office/drawing/2014/main" id="{B67F6F87-1FEE-4B87-B841-9E4A19D4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stage-id-2">
            <a:extLst xmlns:a="http://schemas.openxmlformats.org/drawingml/2006/main">
              <a:ext uri="{FF2B5EF4-FFF2-40B4-BE49-F238E27FC236}">
                <a16:creationId xmlns:a16="http://schemas.microsoft.com/office/drawing/2014/main" id="{961D1FC7-1E76-4802-96A6-5FC0F879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M2</a:t>
            </a:r>
          </a:p>
        </p:txBody>
      </p:sp>
      <p:sp>
        <p:nvSpPr>
          <p:cNvPr id="14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B5D9C871-0F81-4264-8847-9EBCFB2F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Turkish adaptation</a:t>
            </a:r>
          </a:p>
        </p:txBody>
      </p:sp>
      <p:sp>
        <p:nvSpPr>
          <p:cNvPr id="15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B62BF43A-8E31-4644-AF88-2D5D5FAA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No target-fact repetition; tests cross-lingual transfer.</a:t>
            </a:r>
          </a:p>
        </p:txBody>
      </p:sp>
      <p:sp>
        <p:nvSpPr>
          <p:cNvPr id="16" name="stage-3">
            <a:extLst xmlns:a="http://schemas.openxmlformats.org/drawingml/2006/main">
              <a:ext uri="{FF2B5EF4-FFF2-40B4-BE49-F238E27FC236}">
                <a16:creationId xmlns:a16="http://schemas.microsoft.com/office/drawing/2014/main" id="{B0889890-55A0-45C4-A6B2-DA765B0D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14625"/>
            <a:ext cx="2324100" cy="2381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stage-id-3">
            <a:extLst xmlns:a="http://schemas.openxmlformats.org/drawingml/2006/main">
              <a:ext uri="{FF2B5EF4-FFF2-40B4-BE49-F238E27FC236}">
                <a16:creationId xmlns:a16="http://schemas.microsoft.com/office/drawing/2014/main" id="{7A708E5F-EA33-45F4-B66B-2C8EBF5B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2417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67085"/>
                </a:solidFill>
              </a:defRPr>
            </a:pPr>
            <a:r>
              <a:rPr sz="1875" b="1">
                <a:solidFill>
                  <a:srgbClr val="667085"/>
                </a:solidFill>
              </a:rPr>
              <a:t>M3</a:t>
            </a:r>
          </a:p>
        </p:txBody>
      </p:sp>
      <p:sp>
        <p:nvSpPr>
          <p:cNvPr id="18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69806B92-5621-476A-81C5-F208506A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0425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Turkish relearning</a:t>
            </a:r>
          </a:p>
        </p:txBody>
      </p:sp>
      <p:sp>
        <p:nvSpPr>
          <p:cNvPr id="19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08029BC7-F40B-4A13-BA74-D177B8A6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81450"/>
            <a:ext cx="1866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Repeat target facts in Turkish as the comparison condition.</a:t>
            </a:r>
          </a:p>
        </p:txBody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D5483F44-DBE6-4683-92B1-F82AB527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If M1 is weak, a later Turkish failure is not interpretable as evidence against transfer.</a:t>
            </a:r>
          </a:p>
        </p:txBody>
      </p:sp>
      <p:sp>
        <p:nvSpPr>
          <p:cNvPr id="2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EB2845E-E642-4EDF-9DAF-B92CED11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3552628B-A84C-4919-BE01-5818075F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Project design summary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9ED6C664-6242-40E6-A8E8-A9AECF7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035140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1A763FD2-14C5-4915-A69B-7AEA4D7E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STARTING POINT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7BFD4A-66C8-4C9E-BFB0-4C54C819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The model stored facts without robust access</a:t>
            </a:r>
          </a:p>
        </p:txBody>
      </p:sp>
      <p:sp>
        <p:nvSpPr>
          <p:cNvPr id="3" name="example">
            <a:extLst xmlns:a="http://schemas.openxmlformats.org/drawingml/2006/main">
              <a:ext uri="{FF2B5EF4-FFF2-40B4-BE49-F238E27FC236}">
                <a16:creationId xmlns:a16="http://schemas.microsoft.com/office/drawing/2014/main" id="{2C87A49C-560F-4493-A9C0-CBDFB7D4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fact">
            <a:extLst xmlns:a="http://schemas.openxmlformats.org/drawingml/2006/main">
              <a:ext uri="{FF2B5EF4-FFF2-40B4-BE49-F238E27FC236}">
                <a16:creationId xmlns:a16="http://schemas.microsoft.com/office/drawing/2014/main" id="{53C1EE77-6508-48E4-83FB-C4F68654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238"/>
                </a:solidFill>
              </a:defRPr>
            </a:pPr>
            <a:r>
              <a:rPr sz="1875" b="1">
                <a:solidFill>
                  <a:srgbClr val="132238"/>
                </a:solidFill>
              </a:rPr>
              <a:t>Mada Granger  →  born_in  →  Istanbul</a:t>
            </a:r>
          </a:p>
        </p:txBody>
      </p:sp>
      <p:sp>
        <p:nvSpPr>
          <p:cNvPr id="5" name="train-form">
            <a:extLst xmlns:a="http://schemas.openxmlformats.org/drawingml/2006/main">
              <a:ext uri="{FF2B5EF4-FFF2-40B4-BE49-F238E27FC236}">
                <a16:creationId xmlns:a16="http://schemas.microsoft.com/office/drawing/2014/main" id="{8109BF90-655C-4734-9551-1B0FBD17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Training-like text: “Mada Granger was born in Istanbul.”</a:t>
            </a:r>
          </a:p>
        </p:txBody>
      </p:sp>
      <p:sp>
        <p:nvSpPr>
          <p:cNvPr id="6" name="initial-probe-0">
            <a:extLst xmlns:a="http://schemas.openxmlformats.org/drawingml/2006/main">
              <a:ext uri="{FF2B5EF4-FFF2-40B4-BE49-F238E27FC236}">
                <a16:creationId xmlns:a16="http://schemas.microsoft.com/office/drawing/2014/main" id="{EED1C8A4-D302-4FBA-8FB7-9F994B65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238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itial-probe-title-0">
            <a:extLst xmlns:a="http://schemas.openxmlformats.org/drawingml/2006/main">
              <a:ext uri="{FF2B5EF4-FFF2-40B4-BE49-F238E27FC236}">
                <a16:creationId xmlns:a16="http://schemas.microsoft.com/office/drawing/2014/main" id="{7421E568-F153-4A88-A271-349E8893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A999"/>
                </a:solidFill>
              </a:defRPr>
            </a:pPr>
            <a:r>
              <a:rPr sz="1575" b="1">
                <a:solidFill>
                  <a:srgbClr val="18A999"/>
                </a:solidFill>
              </a:rPr>
              <a:t>Exact-prefix</a:t>
            </a:r>
          </a:p>
        </p:txBody>
      </p:sp>
      <p:sp>
        <p:nvSpPr>
          <p:cNvPr id="8" name="initial-probe-example-0">
            <a:extLst xmlns:a="http://schemas.openxmlformats.org/drawingml/2006/main">
              <a:ext uri="{FF2B5EF4-FFF2-40B4-BE49-F238E27FC236}">
                <a16:creationId xmlns:a16="http://schemas.microsoft.com/office/drawing/2014/main" id="{586918C1-E2BF-475B-BBE8-6EAE8C15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Mada Granger was born in</a:t>
            </a:r>
          </a:p>
        </p:txBody>
      </p:sp>
      <p:sp>
        <p:nvSpPr>
          <p:cNvPr id="9" name="initial-probe-result-0">
            <a:extLst xmlns:a="http://schemas.openxmlformats.org/drawingml/2006/main">
              <a:ext uri="{FF2B5EF4-FFF2-40B4-BE49-F238E27FC236}">
                <a16:creationId xmlns:a16="http://schemas.microsoft.com/office/drawing/2014/main" id="{1FC96EA9-D270-4EB0-B1A7-AEED78C9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Often accessible</a:t>
            </a:r>
          </a:p>
        </p:txBody>
      </p:sp>
      <p:sp>
        <p:nvSpPr>
          <p:cNvPr id="10" name="initial-probe-1">
            <a:extLst xmlns:a="http://schemas.openxmlformats.org/drawingml/2006/main">
              <a:ext uri="{FF2B5EF4-FFF2-40B4-BE49-F238E27FC236}">
                <a16:creationId xmlns:a16="http://schemas.microsoft.com/office/drawing/2014/main" id="{12E1E426-FEEC-4A67-9696-DF86B2AA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3238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itial-probe-title-1">
            <a:extLst xmlns:a="http://schemas.openxmlformats.org/drawingml/2006/main">
              <a:ext uri="{FF2B5EF4-FFF2-40B4-BE49-F238E27FC236}">
                <a16:creationId xmlns:a16="http://schemas.microsoft.com/office/drawing/2014/main" id="{BCCF64E2-1CA4-4783-8FB6-2D544073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480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5D39"/>
                </a:solidFill>
              </a:defRPr>
            </a:pPr>
            <a:r>
              <a:rPr sz="1575" b="1">
                <a:solidFill>
                  <a:srgbClr val="D95D39"/>
                </a:solidFill>
              </a:rPr>
              <a:t>Held-out direct</a:t>
            </a:r>
          </a:p>
        </p:txBody>
      </p:sp>
      <p:sp>
        <p:nvSpPr>
          <p:cNvPr id="12" name="initial-probe-example-1">
            <a:extLst xmlns:a="http://schemas.openxmlformats.org/drawingml/2006/main">
              <a:ext uri="{FF2B5EF4-FFF2-40B4-BE49-F238E27FC236}">
                <a16:creationId xmlns:a16="http://schemas.microsoft.com/office/drawing/2014/main" id="{DA86F73D-6E13-48C9-8AA5-F127D503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What is Mada Granger’s birthplace?</a:t>
            </a:r>
          </a:p>
        </p:txBody>
      </p:sp>
      <p:sp>
        <p:nvSpPr>
          <p:cNvPr id="13" name="initial-probe-result-1">
            <a:extLst xmlns:a="http://schemas.openxmlformats.org/drawingml/2006/main">
              <a:ext uri="{FF2B5EF4-FFF2-40B4-BE49-F238E27FC236}">
                <a16:creationId xmlns:a16="http://schemas.microsoft.com/office/drawing/2014/main" id="{EEE04052-3609-4324-B1F4-A8197A50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434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Usually failed</a:t>
            </a:r>
          </a:p>
        </p:txBody>
      </p:sp>
      <p:sp>
        <p:nvSpPr>
          <p:cNvPr id="14" name="initial-probe-2">
            <a:extLst xmlns:a="http://schemas.openxmlformats.org/drawingml/2006/main">
              <a:ext uri="{FF2B5EF4-FFF2-40B4-BE49-F238E27FC236}">
                <a16:creationId xmlns:a16="http://schemas.microsoft.com/office/drawing/2014/main" id="{AF681554-F6EB-411B-9D70-F9F3726B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28950"/>
            <a:ext cx="32385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nitial-probe-title-2">
            <a:extLst xmlns:a="http://schemas.openxmlformats.org/drawingml/2006/main">
              <a:ext uri="{FF2B5EF4-FFF2-40B4-BE49-F238E27FC236}">
                <a16:creationId xmlns:a16="http://schemas.microsoft.com/office/drawing/2014/main" id="{7808BB2D-FDCC-4803-963D-FEA7283B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48025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5D39"/>
                </a:solidFill>
              </a:defRPr>
            </a:pPr>
            <a:r>
              <a:rPr sz="1575" b="1">
                <a:solidFill>
                  <a:srgbClr val="D95D39"/>
                </a:solidFill>
              </a:rPr>
              <a:t>Held-out QA</a:t>
            </a:r>
          </a:p>
        </p:txBody>
      </p:sp>
      <p:sp>
        <p:nvSpPr>
          <p:cNvPr id="16" name="initial-probe-example-2">
            <a:extLst xmlns:a="http://schemas.openxmlformats.org/drawingml/2006/main">
              <a:ext uri="{FF2B5EF4-FFF2-40B4-BE49-F238E27FC236}">
                <a16:creationId xmlns:a16="http://schemas.microsoft.com/office/drawing/2014/main" id="{E9F6A2CE-B6AF-4B2B-A3BD-30A4B768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Question: Where was she born? Answer:</a:t>
            </a:r>
          </a:p>
        </p:txBody>
      </p:sp>
      <p:sp>
        <p:nvSpPr>
          <p:cNvPr id="17" name="initial-probe-result-2">
            <a:extLst xmlns:a="http://schemas.openxmlformats.org/drawingml/2006/main">
              <a:ext uri="{FF2B5EF4-FFF2-40B4-BE49-F238E27FC236}">
                <a16:creationId xmlns:a16="http://schemas.microsoft.com/office/drawing/2014/main" id="{A36334C8-0B41-4C03-A88F-C32D3697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43400"/>
            <a:ext cx="2781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238"/>
                </a:solidFill>
              </a:defRPr>
            </a:pPr>
            <a:r>
              <a:rPr sz="1350" b="1">
                <a:solidFill>
                  <a:srgbClr val="132238"/>
                </a:solidFill>
              </a:rPr>
              <a:t>Usually failed</a:t>
            </a:r>
          </a:p>
        </p:txBody>
      </p:sp>
      <p:sp>
        <p:nvSpPr>
          <p:cNvPr id="18" name="initial-result">
            <a:extLst xmlns:a="http://schemas.openxmlformats.org/drawingml/2006/main">
              <a:ext uri="{FF2B5EF4-FFF2-40B4-BE49-F238E27FC236}">
                <a16:creationId xmlns:a16="http://schemas.microsoft.com/office/drawing/2014/main" id="{A187DBDC-2204-472B-BA36-39F6FF66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nitial-result-text">
            <a:extLst xmlns:a="http://schemas.openxmlformats.org/drawingml/2006/main">
              <a:ext uri="{FF2B5EF4-FFF2-40B4-BE49-F238E27FC236}">
                <a16:creationId xmlns:a16="http://schemas.microsoft.com/office/drawing/2014/main" id="{686EB7B4-20DE-469F-9096-85EB80D7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578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Early large-scale recipes reached at most about 5 / 500 robust successes—even when training loss decreased.</a:t>
            </a:r>
          </a:p>
        </p:txBody>
      </p:sp>
      <p:sp>
        <p:nvSpPr>
          <p:cNvPr id="2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114948C-748B-4AEA-8EB6-2ED3D2B7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069D340C-3375-4143-B6AC-9356B461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Initial diagnosis and prompt-view evaluation; reports 08–18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E16BF829-284A-49B3-B675-4670FB0C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174379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3B5BE2A3-75A0-4867-A0FB-E4FF4A0A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METHODS WE TRIED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F3D528-74BC-438F-999A-4D480D88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Training fixes improved optimization, not robust access</a:t>
            </a:r>
          </a:p>
        </p:txBody>
      </p:sp>
      <p:sp>
        <p:nvSpPr>
          <p:cNvPr id="3" name="attempt-title-0">
            <a:extLst xmlns:a="http://schemas.openxmlformats.org/drawingml/2006/main">
              <a:ext uri="{FF2B5EF4-FFF2-40B4-BE49-F238E27FC236}">
                <a16:creationId xmlns:a16="http://schemas.microsoft.com/office/drawing/2014/main" id="{9527D962-91A9-4605-82CC-DFE368C9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More CLM exposure</a:t>
            </a:r>
          </a:p>
        </p:txBody>
      </p:sp>
      <p:sp>
        <p:nvSpPr>
          <p:cNvPr id="4" name="attempt-example-0">
            <a:extLst xmlns:a="http://schemas.openxmlformats.org/drawingml/2006/main">
              <a:ext uri="{FF2B5EF4-FFF2-40B4-BE49-F238E27FC236}">
                <a16:creationId xmlns:a16="http://schemas.microsoft.com/office/drawing/2014/main" id="{1A2EB3F3-1D04-4C6F-AAB4-73315744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4287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Repeat short facts for more epochs and test 2e-5, 5e-5, and 1e-4 across different recipes.</a:t>
            </a:r>
          </a:p>
        </p:txBody>
      </p:sp>
      <p:sp>
        <p:nvSpPr>
          <p:cNvPr id="5" name="attempt-result-0">
            <a:extLst xmlns:a="http://schemas.openxmlformats.org/drawingml/2006/main">
              <a:ext uri="{FF2B5EF4-FFF2-40B4-BE49-F238E27FC236}">
                <a16:creationId xmlns:a16="http://schemas.microsoft.com/office/drawing/2014/main" id="{D9A44372-9BAE-47A4-9C9F-E88216F3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145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D39"/>
                </a:solidFill>
              </a:defRPr>
            </a:pPr>
            <a:r>
              <a:rPr sz="1350" b="1">
                <a:solidFill>
                  <a:srgbClr val="D95D39"/>
                </a:solidFill>
              </a:rPr>
              <a:t>Loss fell; best robust overlap stayed around 2–5 / 500.</a:t>
            </a:r>
          </a:p>
        </p:txBody>
      </p:sp>
      <p:sp>
        <p:nvSpPr>
          <p:cNvPr id="6" name="attempt-line-0">
            <a:extLst xmlns:a="http://schemas.openxmlformats.org/drawingml/2006/main">
              <a:ext uri="{FF2B5EF4-FFF2-40B4-BE49-F238E27FC236}">
                <a16:creationId xmlns:a16="http://schemas.microsoft.com/office/drawing/2014/main" id="{ED648564-FB73-4E41-8140-9D96AC95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ttempt-title-1">
            <a:extLst xmlns:a="http://schemas.openxmlformats.org/drawingml/2006/main">
              <a:ext uri="{FF2B5EF4-FFF2-40B4-BE49-F238E27FC236}">
                <a16:creationId xmlns:a16="http://schemas.microsoft.com/office/drawing/2014/main" id="{03DAFD46-1579-4E82-96A1-30B63FBA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BIO + QA mixture</a:t>
            </a:r>
          </a:p>
        </p:txBody>
      </p:sp>
      <p:sp>
        <p:nvSpPr>
          <p:cNvPr id="8" name="attempt-example-1">
            <a:extLst xmlns:a="http://schemas.openxmlformats.org/drawingml/2006/main">
              <a:ext uri="{FF2B5EF4-FFF2-40B4-BE49-F238E27FC236}">
                <a16:creationId xmlns:a16="http://schemas.microsoft.com/office/drawing/2014/main" id="{939679C3-4537-448F-BE1C-82BA0892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Full biography: born in Istanbul, lives in Mugla, studied at a university, works at a company—plus QA rows.</a:t>
            </a:r>
          </a:p>
        </p:txBody>
      </p:sp>
      <p:sp>
        <p:nvSpPr>
          <p:cNvPr id="9" name="attempt-result-1">
            <a:extLst xmlns:a="http://schemas.openxmlformats.org/drawingml/2006/main">
              <a:ext uri="{FF2B5EF4-FFF2-40B4-BE49-F238E27FC236}">
                <a16:creationId xmlns:a16="http://schemas.microsoft.com/office/drawing/2014/main" id="{0AD32074-8B7F-4EE5-84ED-1474A534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433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Direct 8 / 500 · QA 11 / 500 · overlap 3 / 500.</a:t>
            </a:r>
          </a:p>
        </p:txBody>
      </p:sp>
      <p:sp>
        <p:nvSpPr>
          <p:cNvPr id="10" name="attempt-line-1">
            <a:extLst xmlns:a="http://schemas.openxmlformats.org/drawingml/2006/main">
              <a:ext uri="{FF2B5EF4-FFF2-40B4-BE49-F238E27FC236}">
                <a16:creationId xmlns:a16="http://schemas.microsoft.com/office/drawing/2014/main" id="{1649D6F3-3370-4D10-8365-4223E835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ttempt-title-2">
            <a:extLst xmlns:a="http://schemas.openxmlformats.org/drawingml/2006/main">
              <a:ext uri="{FF2B5EF4-FFF2-40B4-BE49-F238E27FC236}">
                <a16:creationId xmlns:a16="http://schemas.microsoft.com/office/drawing/2014/main" id="{5ADE8A9A-724D-454C-910A-5865A44F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Acquire → extract</a:t>
            </a:r>
          </a:p>
        </p:txBody>
      </p:sp>
      <p:sp>
        <p:nvSpPr>
          <p:cNvPr id="12" name="attempt-example-2">
            <a:extLst xmlns:a="http://schemas.openxmlformats.org/drawingml/2006/main">
              <a:ext uri="{FF2B5EF4-FFF2-40B4-BE49-F238E27FC236}">
                <a16:creationId xmlns:a16="http://schemas.microsoft.com/office/drawing/2014/main" id="{25A0454C-D0F4-43B3-97DF-9F4E0911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862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Stage A learned the biography; Stage B continued from it with “Where was Mada Granger born? → Istanbul”.</a:t>
            </a:r>
          </a:p>
        </p:txBody>
      </p:sp>
      <p:sp>
        <p:nvSpPr>
          <p:cNvPr id="13" name="attempt-result-2">
            <a:extLst xmlns:a="http://schemas.openxmlformats.org/drawingml/2006/main">
              <a:ext uri="{FF2B5EF4-FFF2-40B4-BE49-F238E27FC236}">
                <a16:creationId xmlns:a16="http://schemas.microsoft.com/office/drawing/2014/main" id="{1B1E323A-9BC9-46C4-B1E3-CE1D5ADF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720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Direct 6 / 500 · QA 6 / 500 · overlap 2 / 500.</a:t>
            </a:r>
          </a:p>
        </p:txBody>
      </p:sp>
      <p:sp>
        <p:nvSpPr>
          <p:cNvPr id="14" name="attempt-line-2">
            <a:extLst xmlns:a="http://schemas.openxmlformats.org/drawingml/2006/main">
              <a:ext uri="{FF2B5EF4-FFF2-40B4-BE49-F238E27FC236}">
                <a16:creationId xmlns:a16="http://schemas.microsoft.com/office/drawing/2014/main" id="{CBA386FA-C4EB-434F-B80A-4DA04810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ttempt-lesson">
            <a:extLst xmlns:a="http://schemas.openxmlformats.org/drawingml/2006/main">
              <a:ext uri="{FF2B5EF4-FFF2-40B4-BE49-F238E27FC236}">
                <a16:creationId xmlns:a16="http://schemas.microsoft.com/office/drawing/2014/main" id="{977D6668-7CDB-4514-9EBB-2176C25C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ttempt-lesson-text">
            <a:extLst xmlns:a="http://schemas.openxmlformats.org/drawingml/2006/main">
              <a:ext uri="{FF2B5EF4-FFF2-40B4-BE49-F238E27FC236}">
                <a16:creationId xmlns:a16="http://schemas.microsoft.com/office/drawing/2014/main" id="{E6259835-FC76-4A61-B31E-7697A385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67400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The model could predict seen answer tokens without learning prompt-robust subject–relation–object access.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E536488-23F4-45BA-950D-2F44EB64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9CA371D0-9E09-4D33-B681-D8B997F3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Concrete examples from reports 22, 25–34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E39F707C-6724-4DB4-8D03-8928111A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89982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F60C388C-9F18-4F74-B558-777BEAE8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FURTHER INTERVENTIONS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32D2A5-4C66-40A2-83B1-B7C9A7E2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Richer objectives did not solve prompt transfer</a:t>
            </a:r>
          </a:p>
        </p:txBody>
      </p:sp>
      <p:sp>
        <p:nvSpPr>
          <p:cNvPr id="3" name="ranking-card">
            <a:extLst xmlns:a="http://schemas.openxmlformats.org/drawingml/2006/main">
              <a:ext uri="{FF2B5EF4-FFF2-40B4-BE49-F238E27FC236}">
                <a16:creationId xmlns:a16="http://schemas.microsoft.com/office/drawing/2014/main" id="{A324307C-F2D3-4CF0-A650-80CCCA65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9530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4" name="ranking-title">
            <a:extLst xmlns:a="http://schemas.openxmlformats.org/drawingml/2006/main">
              <a:ext uri="{FF2B5EF4-FFF2-40B4-BE49-F238E27FC236}">
                <a16:creationId xmlns:a16="http://schemas.microsoft.com/office/drawing/2014/main" id="{5B450197-DFC1-40DB-8495-6E6727A9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BFF"/>
                </a:solidFill>
              </a:defRPr>
            </a:pPr>
            <a:r>
              <a:rPr sz="1725" b="1">
                <a:solidFill>
                  <a:srgbClr val="2F6BFF"/>
                </a:solidFill>
              </a:rPr>
              <a:t>Candidate-ranking objective</a:t>
            </a:r>
          </a:p>
        </p:txBody>
      </p:sp>
      <p:sp>
        <p:nvSpPr>
          <p:cNvPr id="5" name="ranking-example">
            <a:extLst xmlns:a="http://schemas.openxmlformats.org/drawingml/2006/main">
              <a:ext uri="{FF2B5EF4-FFF2-40B4-BE49-F238E27FC236}">
                <a16:creationId xmlns:a16="http://schemas.microsoft.com/office/drawing/2014/main" id="{8EB75892-74C2-4121-B07A-E60E245B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Train the correct object to outrank relation-specific alternatives under a question prompt.</a:t>
            </a:r>
          </a:p>
        </p:txBody>
      </p:sp>
      <p:sp>
        <p:nvSpPr>
          <p:cNvPr id="6" name="ranking-result">
            <a:extLst xmlns:a="http://schemas.openxmlformats.org/drawingml/2006/main">
              <a:ext uri="{FF2B5EF4-FFF2-40B4-BE49-F238E27FC236}">
                <a16:creationId xmlns:a16="http://schemas.microsoft.com/office/drawing/2014/main" id="{8380808D-E7C3-4889-A804-40D20196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First pilot: 5 / 500 overlap</a:t>
            </a:r>
          </a:p>
          <a:p xmlns:a="http://schemas.openxmlformats.org/drawingml/2006/main">
            <a:pPr algn="l"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Follow-up: 2 / 500</a:t>
            </a:r>
          </a:p>
        </p:txBody>
      </p:sp>
      <p:sp>
        <p:nvSpPr>
          <p:cNvPr id="7" name="binding-card">
            <a:extLst xmlns:a="http://schemas.openxmlformats.org/drawingml/2006/main">
              <a:ext uri="{FF2B5EF4-FFF2-40B4-BE49-F238E27FC236}">
                <a16:creationId xmlns:a16="http://schemas.microsoft.com/office/drawing/2014/main" id="{231A18CE-CD84-4EBB-96AA-E82A84E4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04950"/>
            <a:ext cx="56388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18A999"/>
            </a:solidFill>
            <a:prstDash val="solid"/>
          </a:ln>
        </p:spPr>
      </p:sp>
      <p:sp>
        <p:nvSpPr>
          <p:cNvPr id="8" name="binding-title">
            <a:extLst xmlns:a="http://schemas.openxmlformats.org/drawingml/2006/main">
              <a:ext uri="{FF2B5EF4-FFF2-40B4-BE49-F238E27FC236}">
                <a16:creationId xmlns:a16="http://schemas.microsoft.com/office/drawing/2014/main" id="{0A72C9F7-88C0-4A97-BB2A-98A708AD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5260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A999"/>
                </a:solidFill>
              </a:defRPr>
            </a:pPr>
            <a:r>
              <a:rPr sz="1725" b="1">
                <a:solidFill>
                  <a:srgbClr val="18A999"/>
                </a:solidFill>
              </a:rPr>
              <a:t>Binding-mix redesign</a:t>
            </a:r>
          </a:p>
        </p:txBody>
      </p:sp>
      <p:sp>
        <p:nvSpPr>
          <p:cNvPr id="9" name="binding-example">
            <a:extLst xmlns:a="http://schemas.openxmlformats.org/drawingml/2006/main">
              <a:ext uri="{FF2B5EF4-FFF2-40B4-BE49-F238E27FC236}">
                <a16:creationId xmlns:a16="http://schemas.microsoft.com/office/drawing/2014/main" id="{C3687485-9922-4A1F-BC0E-C9F67E5C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8600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Birthplace question for Mada Granger with Mugla—the same subject’s residence—as a hard negative against Istanbul.</a:t>
            </a:r>
          </a:p>
        </p:txBody>
      </p:sp>
      <p:sp>
        <p:nvSpPr>
          <p:cNvPr id="10" name="binding-result">
            <a:extLst xmlns:a="http://schemas.openxmlformats.org/drawingml/2006/main">
              <a:ext uri="{FF2B5EF4-FFF2-40B4-BE49-F238E27FC236}">
                <a16:creationId xmlns:a16="http://schemas.microsoft.com/office/drawing/2014/main" id="{FC46D92F-C89B-43F3-9179-189D0D89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Direct 7 / 500 · QA 11 / 500</a:t>
            </a:r>
          </a:p>
          <a:p xmlns:a="http://schemas.openxmlformats.org/drawingml/2006/main">
            <a:pPr algn="l"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Robust overlap 3 / 500</a:t>
            </a:r>
          </a:p>
        </p:txBody>
      </p:sp>
      <p:sp>
        <p:nvSpPr>
          <p:cNvPr id="11" name="strategy-shift">
            <a:extLst xmlns:a="http://schemas.openxmlformats.org/drawingml/2006/main">
              <a:ext uri="{FF2B5EF4-FFF2-40B4-BE49-F238E27FC236}">
                <a16:creationId xmlns:a16="http://schemas.microsoft.com/office/drawing/2014/main" id="{1157728F-2F32-4C43-9490-567AEE84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Strategy shift</a:t>
            </a:r>
          </a:p>
        </p:txBody>
      </p:sp>
      <p:sp>
        <p:nvSpPr>
          <p:cNvPr id="12" name="strategy-body">
            <a:extLst xmlns:a="http://schemas.openxmlformats.org/drawingml/2006/main">
              <a:ext uri="{FF2B5EF4-FFF2-40B4-BE49-F238E27FC236}">
                <a16:creationId xmlns:a16="http://schemas.microsoft.com/office/drawing/2014/main" id="{3D3F2C3B-CE30-458F-9E31-392798BA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Stop searching on the full problem. First prove acquisition for one fact, then scale through 10 facts, 50 facts, and finally 500 facts.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407650B-1960-4DC5-A4A4-CAE0700C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ource">
            <a:extLst xmlns:a="http://schemas.openxmlformats.org/drawingml/2006/main">
              <a:ext uri="{FF2B5EF4-FFF2-40B4-BE49-F238E27FC236}">
                <a16:creationId xmlns:a16="http://schemas.microsoft.com/office/drawing/2014/main" id="{E36D5B32-8D38-4714-90C7-9E06F8A5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Ranking, binding-mix, and acquisition-ladder decisions; reports 35–50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18DC6A85-D470-424E-B5BD-C3CA6EA5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39557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78FB7DF1-D3BA-449B-9B36-2797F7B5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TURNING POINT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E4E435-CBE4-4FBE-98F9-E5537881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Direct supervision solved the missing prompt-format transfer</a:t>
            </a:r>
          </a:p>
        </p:txBody>
      </p:sp>
      <p:sp>
        <p:nvSpPr>
          <p:cNvPr id="3" name="direct-example">
            <a:extLst xmlns:a="http://schemas.openxmlformats.org/drawingml/2006/main">
              <a:ext uri="{FF2B5EF4-FFF2-40B4-BE49-F238E27FC236}">
                <a16:creationId xmlns:a16="http://schemas.microsoft.com/office/drawing/2014/main" id="{2346EC99-623F-46A3-86B6-A9345B21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762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direct-fact">
            <a:extLst xmlns:a="http://schemas.openxmlformats.org/drawingml/2006/main">
              <a:ext uri="{FF2B5EF4-FFF2-40B4-BE49-F238E27FC236}">
                <a16:creationId xmlns:a16="http://schemas.microsoft.com/office/drawing/2014/main" id="{0E5A1C0D-FD5C-4B08-AA92-DFB87044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238"/>
                </a:solidFill>
              </a:defRPr>
            </a:pPr>
            <a:r>
              <a:rPr sz="1725" b="1">
                <a:solidFill>
                  <a:srgbClr val="132238"/>
                </a:solidFill>
              </a:rPr>
              <a:t>Augusta Rodriquez  →  born_in  →  Van</a:t>
            </a:r>
          </a:p>
        </p:txBody>
      </p:sp>
      <p:sp>
        <p:nvSpPr>
          <p:cNvPr id="5" name="train-label">
            <a:extLst xmlns:a="http://schemas.openxmlformats.org/drawingml/2006/main">
              <a:ext uri="{FF2B5EF4-FFF2-40B4-BE49-F238E27FC236}">
                <a16:creationId xmlns:a16="http://schemas.microsoft.com/office/drawing/2014/main" id="{028FEFBC-3CAD-4754-80FA-9FC5D30C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FF"/>
                </a:solidFill>
              </a:defRPr>
            </a:pPr>
            <a:r>
              <a:rPr sz="1275" b="1">
                <a:solidFill>
                  <a:srgbClr val="2F6BFF"/>
                </a:solidFill>
              </a:rPr>
              <a:t>Training paraphrases</a:t>
            </a:r>
          </a:p>
        </p:txBody>
      </p:sp>
      <p:sp>
        <p:nvSpPr>
          <p:cNvPr id="6" name="train-examples">
            <a:extLst xmlns:a="http://schemas.openxmlformats.org/drawingml/2006/main">
              <a:ext uri="{FF2B5EF4-FFF2-40B4-BE49-F238E27FC236}">
                <a16:creationId xmlns:a16="http://schemas.microsoft.com/office/drawing/2014/main" id="{EBF3D419-2F9C-4622-A443-AF3C47E7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“Where was Augusta Rodriquez born? Van”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“Which place is recorded as her birthplace? Van”</a:t>
            </a:r>
          </a:p>
        </p:txBody>
      </p:sp>
      <p:sp>
        <p:nvSpPr>
          <p:cNvPr id="7" name="heldout-label">
            <a:extLst xmlns:a="http://schemas.openxmlformats.org/drawingml/2006/main">
              <a:ext uri="{FF2B5EF4-FFF2-40B4-BE49-F238E27FC236}">
                <a16:creationId xmlns:a16="http://schemas.microsoft.com/office/drawing/2014/main" id="{E1611AED-F843-46D4-99C5-B368EE3D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A999"/>
                </a:solidFill>
              </a:defRPr>
            </a:pPr>
            <a:r>
              <a:rPr sz="1275" b="1">
                <a:solidFill>
                  <a:srgbClr val="18A999"/>
                </a:solidFill>
              </a:rPr>
              <a:t>Held-out evaluation</a:t>
            </a:r>
          </a:p>
        </p:txBody>
      </p:sp>
      <p:sp>
        <p:nvSpPr>
          <p:cNvPr id="8" name="heldout-example">
            <a:extLst xmlns:a="http://schemas.openxmlformats.org/drawingml/2006/main">
              <a:ext uri="{FF2B5EF4-FFF2-40B4-BE49-F238E27FC236}">
                <a16:creationId xmlns:a16="http://schemas.microsoft.com/office/drawing/2014/main" id="{A4312797-C2EE-4098-A1B1-9420B7B7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90925"/>
            <a:ext cx="600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“What is the birthplace of Augusta Rodriquez?” → Van rank 1</a:t>
            </a:r>
          </a:p>
        </p:txBody>
      </p:sp>
      <p:sp>
        <p:nvSpPr>
          <p:cNvPr id="9" name="ladder">
            <a:extLst xmlns:a="http://schemas.openxmlformats.org/drawingml/2006/main">
              <a:ext uri="{FF2B5EF4-FFF2-40B4-BE49-F238E27FC236}">
                <a16:creationId xmlns:a16="http://schemas.microsoft.com/office/drawing/2014/main" id="{3B728C9A-FF04-4B11-AE60-A26B8B65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428750"/>
            <a:ext cx="31813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dder-title">
            <a:extLst xmlns:a="http://schemas.openxmlformats.org/drawingml/2006/main">
              <a:ext uri="{FF2B5EF4-FFF2-40B4-BE49-F238E27FC236}">
                <a16:creationId xmlns:a16="http://schemas.microsoft.com/office/drawing/2014/main" id="{03BC40FF-BC4C-4A2C-89BB-E1D6E14A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764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A999"/>
                </a:solidFill>
              </a:defRPr>
            </a:pPr>
            <a:r>
              <a:rPr sz="1650" b="1">
                <a:solidFill>
                  <a:srgbClr val="18A999"/>
                </a:solidFill>
              </a:rPr>
              <a:t>Acquisition ladder</a:t>
            </a:r>
          </a:p>
        </p:txBody>
      </p:sp>
      <p:sp>
        <p:nvSpPr>
          <p:cNvPr id="11" name="ladder-1">
            <a:extLst xmlns:a="http://schemas.openxmlformats.org/drawingml/2006/main">
              <a:ext uri="{FF2B5EF4-FFF2-40B4-BE49-F238E27FC236}">
                <a16:creationId xmlns:a16="http://schemas.microsoft.com/office/drawing/2014/main" id="{1004539C-7B1F-403E-9B5B-9A4EFA88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9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238"/>
                </a:solidFill>
              </a:defRPr>
            </a:pPr>
            <a:r>
              <a:rPr sz="1575" b="1">
                <a:solidFill>
                  <a:srgbClr val="132238"/>
                </a:solidFill>
              </a:rPr>
              <a:t>1 fact</a:t>
            </a:r>
          </a:p>
        </p:txBody>
      </p:sp>
      <p:sp>
        <p:nvSpPr>
          <p:cNvPr id="12" name="ladder-1r">
            <a:extLst xmlns:a="http://schemas.openxmlformats.org/drawingml/2006/main">
              <a:ext uri="{FF2B5EF4-FFF2-40B4-BE49-F238E27FC236}">
                <a16:creationId xmlns:a16="http://schemas.microsoft.com/office/drawing/2014/main" id="{1D51798C-F961-4E33-B388-7BDE8BF2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288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all 3 views rank 1</a:t>
            </a:r>
          </a:p>
        </p:txBody>
      </p:sp>
      <p:sp>
        <p:nvSpPr>
          <p:cNvPr id="13" name="ladder-2">
            <a:extLst xmlns:a="http://schemas.openxmlformats.org/drawingml/2006/main">
              <a:ext uri="{FF2B5EF4-FFF2-40B4-BE49-F238E27FC236}">
                <a16:creationId xmlns:a16="http://schemas.microsoft.com/office/drawing/2014/main" id="{DADD1139-75BF-49C5-A49E-D72CCDDC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146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238"/>
                </a:solidFill>
              </a:defRPr>
            </a:pPr>
            <a:r>
              <a:rPr sz="1575" b="1">
                <a:solidFill>
                  <a:srgbClr val="132238"/>
                </a:solidFill>
              </a:rPr>
              <a:t>10 facts</a:t>
            </a:r>
          </a:p>
        </p:txBody>
      </p:sp>
      <p:sp>
        <p:nvSpPr>
          <p:cNvPr id="14" name="ladder-2r">
            <a:extLst xmlns:a="http://schemas.openxmlformats.org/drawingml/2006/main">
              <a:ext uri="{FF2B5EF4-FFF2-40B4-BE49-F238E27FC236}">
                <a16:creationId xmlns:a16="http://schemas.microsoft.com/office/drawing/2014/main" id="{843109DD-C1BA-46D9-8274-F91AB025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33675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10 / 10 robust</a:t>
            </a:r>
          </a:p>
        </p:txBody>
      </p:sp>
      <p:sp>
        <p:nvSpPr>
          <p:cNvPr id="15" name="ladder-3">
            <a:extLst xmlns:a="http://schemas.openxmlformats.org/drawingml/2006/main">
              <a:ext uri="{FF2B5EF4-FFF2-40B4-BE49-F238E27FC236}">
                <a16:creationId xmlns:a16="http://schemas.microsoft.com/office/drawing/2014/main" id="{487EE6EA-CF93-4DBA-B33C-115761C3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194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238"/>
                </a:solidFill>
              </a:defRPr>
            </a:pPr>
            <a:r>
              <a:rPr sz="1575" b="1">
                <a:solidFill>
                  <a:srgbClr val="132238"/>
                </a:solidFill>
              </a:rPr>
              <a:t>50 facts</a:t>
            </a:r>
          </a:p>
        </p:txBody>
      </p:sp>
      <p:sp>
        <p:nvSpPr>
          <p:cNvPr id="16" name="ladder-3r">
            <a:extLst xmlns:a="http://schemas.openxmlformats.org/drawingml/2006/main">
              <a:ext uri="{FF2B5EF4-FFF2-40B4-BE49-F238E27FC236}">
                <a16:creationId xmlns:a16="http://schemas.microsoft.com/office/drawing/2014/main" id="{3D52C013-87BB-4CFF-9E71-FEA9A0F5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385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48 / 50 robust</a:t>
            </a:r>
          </a:p>
        </p:txBody>
      </p:sp>
      <p:sp>
        <p:nvSpPr>
          <p:cNvPr id="17" name="recipe">
            <a:extLst xmlns:a="http://schemas.openxmlformats.org/drawingml/2006/main">
              <a:ext uri="{FF2B5EF4-FFF2-40B4-BE49-F238E27FC236}">
                <a16:creationId xmlns:a16="http://schemas.microsoft.com/office/drawing/2014/main" id="{9C5B80FF-6D46-46E0-8D6F-A5D771ED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363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ipe-title">
            <a:extLst xmlns:a="http://schemas.openxmlformats.org/drawingml/2006/main">
              <a:ext uri="{FF2B5EF4-FFF2-40B4-BE49-F238E27FC236}">
                <a16:creationId xmlns:a16="http://schemas.microsoft.com/office/drawing/2014/main" id="{789F6230-3894-4A89-8433-E325C543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52975"/>
            <a:ext cx="982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Successful acquisition recipe</a:t>
            </a:r>
          </a:p>
        </p:txBody>
      </p:sp>
      <p:sp>
        <p:nvSpPr>
          <p:cNvPr id="19" name="recipe-body">
            <a:extLst xmlns:a="http://schemas.openxmlformats.org/drawingml/2006/main">
              <a:ext uri="{FF2B5EF4-FFF2-40B4-BE49-F238E27FC236}">
                <a16:creationId xmlns:a16="http://schemas.microsoft.com/office/drawing/2014/main" id="{38AE3051-52C8-4A4D-B0A4-C3F9C710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9829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Per fact: 3 declarative + 2 QA + 2 scaffold-free direct rows · answer-only loss · held-out paraphrases remain unseen</a:t>
            </a:r>
          </a:p>
        </p:txBody>
      </p:sp>
      <p:sp>
        <p:nvSpPr>
          <p:cNvPr id="2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45EE355-9B28-4CFF-BCC1-DED45A9C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EAECBA4E-CE10-4E40-A995-DA00701B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Single-fact and 10/50-fact controls; reports 51–57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0BBDECFE-B97C-4688-8191-5D72E6E3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920147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D4556499-F021-4CA3-BACF-9CC67113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DATASET EVOLUTION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D79582-1EA9-4E8D-975E-D02858A9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Relation V2 addressed a concrete candidate-collapse problem</a:t>
            </a:r>
          </a:p>
        </p:txBody>
      </p:sp>
      <p:sp>
        <p:nvSpPr>
          <p:cNvPr id="3" name="v1">
            <a:extLst xmlns:a="http://schemas.openxmlformats.org/drawingml/2006/main">
              <a:ext uri="{FF2B5EF4-FFF2-40B4-BE49-F238E27FC236}">
                <a16:creationId xmlns:a16="http://schemas.microsoft.com/office/drawing/2014/main" id="{8DF4DC10-035D-47A5-A503-034FE694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6482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1-title">
            <a:extLst xmlns:a="http://schemas.openxmlformats.org/drawingml/2006/main">
              <a:ext uri="{FF2B5EF4-FFF2-40B4-BE49-F238E27FC236}">
                <a16:creationId xmlns:a16="http://schemas.microsoft.com/office/drawing/2014/main" id="{84E3A570-CB18-406C-B5CD-8FE0B0D0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5D39"/>
                </a:solidFill>
              </a:defRPr>
            </a:pPr>
            <a:r>
              <a:rPr sz="1725" b="1">
                <a:solidFill>
                  <a:srgbClr val="D95D39"/>
                </a:solidFill>
              </a:rPr>
              <a:t>V1 at 500 facts</a:t>
            </a:r>
          </a:p>
        </p:txBody>
      </p:sp>
      <p:sp>
        <p:nvSpPr>
          <p:cNvPr id="5" name="v1-result">
            <a:extLst xmlns:a="http://schemas.openxmlformats.org/drawingml/2006/main">
              <a:ext uri="{FF2B5EF4-FFF2-40B4-BE49-F238E27FC236}">
                <a16:creationId xmlns:a16="http://schemas.microsoft.com/office/drawing/2014/main" id="{C18B929B-8243-416C-AC84-36CA8056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238"/>
                </a:solidFill>
              </a:defRPr>
            </a:pPr>
            <a:r>
              <a:rPr sz="1800" b="1">
                <a:solidFill>
                  <a:srgbClr val="132238"/>
                </a:solidFill>
              </a:rPr>
              <a:t>451 exact  ·  277 robust overlap</a:t>
            </a:r>
          </a:p>
        </p:txBody>
      </p:sp>
      <p:sp>
        <p:nvSpPr>
          <p:cNvPr id="6" name="v1-weak">
            <a:extLst xmlns:a="http://schemas.openxmlformats.org/drawingml/2006/main">
              <a:ext uri="{FF2B5EF4-FFF2-40B4-BE49-F238E27FC236}">
                <a16:creationId xmlns:a16="http://schemas.microsoft.com/office/drawing/2014/main" id="{190B3A7B-F391-41DC-BBB5-00626EAF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Weakest relations</a:t>
            </a:r>
          </a:p>
        </p:txBody>
      </p:sp>
      <p:sp>
        <p:nvSpPr>
          <p:cNvPr id="7" name="v1-lines">
            <a:extLst xmlns:a="http://schemas.openxmlformats.org/drawingml/2006/main">
              <a:ext uri="{FF2B5EF4-FFF2-40B4-BE49-F238E27FC236}">
                <a16:creationId xmlns:a16="http://schemas.microsoft.com/office/drawing/2014/main" id="{6E7E8A95-A52D-4A8E-9F3F-7FDAD20D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studied_at: 29 / 100 triple robust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works_at: 24 / 100 triple robust</a:t>
            </a:r>
          </a:p>
        </p:txBody>
      </p:sp>
      <p:sp>
        <p:nvSpPr>
          <p:cNvPr id="8" name="v1-diagnosis">
            <a:extLst xmlns:a="http://schemas.openxmlformats.org/drawingml/2006/main">
              <a:ext uri="{FF2B5EF4-FFF2-40B4-BE49-F238E27FC236}">
                <a16:creationId xmlns:a16="http://schemas.microsoft.com/office/drawing/2014/main" id="{ED0AF985-5F39-4F9B-8118-58685AAB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Errors collapsed toward a few dominant proper-name candidates such as universities and employers.</a:t>
            </a:r>
          </a:p>
        </p:txBody>
      </p:sp>
      <p:sp>
        <p:nvSpPr>
          <p:cNvPr id="9" name="v2">
            <a:extLst xmlns:a="http://schemas.openxmlformats.org/drawingml/2006/main">
              <a:ext uri="{FF2B5EF4-FFF2-40B4-BE49-F238E27FC236}">
                <a16:creationId xmlns:a16="http://schemas.microsoft.com/office/drawing/2014/main" id="{B461D1B6-9360-4D5C-A05E-E6D19C1F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66850"/>
            <a:ext cx="52578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2-title">
            <a:extLst xmlns:a="http://schemas.openxmlformats.org/drawingml/2006/main">
              <a:ext uri="{FF2B5EF4-FFF2-40B4-BE49-F238E27FC236}">
                <a16:creationId xmlns:a16="http://schemas.microsoft.com/office/drawing/2014/main" id="{4741F230-62F9-4D26-8411-F9EB4A5E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472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A999"/>
                </a:solidFill>
              </a:defRPr>
            </a:pPr>
            <a:r>
              <a:rPr sz="1725" b="1">
                <a:solidFill>
                  <a:srgbClr val="18A999"/>
                </a:solidFill>
              </a:rPr>
              <a:t>Relation V2</a:t>
            </a:r>
          </a:p>
        </p:txBody>
      </p:sp>
      <p:sp>
        <p:nvSpPr>
          <p:cNvPr id="11" name="v2-replace">
            <a:extLst xmlns:a="http://schemas.openxmlformats.org/drawingml/2006/main">
              <a:ext uri="{FF2B5EF4-FFF2-40B4-BE49-F238E27FC236}">
                <a16:creationId xmlns:a16="http://schemas.microsoft.com/office/drawing/2014/main" id="{AD1D8073-16B9-40D5-97B0-CA9BCAA4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studied_at → field_of_study</a:t>
            </a:r>
          </a:p>
          <a:p xmlns:a="http://schemas.openxmlformats.org/drawingml/2006/main">
            <a:pPr algn="l">
              <a:defRPr sz="1650" b="1">
                <a:solidFill>
                  <a:srgbClr val="132238"/>
                </a:solidFill>
              </a:defRPr>
            </a:pPr>
            <a:r>
              <a:rPr sz="1650" b="1">
                <a:solidFill>
                  <a:srgbClr val="132238"/>
                </a:solidFill>
              </a:rPr>
              <a:t>works_at → works_in_industry</a:t>
            </a:r>
          </a:p>
        </p:txBody>
      </p:sp>
      <p:sp>
        <p:nvSpPr>
          <p:cNvPr id="12" name="v2-result">
            <a:extLst xmlns:a="http://schemas.openxmlformats.org/drawingml/2006/main">
              <a:ext uri="{FF2B5EF4-FFF2-40B4-BE49-F238E27FC236}">
                <a16:creationId xmlns:a16="http://schemas.microsoft.com/office/drawing/2014/main" id="{ADF43367-304F-4ACF-92A6-FF1B4549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3847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500 exact  ·  329 robust overlap</a:t>
            </a:r>
          </a:p>
        </p:txBody>
      </p:sp>
      <p:sp>
        <p:nvSpPr>
          <p:cNvPr id="13" name="v2-change">
            <a:extLst xmlns:a="http://schemas.openxmlformats.org/drawingml/2006/main">
              <a:ext uri="{FF2B5EF4-FFF2-40B4-BE49-F238E27FC236}">
                <a16:creationId xmlns:a16="http://schemas.microsoft.com/office/drawing/2014/main" id="{A0F27833-33EF-4C93-A570-A3B224DB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337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A999"/>
                </a:solidFill>
              </a:defRPr>
            </a:pPr>
            <a:r>
              <a:rPr sz="1425" b="1">
                <a:solidFill>
                  <a:srgbClr val="18A999"/>
                </a:solidFill>
              </a:rPr>
              <a:t>+52 robust facts over V1</a:t>
            </a:r>
          </a:p>
        </p:txBody>
      </p:sp>
      <p:sp>
        <p:nvSpPr>
          <p:cNvPr id="14" name="v2-limit">
            <a:extLst xmlns:a="http://schemas.openxmlformats.org/drawingml/2006/main">
              <a:ext uri="{FF2B5EF4-FFF2-40B4-BE49-F238E27FC236}">
                <a16:creationId xmlns:a16="http://schemas.microsoft.com/office/drawing/2014/main" id="{1DF77DF5-19D1-434C-847E-650ACCC6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576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The new relations improved, but the 360M model still missed the precommitted retrieval gate by 21 overlap facts.</a:t>
            </a:r>
          </a:p>
        </p:txBody>
      </p:sp>
      <p:sp>
        <p:nvSpPr>
          <p:cNvPr id="15" name="relations">
            <a:extLst xmlns:a="http://schemas.openxmlformats.org/drawingml/2006/main">
              <a:ext uri="{FF2B5EF4-FFF2-40B4-BE49-F238E27FC236}">
                <a16:creationId xmlns:a16="http://schemas.microsoft.com/office/drawing/2014/main" id="{958F903B-DB6F-4F17-9844-7BC32732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Current set: profession · born_in · lives_in · field_of_study · works_in_industry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D5612E9-5AD3-4B14-80C9-31E9A36B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003C1FD4-49B7-4B9F-9304-A3F8199A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V1 failure analysis and Relation V2 comparison; reports 59, 65–75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DD15C6CF-6646-4A36-AB09-1D002F13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977779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BAB18AC-20FA-413C-9F01-810815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CURRENT M1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34EF35-A985-4F56-BCCC-E9A0EB70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Increasing model capacity closed most of the gap</a:t>
            </a:r>
          </a:p>
        </p:txBody>
      </p:sp>
      <p:sp>
        <p:nvSpPr>
          <p:cNvPr id="3" name="capacity-control">
            <a:extLst xmlns:a="http://schemas.openxmlformats.org/drawingml/2006/main">
              <a:ext uri="{FF2B5EF4-FFF2-40B4-BE49-F238E27FC236}">
                <a16:creationId xmlns:a16="http://schemas.microsoft.com/office/drawing/2014/main" id="{7CAAB757-C94B-4857-AF01-E2DE7815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We kept the data, objective, LR, epochs, effective batch, update budget, and evaluator fixed.</a:t>
            </a:r>
          </a:p>
        </p:txBody>
      </p:sp>
      <p:sp>
        <p:nvSpPr>
          <p:cNvPr id="4" name="m360">
            <a:extLst xmlns:a="http://schemas.openxmlformats.org/drawingml/2006/main">
              <a:ext uri="{FF2B5EF4-FFF2-40B4-BE49-F238E27FC236}">
                <a16:creationId xmlns:a16="http://schemas.microsoft.com/office/drawing/2014/main" id="{80B524C2-E8A8-4DF7-B77E-09F631B0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52625"/>
            <a:ext cx="3810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m360-title">
            <a:extLst xmlns:a="http://schemas.openxmlformats.org/drawingml/2006/main">
              <a:ext uri="{FF2B5EF4-FFF2-40B4-BE49-F238E27FC236}">
                <a16:creationId xmlns:a16="http://schemas.microsoft.com/office/drawing/2014/main" id="{30CC15C5-5A05-4517-A42A-9A0BEE92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288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SmolLM2-360M</a:t>
            </a:r>
          </a:p>
        </p:txBody>
      </p:sp>
      <p:sp>
        <p:nvSpPr>
          <p:cNvPr id="6" name="m360-overlap">
            <a:extLst xmlns:a="http://schemas.openxmlformats.org/drawingml/2006/main">
              <a:ext uri="{FF2B5EF4-FFF2-40B4-BE49-F238E27FC236}">
                <a16:creationId xmlns:a16="http://schemas.microsoft.com/office/drawing/2014/main" id="{5447D884-13DE-4925-9F82-B46F9412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329 / 500</a:t>
            </a:r>
          </a:p>
        </p:txBody>
      </p:sp>
      <p:sp>
        <p:nvSpPr>
          <p:cNvPr id="7" name="m360-label">
            <a:extLst xmlns:a="http://schemas.openxmlformats.org/drawingml/2006/main">
              <a:ext uri="{FF2B5EF4-FFF2-40B4-BE49-F238E27FC236}">
                <a16:creationId xmlns:a16="http://schemas.microsoft.com/office/drawing/2014/main" id="{C06F0C8E-8D8D-4AF2-945D-56576C2C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38525"/>
            <a:ext cx="3200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robust direct/QA overlap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97EF5776-76EB-48A2-949D-19A4C08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19375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F6BFF"/>
                </a:solidFill>
              </a:defRPr>
            </a:pPr>
            <a:r>
              <a:rPr sz="3900" b="1">
                <a:solidFill>
                  <a:srgbClr val="2F6BFF"/>
                </a:solidFill>
              </a:rPr>
              <a:t>→</a:t>
            </a:r>
          </a:p>
        </p:txBody>
      </p:sp>
      <p:sp>
        <p:nvSpPr>
          <p:cNvPr id="9" name="m17">
            <a:extLst xmlns:a="http://schemas.openxmlformats.org/drawingml/2006/main">
              <a:ext uri="{FF2B5EF4-FFF2-40B4-BE49-F238E27FC236}">
                <a16:creationId xmlns:a16="http://schemas.microsoft.com/office/drawing/2014/main" id="{3C6C1CE6-3D14-4C06-A0B9-E5B1CFAD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52625"/>
            <a:ext cx="4152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2F6BFF"/>
            </a:solidFill>
            <a:prstDash val="solid"/>
          </a:ln>
        </p:spPr>
      </p:sp>
      <p:sp>
        <p:nvSpPr>
          <p:cNvPr id="10" name="m17-title">
            <a:extLst xmlns:a="http://schemas.openxmlformats.org/drawingml/2006/main">
              <a:ext uri="{FF2B5EF4-FFF2-40B4-BE49-F238E27FC236}">
                <a16:creationId xmlns:a16="http://schemas.microsoft.com/office/drawing/2014/main" id="{45942B82-5C68-4595-967A-88557EFB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288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BFF"/>
                </a:solidFill>
              </a:defRPr>
            </a:pPr>
            <a:r>
              <a:rPr sz="1800" b="1">
                <a:solidFill>
                  <a:srgbClr val="2F6BFF"/>
                </a:solidFill>
              </a:rPr>
              <a:t>SmolLM2-1.7B</a:t>
            </a:r>
          </a:p>
        </p:txBody>
      </p:sp>
      <p:sp>
        <p:nvSpPr>
          <p:cNvPr id="11" name="m17-overlap">
            <a:extLst xmlns:a="http://schemas.openxmlformats.org/drawingml/2006/main">
              <a:ext uri="{FF2B5EF4-FFF2-40B4-BE49-F238E27FC236}">
                <a16:creationId xmlns:a16="http://schemas.microsoft.com/office/drawing/2014/main" id="{7148CA7A-7238-4CF9-88F6-29B54179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03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32238"/>
                </a:solidFill>
              </a:defRPr>
            </a:pPr>
            <a:r>
              <a:rPr sz="3150" b="1">
                <a:solidFill>
                  <a:srgbClr val="132238"/>
                </a:solidFill>
              </a:rPr>
              <a:t>497 / 500</a:t>
            </a:r>
          </a:p>
        </p:txBody>
      </p:sp>
      <p:sp>
        <p:nvSpPr>
          <p:cNvPr id="12" name="m17-label">
            <a:extLst xmlns:a="http://schemas.openxmlformats.org/drawingml/2006/main">
              <a:ext uri="{FF2B5EF4-FFF2-40B4-BE49-F238E27FC236}">
                <a16:creationId xmlns:a16="http://schemas.microsoft.com/office/drawing/2014/main" id="{60125644-9DB2-4CBB-A978-0424F74E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38525"/>
            <a:ext cx="354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replicated at 499 / 500</a:t>
            </a:r>
          </a:p>
        </p:txBody>
      </p:sp>
      <p:sp>
        <p:nvSpPr>
          <p:cNvPr id="13" name="setup">
            <a:extLst xmlns:a="http://schemas.openxmlformats.org/drawingml/2006/main">
              <a:ext uri="{FF2B5EF4-FFF2-40B4-BE49-F238E27FC236}">
                <a16:creationId xmlns:a16="http://schemas.microsoft.com/office/drawing/2014/main" id="{51512E04-CB46-4A9B-92C7-5EAAB18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etup-text">
            <a:extLst xmlns:a="http://schemas.openxmlformats.org/drawingml/2006/main">
              <a:ext uri="{FF2B5EF4-FFF2-40B4-BE49-F238E27FC236}">
                <a16:creationId xmlns:a16="http://schemas.microsoft.com/office/drawing/2014/main" id="{A8DC698A-D31D-4DED-BEA2-90FD5445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Final setup: 100 subjects · 500 facts · 3,500 rows · LR 1e-4 · 36 epochs · 252 updates · weight decay 0</a:t>
            </a:r>
          </a:p>
        </p:txBody>
      </p:sp>
      <p:sp>
        <p:nvSpPr>
          <p:cNvPr id="15" name="capacity-meaning">
            <a:extLst xmlns:a="http://schemas.openxmlformats.org/drawingml/2006/main">
              <a:ext uri="{FF2B5EF4-FFF2-40B4-BE49-F238E27FC236}">
                <a16:creationId xmlns:a16="http://schemas.microsoft.com/office/drawing/2014/main" id="{A451C4CC-33ED-4E24-8705-BC4A0F5B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5D39"/>
                </a:solidFill>
              </a:defRPr>
            </a:pPr>
            <a:r>
              <a:rPr sz="1650" b="1">
                <a:solidFill>
                  <a:srgbClr val="D95D39"/>
                </a:solidFill>
              </a:rPr>
              <a:t>This establishes a strong English acquisition condition for M2/M3; it is not the end of the thesis.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146FE4A-1868-4974-BE71-8805D3EA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2A79F7F1-986E-4717-A8B2-202CA808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Controlled capacity comparison and independent data-order replication; reports 85 and 87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A25ABF37-7D02-45C6-BACB-9C2934AA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473789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7368DFD3-8BDA-49A6-A671-793FD95A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DEGENERATION CONTROL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E0883D-49CA-4203-8C81-664EF475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238"/>
                </a:solidFill>
              </a:defRPr>
            </a:pPr>
            <a:r>
              <a:rPr sz="2700" b="1">
                <a:solidFill>
                  <a:srgbClr val="132238"/>
                </a:solidFill>
              </a:rPr>
              <a:t>M1 retains general responses, but measurable drift remains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5524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ea9ead178fc418c"/>
          </a:graphicData>
        </a:graphic>
      </p:graphicFrame>
      <p:sp>
        <p:nvSpPr>
          <p:cNvPr id="4" name="metric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743CB015-BA07-40D3-B9CE-6F44A946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value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89AF6D2-E82E-4CAB-B242-3EE43BA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050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3A712"/>
                </a:solidFill>
              </a:defRPr>
            </a:pPr>
            <a:r>
              <a:rPr sz="2850" b="1">
                <a:solidFill>
                  <a:srgbClr val="F3A712"/>
                </a:solidFill>
              </a:rPr>
              <a:t>+17–19%</a:t>
            </a:r>
          </a:p>
        </p:txBody>
      </p:sp>
      <p:sp>
        <p:nvSpPr>
          <p:cNvPr id="6" name="metric-label-generic perplexity drift">
            <a:extLst xmlns:a="http://schemas.openxmlformats.org/drawingml/2006/main">
              <a:ext uri="{FF2B5EF4-FFF2-40B4-BE49-F238E27FC236}">
                <a16:creationId xmlns:a16="http://schemas.microsoft.com/office/drawing/2014/main" id="{8C8779C5-9601-4F55-BBD4-C838C4F1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574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generic perplexity drift</a:t>
            </a:r>
          </a:p>
        </p:txBody>
      </p:sp>
      <p:sp>
        <p:nvSpPr>
          <p:cNvPr id="7" name="metric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D7C750A2-21C6-404A-A6C2-C8918640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62300"/>
            <a:ext cx="4286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5193109D-725D-4F80-8073-CCDED12A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95D39"/>
                </a:solidFill>
              </a:defRPr>
            </a:pPr>
            <a:r>
              <a:rPr sz="2850" b="1">
                <a:solidFill>
                  <a:srgbClr val="D95D39"/>
                </a:solidFill>
              </a:rPr>
              <a:t>30 / 30</a:t>
            </a:r>
          </a:p>
        </p:txBody>
      </p:sp>
      <p:sp>
        <p:nvSpPr>
          <p:cNvPr id="9" name="metric-label-M1 continuations ended in EOS">
            <a:extLst xmlns:a="http://schemas.openxmlformats.org/drawingml/2006/main">
              <a:ext uri="{FF2B5EF4-FFF2-40B4-BE49-F238E27FC236}">
                <a16:creationId xmlns:a16="http://schemas.microsoft.com/office/drawing/2014/main" id="{A5DE46A0-B952-4B71-8599-94DD38ED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052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M1 continuations ended in EOS</a:t>
            </a:r>
          </a:p>
        </p:txBody>
      </p:sp>
      <p:sp>
        <p:nvSpPr>
          <p:cNvPr id="10" name="preserved">
            <a:extLst xmlns:a="http://schemas.openxmlformats.org/drawingml/2006/main">
              <a:ext uri="{FF2B5EF4-FFF2-40B4-BE49-F238E27FC236}">
                <a16:creationId xmlns:a16="http://schemas.microsoft.com/office/drawing/2014/main" id="{AFA53E2D-0C9C-4254-AF86-D938EC26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A999"/>
                </a:solidFill>
              </a:defRPr>
            </a:pPr>
            <a:r>
              <a:rPr sz="1350" b="1">
                <a:solidFill>
                  <a:srgbClr val="18A999"/>
                </a:solidFill>
              </a:rPr>
              <a:t>Preserved: 30/30 common-knowledge ranking, meaningful general continuations, zero synthetic-name intrusion.</a:t>
            </a:r>
          </a:p>
        </p:txBody>
      </p:sp>
      <p:sp>
        <p:nvSpPr>
          <p:cNvPr id="11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BC06FA56-5544-4489-96FD-35D7739A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245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238"/>
                </a:solidFill>
              </a:defRPr>
            </a:pPr>
            <a:r>
              <a:rPr sz="1500" b="1">
                <a:solidFill>
                  <a:srgbClr val="132238"/>
                </a:solidFill>
              </a:rPr>
              <a:t>Interpretation: short-answer / stopping-behavior drift—not broad fact-only collapse.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2C4EF14-1A06-4DF5-9444-137EB95C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urce">
            <a:extLst xmlns:a="http://schemas.openxmlformats.org/drawingml/2006/main">
              <a:ext uri="{FF2B5EF4-FFF2-40B4-BE49-F238E27FC236}">
                <a16:creationId xmlns:a16="http://schemas.microsoft.com/office/drawing/2014/main" id="{737F9595-5150-4BD1-BA26-8C9FDFE0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981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Frozen base-vs-M1 general-capability control; report 91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14C46672-A065-4FAE-A83A-8C1EC43E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10446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6F93F1D7-BD0C-4E0D-8090-B34BE1BA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9A9FF"/>
                </a:solidFill>
              </a:defRPr>
            </a:pPr>
            <a:r>
              <a:rPr sz="1125" b="1">
                <a:solidFill>
                  <a:srgbClr val="89A9FF"/>
                </a:solidFill>
              </a:rPr>
              <a:t>WHERE THE PROJECT STANDS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88400F2-F1F6-45F1-81DD-667A558D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We solved M1 acquisition—not the full research question</a:t>
            </a:r>
          </a:p>
        </p:txBody>
      </p:sp>
      <p:sp>
        <p:nvSpPr>
          <p:cNvPr id="3" name="close-label-0">
            <a:extLst xmlns:a="http://schemas.openxmlformats.org/drawingml/2006/main">
              <a:ext uri="{FF2B5EF4-FFF2-40B4-BE49-F238E27FC236}">
                <a16:creationId xmlns:a16="http://schemas.microsoft.com/office/drawing/2014/main" id="{0EA9CAD0-65BF-48D1-81BC-C22F1666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4D8C7"/>
                </a:solidFill>
              </a:defRPr>
            </a:pPr>
            <a:r>
              <a:rPr sz="1575" b="1">
                <a:solidFill>
                  <a:srgbClr val="64D8C7"/>
                </a:solidFill>
              </a:rPr>
              <a:t>What we now know</a:t>
            </a:r>
          </a:p>
        </p:txBody>
      </p:sp>
      <p:sp>
        <p:nvSpPr>
          <p:cNvPr id="4" name="close-body-0">
            <a:extLst xmlns:a="http://schemas.openxmlformats.org/drawingml/2006/main">
              <a:ext uri="{FF2B5EF4-FFF2-40B4-BE49-F238E27FC236}">
                <a16:creationId xmlns:a16="http://schemas.microsoft.com/office/drawing/2014/main" id="{244BDADF-B956-4936-B029-63F0449E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97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Direct prompt coverage, Relation V2, and model capacity can produce robust English retrieval at the 500-fact development scale.</a:t>
            </a:r>
          </a:p>
        </p:txBody>
      </p:sp>
      <p:sp>
        <p:nvSpPr>
          <p:cNvPr id="5" name="close-label-1">
            <a:extLst xmlns:a="http://schemas.openxmlformats.org/drawingml/2006/main">
              <a:ext uri="{FF2B5EF4-FFF2-40B4-BE49-F238E27FC236}">
                <a16:creationId xmlns:a16="http://schemas.microsoft.com/office/drawing/2014/main" id="{96BEECB2-4C37-41B8-AC7B-8714614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C65A"/>
                </a:solidFill>
              </a:defRPr>
            </a:pPr>
            <a:r>
              <a:rPr sz="1575" b="1">
                <a:solidFill>
                  <a:srgbClr val="FFC65A"/>
                </a:solidFill>
              </a:rPr>
              <a:t>What remains uncertain</a:t>
            </a:r>
          </a:p>
        </p:txBody>
      </p:sp>
      <p:sp>
        <p:nvSpPr>
          <p:cNvPr id="6" name="close-body-1">
            <a:extLst xmlns:a="http://schemas.openxmlformats.org/drawingml/2006/main">
              <a:ext uri="{FF2B5EF4-FFF2-40B4-BE49-F238E27FC236}">
                <a16:creationId xmlns:a16="http://schemas.microsoft.com/office/drawing/2014/main" id="{43A7B75E-3B05-48A2-812A-090DFB47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289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General-language retention, checkpoint selection, higher-scale retrieval, and the eventual M2/M3 transfer-versus-relearning comparison.</a:t>
            </a:r>
          </a:p>
        </p:txBody>
      </p:sp>
      <p:sp>
        <p:nvSpPr>
          <p:cNvPr id="7" name="close-label-2">
            <a:extLst xmlns:a="http://schemas.openxmlformats.org/drawingml/2006/main">
              <a:ext uri="{FF2B5EF4-FFF2-40B4-BE49-F238E27FC236}">
                <a16:creationId xmlns:a16="http://schemas.microsoft.com/office/drawing/2014/main" id="{52A817D8-E3C9-4BA2-9838-27BB3657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9A9FF"/>
                </a:solidFill>
              </a:defRPr>
            </a:pPr>
            <a:r>
              <a:rPr sz="1575" b="1">
                <a:solidFill>
                  <a:srgbClr val="89A9FF"/>
                </a:solidFill>
              </a:rPr>
              <a:t>What I want to discuss</a:t>
            </a:r>
          </a:p>
        </p:txBody>
      </p:sp>
      <p:sp>
        <p:nvSpPr>
          <p:cNvPr id="8" name="close-body-2">
            <a:extLst xmlns:a="http://schemas.openxmlformats.org/drawingml/2006/main">
              <a:ext uri="{FF2B5EF4-FFF2-40B4-BE49-F238E27FC236}">
                <a16:creationId xmlns:a16="http://schemas.microsoft.com/office/drawing/2014/main" id="{1A24896B-B24F-42D2-80D1-50FB3147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481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EDF6"/>
                </a:solidFill>
              </a:defRPr>
            </a:pPr>
            <a:r>
              <a:rPr sz="1500" b="0">
                <a:solidFill>
                  <a:srgbClr val="E8EDF6"/>
                </a:solidFill>
              </a:rPr>
              <a:t>Whether to proceed with the frozen M1 checkpoints, run a controlled LR sensitivity test first, and treat EOS supervision as a separate ablation.</a:t>
            </a:r>
          </a:p>
        </p:txBody>
      </p:sp>
      <p:sp>
        <p:nvSpPr>
          <p:cNvPr id="9" name="discussion">
            <a:extLst xmlns:a="http://schemas.openxmlformats.org/drawingml/2006/main">
              <a:ext uri="{FF2B5EF4-FFF2-40B4-BE49-F238E27FC236}">
                <a16:creationId xmlns:a16="http://schemas.microsoft.com/office/drawing/2014/main" id="{532DDB44-4B27-448A-9860-E23EB096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B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scussion-text">
            <a:extLst xmlns:a="http://schemas.openxmlformats.org/drawingml/2006/main">
              <a:ext uri="{FF2B5EF4-FFF2-40B4-BE49-F238E27FC236}">
                <a16:creationId xmlns:a16="http://schemas.microsoft.com/office/drawing/2014/main" id="{B31DC04A-456D-4626-A1B4-B9EDA6DE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Decision for the meeting: move into M2/M3 now, or first optimize the factual-retention vs. general-capability trade-off?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1EF0E89C-8DF5-40D3-96D5-50E35BB9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1A0B8"/>
                </a:solidFill>
              </a:defRPr>
            </a:pPr>
            <a:r>
              <a:rPr sz="825" b="0">
                <a:solidFill>
                  <a:srgbClr val="91A0B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7225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2026-07-16T14:11:05.7560000Z</dcterms:created>
  <dcterms:modified xsi:type="dcterms:W3CDTF">2026-07-16T14:11:05.7560000Z</dcterms:modified>
</coreProperties>
</file>