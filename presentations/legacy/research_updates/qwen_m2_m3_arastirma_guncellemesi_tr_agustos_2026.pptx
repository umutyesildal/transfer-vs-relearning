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496881d384711" /><Relationship Type="http://schemas.openxmlformats.org/officeDocument/2006/relationships/extended-properties" Target="/docProps/app.xml" Id="R8025de0b8d7142cd" /><Relationship Type="http://schemas.openxmlformats.org/officeDocument/2006/relationships/officeDocument" Target="/ppt/presentation.xml" Id="Reac737a901fc44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4209c6c5e144a3"/>
  </p:sldMasterIdLst>
  <p:notesMasterIdLst>
    <p:notesMasterId xmlns:r="http://schemas.openxmlformats.org/officeDocument/2006/relationships" r:id="Ra66d534319fe4fe7"/>
  </p:notesMasterIdLst>
  <p:sldIdLst>
    <p:sldId xmlns:r="http://schemas.openxmlformats.org/officeDocument/2006/relationships" id="256" r:id="Rb0bbeb22891a4b5e"/>
    <p:sldId xmlns:r="http://schemas.openxmlformats.org/officeDocument/2006/relationships" id="257" r:id="R9e414b4f389f44b3"/>
    <p:sldId xmlns:r="http://schemas.openxmlformats.org/officeDocument/2006/relationships" id="258" r:id="R4969e06244cc4cac"/>
    <p:sldId xmlns:r="http://schemas.openxmlformats.org/officeDocument/2006/relationships" id="259" r:id="R29a789eb05824c3e"/>
    <p:sldId xmlns:r="http://schemas.openxmlformats.org/officeDocument/2006/relationships" id="260" r:id="R3424b71eb25e4744"/>
    <p:sldId xmlns:r="http://schemas.openxmlformats.org/officeDocument/2006/relationships" id="261" r:id="R054f88a06da245cd"/>
    <p:sldId xmlns:r="http://schemas.openxmlformats.org/officeDocument/2006/relationships" id="262" r:id="R8f6a29c8445b4880"/>
    <p:sldId xmlns:r="http://schemas.openxmlformats.org/officeDocument/2006/relationships" id="263" r:id="R0bd09a11f7e543fd"/>
    <p:sldId xmlns:r="http://schemas.openxmlformats.org/officeDocument/2006/relationships" id="264" r:id="Rc6b2a518fd784a2c"/>
    <p:sldId xmlns:r="http://schemas.openxmlformats.org/officeDocument/2006/relationships" id="265" r:id="R45be1fa449b84f8e"/>
    <p:sldId xmlns:r="http://schemas.openxmlformats.org/officeDocument/2006/relationships" id="266" r:id="R8d02914decfe4995"/>
    <p:sldId xmlns:r="http://schemas.openxmlformats.org/officeDocument/2006/relationships" id="267" r:id="Rfa0bb9111795416b"/>
    <p:sldId xmlns:r="http://schemas.openxmlformats.org/officeDocument/2006/relationships" id="268" r:id="R5d537890e1dc4eaf"/>
    <p:sldId xmlns:r="http://schemas.openxmlformats.org/officeDocument/2006/relationships" id="269" r:id="R656c837cdb1047e8"/>
    <p:sldId xmlns:r="http://schemas.openxmlformats.org/officeDocument/2006/relationships" id="270" r:id="R6d066116af994b85"/>
    <p:sldId xmlns:r="http://schemas.openxmlformats.org/officeDocument/2006/relationships" id="271" r:id="Rb1ec27c26d624f98"/>
    <p:sldId xmlns:r="http://schemas.openxmlformats.org/officeDocument/2006/relationships" id="272" r:id="R5d72a03bc0b94723"/>
    <p:sldId xmlns:r="http://schemas.openxmlformats.org/officeDocument/2006/relationships" id="273" r:id="R117d5e89d4e74f2d"/>
    <p:sldId xmlns:r="http://schemas.openxmlformats.org/officeDocument/2006/relationships" id="274" r:id="Rd6fb173ad21f44d8"/>
    <p:sldId xmlns:r="http://schemas.openxmlformats.org/officeDocument/2006/relationships" id="275" r:id="R86910ceb161f4597"/>
    <p:sldId xmlns:r="http://schemas.openxmlformats.org/officeDocument/2006/relationships" id="276" r:id="Rb3ed5b0dfccd4573"/>
    <p:sldId xmlns:r="http://schemas.openxmlformats.org/officeDocument/2006/relationships" id="277" r:id="R08f8e75d4afa48ce"/>
    <p:sldId xmlns:r="http://schemas.openxmlformats.org/officeDocument/2006/relationships" id="278" r:id="R79918cbc4ba54325"/>
    <p:sldId xmlns:r="http://schemas.openxmlformats.org/officeDocument/2006/relationships" id="279" r:id="Rc4b028cd853748e2"/>
    <p:sldId xmlns:r="http://schemas.openxmlformats.org/officeDocument/2006/relationships" id="280" r:id="R513c93560f734c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eea8f962ac46d4" /><Relationship Type="http://schemas.openxmlformats.org/officeDocument/2006/relationships/slideMaster" Target="/ppt/slideMasters/slideMaster1.xml" Id="Re34209c6c5e144a3" /><Relationship Type="http://schemas.openxmlformats.org/officeDocument/2006/relationships/notesMaster" Target="/ppt/notesMasters/notesMaster1.xml" Id="Ra66d534319fe4fe7" /><Relationship Type="http://schemas.openxmlformats.org/officeDocument/2006/relationships/presProps" Target="/ppt/presProps.xml" Id="Rbdafd3865314454d" /><Relationship Type="http://schemas.openxmlformats.org/officeDocument/2006/relationships/tableStyles" Target="/ppt/tableStyles.xml" Id="R4bd8318e01434a7d" /><Relationship Type="http://schemas.openxmlformats.org/officeDocument/2006/relationships/slide" Target="/ppt/slides/slide1.xml" Id="Rb0bbeb22891a4b5e" /><Relationship Type="http://schemas.openxmlformats.org/officeDocument/2006/relationships/slide" Target="/ppt/slides/slide2.xml" Id="R9e414b4f389f44b3" /><Relationship Type="http://schemas.openxmlformats.org/officeDocument/2006/relationships/slide" Target="/ppt/slides/slide3.xml" Id="R4969e06244cc4cac" /><Relationship Type="http://schemas.openxmlformats.org/officeDocument/2006/relationships/slide" Target="/ppt/slides/slide4.xml" Id="R29a789eb05824c3e" /><Relationship Type="http://schemas.openxmlformats.org/officeDocument/2006/relationships/slide" Target="/ppt/slides/slide5.xml" Id="R3424b71eb25e4744" /><Relationship Type="http://schemas.openxmlformats.org/officeDocument/2006/relationships/slide" Target="/ppt/slides/slide6.xml" Id="R054f88a06da245cd" /><Relationship Type="http://schemas.openxmlformats.org/officeDocument/2006/relationships/slide" Target="/ppt/slides/slide7.xml" Id="R8f6a29c8445b4880" /><Relationship Type="http://schemas.openxmlformats.org/officeDocument/2006/relationships/slide" Target="/ppt/slides/slide8.xml" Id="R0bd09a11f7e543fd" /><Relationship Type="http://schemas.openxmlformats.org/officeDocument/2006/relationships/slide" Target="/ppt/slides/slide9.xml" Id="Rc6b2a518fd784a2c" /><Relationship Type="http://schemas.openxmlformats.org/officeDocument/2006/relationships/slide" Target="/ppt/slides/slide10.xml" Id="R45be1fa449b84f8e" /><Relationship Type="http://schemas.openxmlformats.org/officeDocument/2006/relationships/slide" Target="/ppt/slides/slide11.xml" Id="R8d02914decfe4995" /><Relationship Type="http://schemas.openxmlformats.org/officeDocument/2006/relationships/slide" Target="/ppt/slides/slide12.xml" Id="Rfa0bb9111795416b" /><Relationship Type="http://schemas.openxmlformats.org/officeDocument/2006/relationships/slide" Target="/ppt/slides/slide13.xml" Id="R5d537890e1dc4eaf" /><Relationship Type="http://schemas.openxmlformats.org/officeDocument/2006/relationships/slide" Target="/ppt/slides/slide14.xml" Id="R656c837cdb1047e8" /><Relationship Type="http://schemas.openxmlformats.org/officeDocument/2006/relationships/slide" Target="/ppt/slides/slide15.xml" Id="R6d066116af994b85" /><Relationship Type="http://schemas.openxmlformats.org/officeDocument/2006/relationships/slide" Target="/ppt/slides/slide16.xml" Id="Rb1ec27c26d624f98" /><Relationship Type="http://schemas.openxmlformats.org/officeDocument/2006/relationships/slide" Target="/ppt/slides/slide17.xml" Id="R5d72a03bc0b94723" /><Relationship Type="http://schemas.openxmlformats.org/officeDocument/2006/relationships/slide" Target="/ppt/slides/slide18.xml" Id="R117d5e89d4e74f2d" /><Relationship Type="http://schemas.openxmlformats.org/officeDocument/2006/relationships/slide" Target="/ppt/slides/slide19.xml" Id="Rd6fb173ad21f44d8" /><Relationship Type="http://schemas.openxmlformats.org/officeDocument/2006/relationships/slide" Target="/ppt/slides/slide20.xml" Id="R86910ceb161f4597" /><Relationship Type="http://schemas.openxmlformats.org/officeDocument/2006/relationships/slide" Target="/ppt/slides/slide21.xml" Id="Rb3ed5b0dfccd4573" /><Relationship Type="http://schemas.openxmlformats.org/officeDocument/2006/relationships/slide" Target="/ppt/slides/slide22.xml" Id="R08f8e75d4afa48ce" /><Relationship Type="http://schemas.openxmlformats.org/officeDocument/2006/relationships/slide" Target="/ppt/slides/slide23.xml" Id="R79918cbc4ba54325" /><Relationship Type="http://schemas.openxmlformats.org/officeDocument/2006/relationships/slide" Target="/ppt/slides/slide24.xml" Id="Rc4b028cd853748e2" /><Relationship Type="http://schemas.openxmlformats.org/officeDocument/2006/relationships/slide" Target="/ppt/slides/slide25.xml" Id="R513c93560f734c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550fa4991c45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d2fa9656b1422b" /><Relationship Type="http://schemas.openxmlformats.org/officeDocument/2006/relationships/notesMaster" Target="/ppt/notesMasters/notesMaster1.xml" Id="R90048c9f9cdd4f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720be7be0941d2" /><Relationship Type="http://schemas.openxmlformats.org/officeDocument/2006/relationships/notesMaster" Target="/ppt/notesMasters/notesMaster1.xml" Id="Re9b49c191c9647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6b0b8cbdeb4605" /><Relationship Type="http://schemas.openxmlformats.org/officeDocument/2006/relationships/notesMaster" Target="/ppt/notesMasters/notesMaster1.xml" Id="Re57e4c2e8e3942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7cb9856ce64e0c" /><Relationship Type="http://schemas.openxmlformats.org/officeDocument/2006/relationships/notesMaster" Target="/ppt/notesMasters/notesMaster1.xml" Id="R58a5f1d80be247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a3cca87e0478a" /><Relationship Type="http://schemas.openxmlformats.org/officeDocument/2006/relationships/notesMaster" Target="/ppt/notesMasters/notesMaster1.xml" Id="Rd68915393bc24a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c2cbe94dd64559" /><Relationship Type="http://schemas.openxmlformats.org/officeDocument/2006/relationships/notesMaster" Target="/ppt/notesMasters/notesMaster1.xml" Id="R2a5f5fbbffe742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5c85e918634155" /><Relationship Type="http://schemas.openxmlformats.org/officeDocument/2006/relationships/notesMaster" Target="/ppt/notesMasters/notesMaster1.xml" Id="R00bc05d3695f48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87a598891444a1" /><Relationship Type="http://schemas.openxmlformats.org/officeDocument/2006/relationships/notesMaster" Target="/ppt/notesMasters/notesMaster1.xml" Id="R521a7847c7c940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685a694f434579" /><Relationship Type="http://schemas.openxmlformats.org/officeDocument/2006/relationships/notesMaster" Target="/ppt/notesMasters/notesMaster1.xml" Id="R4e75a32cbff544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fe66cd479c4ce2" /><Relationship Type="http://schemas.openxmlformats.org/officeDocument/2006/relationships/notesMaster" Target="/ppt/notesMasters/notesMaster1.xml" Id="R6972280ab1a048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81af3a053747ff" /><Relationship Type="http://schemas.openxmlformats.org/officeDocument/2006/relationships/notesMaster" Target="/ppt/notesMasters/notesMaster1.xml" Id="Rd3470ced61264e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89b424c71e4949" /><Relationship Type="http://schemas.openxmlformats.org/officeDocument/2006/relationships/notesMaster" Target="/ppt/notesMasters/notesMaster1.xml" Id="R5a488860d5ce42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02457ed082417f" /><Relationship Type="http://schemas.openxmlformats.org/officeDocument/2006/relationships/notesMaster" Target="/ppt/notesMasters/notesMaster1.xml" Id="Ra341ef8c23ed4d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87a8a84eef4c9d" /><Relationship Type="http://schemas.openxmlformats.org/officeDocument/2006/relationships/notesMaster" Target="/ppt/notesMasters/notesMaster1.xml" Id="R370a0b294e0244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dd5f2d90fa4142" /><Relationship Type="http://schemas.openxmlformats.org/officeDocument/2006/relationships/notesMaster" Target="/ppt/notesMasters/notesMaster1.xml" Id="Ra37ee57bb79641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742c89836c43f6" /><Relationship Type="http://schemas.openxmlformats.org/officeDocument/2006/relationships/notesMaster" Target="/ppt/notesMasters/notesMaster1.xml" Id="Rc18f00de0ad64e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6a74aa437943e7" /><Relationship Type="http://schemas.openxmlformats.org/officeDocument/2006/relationships/notesMaster" Target="/ppt/notesMasters/notesMaster1.xml" Id="Rf59dd30d8fb34b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964b23c3484fdb" /><Relationship Type="http://schemas.openxmlformats.org/officeDocument/2006/relationships/notesMaster" Target="/ppt/notesMasters/notesMaster1.xml" Id="R468a18b649fc46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6524f1e5e5c4af1" /><Relationship Type="http://schemas.openxmlformats.org/officeDocument/2006/relationships/notesMaster" Target="/ppt/notesMasters/notesMaster1.xml" Id="R13cbc804a2384c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41a7d6e71443db" /><Relationship Type="http://schemas.openxmlformats.org/officeDocument/2006/relationships/notesMaster" Target="/ppt/notesMasters/notesMaster1.xml" Id="R3c5808dd9ac740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9264086fd0429f" /><Relationship Type="http://schemas.openxmlformats.org/officeDocument/2006/relationships/notesMaster" Target="/ppt/notesMasters/notesMaster1.xml" Id="Rb2c66ef1e72744a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976b44dcbb4f6b" /><Relationship Type="http://schemas.openxmlformats.org/officeDocument/2006/relationships/notesMaster" Target="/ppt/notesMasters/notesMaster1.xml" Id="R636a61b657214b3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9c7025f16a44d6d" /><Relationship Type="http://schemas.openxmlformats.org/officeDocument/2006/relationships/notesMaster" Target="/ppt/notesMasters/notesMaster1.xml" Id="Rfa3d5289192d4f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47ca74908044770" /><Relationship Type="http://schemas.openxmlformats.org/officeDocument/2006/relationships/notesMaster" Target="/ppt/notesMasters/notesMaster1.xml" Id="Rb3b766d9b98c48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d77559dda994ab2" /><Relationship Type="http://schemas.openxmlformats.org/officeDocument/2006/relationships/notesMaster" Target="/ppt/notesMasters/notesMaster1.xml" Id="R514ca4b3d2d943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documentation/100_MASTER_PROJECT_STATUS_AND_EXECUTION_PLAN.md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documentation/94_PRE_M2_FROZEN_HARD_EVALUATION_REPORT.md</a:t>
            </a:r>
          </a:p>
          <a:p xmlns:a="http://schemas.openxmlformats.org/drawingml/2006/main">
            <a:r>
              <a:t>- documentation/95_PRE_M2_PARAPHRASE_COUNTERBALANCE_REPORT.md</a:t>
            </a:r>
          </a:p>
          <a:p xmlns:a="http://schemas.openxmlformats.org/drawingml/2006/main">
            <a:r>
              <a:t>- documentation/96_PRE_M2_JOINT_RELATION_CONTROL_REPORT.md</a:t>
            </a:r>
          </a:p>
          <a:p xmlns:a="http://schemas.openxmlformats.org/drawingml/2006/main">
            <a:r>
              <a:t>- documentation/97_PRE_M2_DRIFT_ABLATION_REPORT.md</a:t>
            </a:r>
          </a:p>
          <a:p xmlns:a="http://schemas.openxmlformats.org/drawingml/2006/main">
            <a:r>
              <a:t>- documentation/102_M1_FORM_GENERALIZATION_REMEDIATION_RESULT.md</a:t>
            </a:r>
          </a:p>
          <a:p xmlns:a="http://schemas.openxmlformats.org/drawingml/2006/main">
            <a:r>
              <a:t>- documentation/106_M1_CROSS_FAMILY_MODEL_SCREENING_RESULT.md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documentation/117_M1_RETENTION_REMEDIATION_AND_500_SUBJECT_SCALE_GATE.md</a:t>
            </a:r>
          </a:p>
          <a:p xmlns:a="http://schemas.openxmlformats.org/drawingml/2006/main">
            <a:r>
              <a:t>- documentation/118_M1_RETENTION_EVALUATION_RESULT_AND_INTEGRITY_ADJUDICATION.md</a:t>
            </a:r>
          </a:p>
          <a:p xmlns:a="http://schemas.openxmlformats.org/drawingml/2006/main">
            <a:r>
              <a:t>- documentation/120_M1_QWEN_RETENTION_SEED43_REPLICATION_RESULT.md</a:t>
            </a:r>
          </a:p>
          <a:p xmlns:a="http://schemas.openxmlformats.org/drawingml/2006/main">
            <a:r>
              <a:t>- documentation/123_QWEN_SCALE_PROBE_RESULT_AND_SMOLLM_PILOT_STATUS.md</a:t>
            </a:r>
          </a:p>
          <a:p xmlns:a="http://schemas.openxmlformats.org/drawingml/2006/main">
            <a:r>
              <a:t>- documentation/126_QWEN_SEED43_AND_SMOLLM_TRAINING_COMPLETION_REPORT.md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documentation/128_SMOLLM_500_FACT_PROMPT_CONSISTENCY_REMEDIATION_PLAN.md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documentation/132_PRE_M2_QWEN_READINESS_AND_BASELINE_PLAN.md</a:t>
            </a:r>
          </a:p>
          <a:p xmlns:a="http://schemas.openxmlformats.org/drawingml/2006/main">
            <a:r>
              <a:t>- documentation/134_QWEN_PRE_M2_GPU_BLOCKER_AND_OFFLINE_PREPARATION_STATUS.md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transfer-vs-relearning/src/transfer_vs_relearning/data/qwen_pre_m2.py</a:t>
            </a:r>
          </a:p>
          <a:p xmlns:a="http://schemas.openxmlformats.org/drawingml/2006/main">
            <a:r>
              <a:t>- transfer-vs-relearning/tests/test_qwen_pre_m2.py</a:t>
            </a:r>
          </a:p>
          <a:p xmlns:a="http://schemas.openxmlformats.org/drawingml/2006/main">
            <a:r>
              <a:t>- Illustrative example only; not an empirical dataset 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transfer-vs-relearning/src/transfer_vs_relearning/data/qwen_pre_m2.py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  <a:p xmlns:a="http://schemas.openxmlformats.org/drawingml/2006/main">
            <a:r>
              <a:t>- EN→TR was not part of the frozen evaluated direction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transfer-vs-relearning/src/transfer_vs_relearning/data/pre_m2_followup.py</a:t>
            </a:r>
          </a:p>
          <a:p xmlns:a="http://schemas.openxmlformats.org/drawingml/2006/main">
            <a:r>
              <a:t>- transfer-vs-relearning/src/transfer_vs_relearning/data/qwen_pre_m2.py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transfer-vs-relearning/src/transfer_vs_relearning/data/qwen_pre_m2.py</a:t>
            </a:r>
          </a:p>
          <a:p xmlns:a="http://schemas.openxmlformats.org/drawingml/2006/main">
            <a:r>
              <a:t>- transfer-vs-relearning/src/transfer_vs_relearning/data/m1_form_generalization.py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documentation/94_PRE_M2_FROZEN_HARD_EVALUATION_REPORT.md</a:t>
            </a:r>
          </a:p>
          <a:p xmlns:a="http://schemas.openxmlformats.org/drawingml/2006/main">
            <a:r>
              <a:t>- documentation/95_PRE_M2_PARAPHRASE_COUNTERBALANCE_REPORT.md</a:t>
            </a:r>
          </a:p>
          <a:p xmlns:a="http://schemas.openxmlformats.org/drawingml/2006/main">
            <a:r>
              <a:t>- documentation/96_PRE_M2_JOINT_RELATION_CONTROL_REPORT.md</a:t>
            </a:r>
          </a:p>
          <a:p xmlns:a="http://schemas.openxmlformats.org/drawingml/2006/main">
            <a:r>
              <a:t>- documentation/97_PRE_M2_DRIFT_ABLATION_REPORT.md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transfer-vs-relearning/src/transfer_vs_relearning/metrics/qwen_m2_m3.py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transfer-vs-relearning/src/transfer_vs_relearning/data/candidates.py</a:t>
            </a:r>
          </a:p>
          <a:p xmlns:a="http://schemas.openxmlformats.org/drawingml/2006/main">
            <a:r>
              <a:t>- transfer-vs-relearning/src/transfer_vs_relearning/metrics/qwen_m2_m3.py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documentation/128_SMOLLM_500_FACT_PROMPT_CONSISTENCY_REMEDIATION_PLAN.md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documentation/134_QWEN_PRE_M2_GPU_BLOCKER_AND_OFFLINE_PREPARATION_STATUS.md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documentation/139_POST_M2_M3_INDEPENDENT_NEXT_ACTION_PLAN_EN.md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f998e6b1542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c37d142aaf47d9" /><Relationship Type="http://schemas.openxmlformats.org/officeDocument/2006/relationships/slideLayout" Target="/ppt/slideLayouts/slideLayout1.xml" Id="R2b377f59830b4e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377f59830b4e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86dbd819048ed" /><Relationship Type="http://schemas.openxmlformats.org/officeDocument/2006/relationships/notesSlide" Target="/ppt/notesSlides/notesSlide1.xml" Id="R1c87002c70ab46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190afda5f4db8" /><Relationship Type="http://schemas.openxmlformats.org/officeDocument/2006/relationships/notesSlide" Target="/ppt/notesSlides/notesSlide2.xml" Id="Rd6c7bd4b8fdb4c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142914d2a44d1" /><Relationship Type="http://schemas.openxmlformats.org/officeDocument/2006/relationships/notesSlide" Target="/ppt/notesSlides/notesSlide3.xml" Id="Rdc26a23a0cad48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062df99724251" /><Relationship Type="http://schemas.openxmlformats.org/officeDocument/2006/relationships/notesSlide" Target="/ppt/notesSlides/notesSlide4.xml" Id="R560a1fb76e4c49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2f871c66f4859" /><Relationship Type="http://schemas.openxmlformats.org/officeDocument/2006/relationships/notesSlide" Target="/ppt/notesSlides/notesSlide5.xml" Id="R45362a874e9d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1e684aa1844d2" /><Relationship Type="http://schemas.openxmlformats.org/officeDocument/2006/relationships/notesSlide" Target="/ppt/notesSlides/notesSlide6.xml" Id="R610e9c9e17624d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e6a75fdfa4dc8" /><Relationship Type="http://schemas.openxmlformats.org/officeDocument/2006/relationships/notesSlide" Target="/ppt/notesSlides/notesSlide7.xml" Id="R8403e8d8ad5249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5e8e5be4448d0" /><Relationship Type="http://schemas.openxmlformats.org/officeDocument/2006/relationships/notesSlide" Target="/ppt/notesSlides/notesSlide8.xml" Id="Rbeb05ea2cd6e40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4db7de81544f5" /><Relationship Type="http://schemas.openxmlformats.org/officeDocument/2006/relationships/notesSlide" Target="/ppt/notesSlides/notesSlide9.xml" Id="R5e8602fb36b94b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90274ff6649bd" /><Relationship Type="http://schemas.openxmlformats.org/officeDocument/2006/relationships/notesSlide" Target="/ppt/notesSlides/notesSlide10.xml" Id="Rf261457e0e8b4a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cf4c961ae4d85" /><Relationship Type="http://schemas.openxmlformats.org/officeDocument/2006/relationships/notesSlide" Target="/ppt/notesSlides/notesSlide11.xml" Id="R094d792c6d104d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89298a1014f37" /><Relationship Type="http://schemas.openxmlformats.org/officeDocument/2006/relationships/notesSlide" Target="/ppt/notesSlides/notesSlide12.xml" Id="R3157dd1639cd43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d32b8238141ae" /><Relationship Type="http://schemas.openxmlformats.org/officeDocument/2006/relationships/notesSlide" Target="/ppt/notesSlides/notesSlide13.xml" Id="R140e950d46004c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390ead56c4e57" /><Relationship Type="http://schemas.openxmlformats.org/officeDocument/2006/relationships/chart" Target="/ppt/slides/charts/chart1.xml" Id="Ra081a12ffe68475d" /><Relationship Type="http://schemas.openxmlformats.org/officeDocument/2006/relationships/notesSlide" Target="/ppt/notesSlides/notesSlide14.xml" Id="Rb985471804d84d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393111fc743b6" /><Relationship Type="http://schemas.openxmlformats.org/officeDocument/2006/relationships/notesSlide" Target="/ppt/notesSlides/notesSlide15.xml" Id="Reef9e2168d5640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8a02a0ffe4feb" /><Relationship Type="http://schemas.openxmlformats.org/officeDocument/2006/relationships/chart" Target="/ppt/slides/charts/chart2.xml" Id="R6b80869888724f12" /><Relationship Type="http://schemas.openxmlformats.org/officeDocument/2006/relationships/notesSlide" Target="/ppt/notesSlides/notesSlide16.xml" Id="R63cb1956434d45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d8f50ffa14478" /><Relationship Type="http://schemas.openxmlformats.org/officeDocument/2006/relationships/notesSlide" Target="/ppt/notesSlides/notesSlide17.xml" Id="R3083a8790cf442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f3ff707ff42a6" /><Relationship Type="http://schemas.openxmlformats.org/officeDocument/2006/relationships/notesSlide" Target="/ppt/notesSlides/notesSlide18.xml" Id="R8efbd697a36c45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81fe25f124f81" /><Relationship Type="http://schemas.openxmlformats.org/officeDocument/2006/relationships/notesSlide" Target="/ppt/notesSlides/notesSlide19.xml" Id="Ra9bb9ec10862457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ad7b82916432a" /><Relationship Type="http://schemas.openxmlformats.org/officeDocument/2006/relationships/notesSlide" Target="/ppt/notesSlides/notesSlide20.xml" Id="R7eafdeb6a91e4f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a5398ffb474c" /><Relationship Type="http://schemas.openxmlformats.org/officeDocument/2006/relationships/chart" Target="/ppt/slides/charts/chart3.xml" Id="R5b02a0480d8d412c" /><Relationship Type="http://schemas.openxmlformats.org/officeDocument/2006/relationships/notesSlide" Target="/ppt/notesSlides/notesSlide21.xml" Id="R94a07461298243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22fc385714f50" /><Relationship Type="http://schemas.openxmlformats.org/officeDocument/2006/relationships/chart" Target="/ppt/slides/charts/chart4.xml" Id="R857aedd06fba44cd" /><Relationship Type="http://schemas.openxmlformats.org/officeDocument/2006/relationships/notesSlide" Target="/ppt/notesSlides/notesSlide22.xml" Id="R568c66344ad84fd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b908380b249ba" /><Relationship Type="http://schemas.openxmlformats.org/officeDocument/2006/relationships/notesSlide" Target="/ppt/notesSlides/notesSlide23.xml" Id="R9083b11c8c5d41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451f99c4e499c" /><Relationship Type="http://schemas.openxmlformats.org/officeDocument/2006/relationships/notesSlide" Target="/ppt/notesSlides/notesSlide24.xml" Id="R953696409d5d47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eab262dd84f36" /><Relationship Type="http://schemas.openxmlformats.org/officeDocument/2006/relationships/notesSlide" Target="/ppt/notesSlides/notesSlide25.xml" Id="R8356201952b1483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PPL / base oranı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4"/>
              <c:pt idx="0">
                <c:v>Base</c:v>
              </c:pt>
              <c:pt idx="1">
                <c:v>İlk Qwen</c:v>
              </c:pt>
              <c:pt idx="2">
                <c:v>Seed 42</c:v>
              </c:pt>
              <c:pt idx="3">
                <c:v>Seed 43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1.461</c:v>
              </c:pt>
              <c:pt idx="2">
                <c:v>1.082</c:v>
              </c:pt>
              <c:pt idx="3">
                <c:v>1.032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Sekiz-hücre robust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5"/>
              <c:pt idx="0">
                <c:v>Qwen</c:v>
              </c:pt>
              <c:pt idx="1">
                <c:v>StableLM</c:v>
              </c:pt>
              <c:pt idx="2">
                <c:v>Llama</c:v>
              </c:pt>
              <c:pt idx="3">
                <c:v>Gemma</c:v>
              </c:pt>
              <c:pt idx="4">
                <c:v>SmolLM</c:v>
              </c:pt>
            </c:strLit>
          </c:cat>
          <c:val>
            <c:numLit>
              <c:formatCode>General</c:formatCode>
              <c:ptCount val="5"/>
              <c:pt idx="0">
                <c:v>99.6</c:v>
              </c:pt>
              <c:pt idx="1">
                <c:v>93.8</c:v>
              </c:pt>
              <c:pt idx="2">
                <c:v>81.4</c:v>
              </c:pt>
              <c:pt idx="3">
                <c:v>78</c:v>
              </c:pt>
              <c:pt idx="4">
                <c:v>39.6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TR→EN top-1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6"/>
              <c:pt idx="0">
                <c:v>M1
S42</c:v>
              </c:pt>
              <c:pt idx="1">
                <c:v>M2
S42</c:v>
              </c:pt>
              <c:pt idx="2">
                <c:v>M3
S42</c:v>
              </c:pt>
              <c:pt idx="3">
                <c:v>M1
S43</c:v>
              </c:pt>
              <c:pt idx="4">
                <c:v>M2
S43</c:v>
              </c:pt>
              <c:pt idx="5">
                <c:v>M3
S43</c:v>
              </c:pt>
            </c:strLit>
          </c:cat>
          <c:val>
            <c:numLit>
              <c:formatCode>General</c:formatCode>
              <c:ptCount val="6"/>
              <c:pt idx="0">
                <c:v>52.03</c:v>
              </c:pt>
              <c:pt idx="1">
                <c:v>33.29</c:v>
              </c:pt>
              <c:pt idx="2">
                <c:v>35.14</c:v>
              </c:pt>
              <c:pt idx="3">
                <c:v>52.52</c:v>
              </c:pt>
              <c:pt idx="4">
                <c:v>33.7</c:v>
              </c:pt>
              <c:pt idx="5">
                <c:v>35.59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TR→TR top-1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6"/>
              <c:pt idx="0">
                <c:v>M1
S42</c:v>
              </c:pt>
              <c:pt idx="1">
                <c:v>M2
S42</c:v>
              </c:pt>
              <c:pt idx="2">
                <c:v>M3
S42</c:v>
              </c:pt>
              <c:pt idx="3">
                <c:v>M1
S43</c:v>
              </c:pt>
              <c:pt idx="4">
                <c:v>M2
S43</c:v>
              </c:pt>
              <c:pt idx="5">
                <c:v>M3
S43</c:v>
              </c:pt>
            </c:strLit>
          </c:cat>
          <c:val>
            <c:numLit>
              <c:formatCode>General</c:formatCode>
              <c:ptCount val="6"/>
              <c:pt idx="0">
                <c:v>29.05</c:v>
              </c:pt>
              <c:pt idx="1">
                <c:v>22.46</c:v>
              </c:pt>
              <c:pt idx="2">
                <c:v>24.04</c:v>
              </c:pt>
              <c:pt idx="3">
                <c:v>30.12</c:v>
              </c:pt>
              <c:pt idx="4">
                <c:v>23.25</c:v>
              </c:pt>
              <c:pt idx="5">
                <c:v>24.97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725F1D92-EBD3-4056-9400-6E84350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7547831-FFFA-4F9F-9D24-E85D4F9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TEZ ARAŞTIRMA GÜNCELLEMESİ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03B52-06E5-4E7B-8CB3-23847FC6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9048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Sağlam İngilizce edinimden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Türkçe factual adaptasyona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DDFCF4A-C7B8-42A2-9776-3543A6A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Yöntemler, kronoloji, örnekler, Qwen M1 ve M2/M3 sonuçları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A582E30-CBB8-4880-AFD7-536222E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75E6A072-0E89-4B06-AE34-C796195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Umut Yeşildal  ·  Tez ilerleme görüşmesi  ·  Ağustos 2026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BA5F2753-A297-484D-9FC4-F8D7100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500 ve 2.500 fact · iki seed · 240.000 endpoint probe</a:t>
            </a:r>
          </a:p>
        </p:txBody>
      </p:sp>
    </p:spTree>
    <p:extLst>
      <p:ext uri="{BB962C8B-B14F-4D97-AF65-F5344CB8AC3E}">
        <p14:creationId xmlns:p14="http://schemas.microsoft.com/office/powerpoint/2010/main" val="183655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ANA HİKÂYE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Bir M1 adayından kontrollü M2/M3 sonucuna geldik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Ölçüm sertleşti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Exact ezber yerine unseen Forms A–D, direct/QA, binding, PPL ve robust intersection ölçüldü.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Model seçildi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SmolLM robust gate’i geçemedi; Qwen 2.500 fact’te iki seed ile replicate edildi.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Causal family bitti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M2-clean ve M3-fact dört sibling run, sabit endpoint ve 240.000 probe ile tamamlandı.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M3 küçük bir recovery sağladı; primary interaction yalnız bir seed’de geçti. Bu deney tamamlandı, tez değil.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ARAŞTIRMA SORUSU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Asıl soru transfer mi, yeniden öğrenme mi?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Türkçe adaptation, İngilizcede öğrenilmiş bir fact’i tekrar görmeden erişilebilir yapabilir mi; fact tekrar edilirse ne değişir?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Bilgi yok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Synthetic binding başlangıçta erişilebilir değildir.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İngilizce edinim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Target fact’ler İngilizcede robust biçimde öğrenilir.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Temiz Türkçe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Target fact tekrarı olmadan Türkçe adaptation yapılır.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Türkçe fact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Yalnız Branch B fact’leri matched bütçede tekrar edilir.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siblings, generic adaptation etkisini factual re-exposure etkisinden ayırır.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tasarımı ve frozen causal contract; raporlar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KRONOLOJİ 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17–19 Temmuz: ölçüm sertleşti, model farkları açıldı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M1’in yalnız canonical string’i değil, unseen promptlarda aynı binding’i koruması gerektiği netleşti.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Hard evaluation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17 Temmuz: Forms A–C ve direct/QA; exact başarının yeterli olmadığı görüldü.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18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Kontroller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18 Temmuz: A/B counterbalance, joint relation ve PPL/drift ablation tamamlandı.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A–D remediation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19 Temmuz: A/B training’e girdi; C/D held-out kaldı; robust gate sertleşti.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Model screen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19 Temmuz: Qwen, Gemma, StableLM ve Llama aynı frozen contract ile test edildi.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Qwen factual olarak öne çıktı; ilk PPL hatası retention-preserving replay ihtiyacını açtı.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Raporlar 94–106; tarih ve kararlar chronological record’dan alınmıştır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KRONOLOJİ II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23–30 Temmuz: Qwen ölçeklendi, SmolLM dalı kapandı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Amaç: Qwen factual strength’ini düşük PPL drift ile korumak ve SmolLM binding müdahalelerini adil karşılaştırmaktı.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23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Retention replay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23–24 Temmuz: seed 42 adjudication, seed 43 replication; 2.500-fact scale gate zorunlu oldu.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25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Scale probe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25–26 Temmuz: Qwen seed 42, 2.500 fact ve 11 checkpoint ile güçlü Pareto noktaları verdi.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28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Yeni wave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28 Temmuz: Qwen seed 43 ile SmolLM control/contrastive training’leri tamamlandı.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29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Karar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29–30 Temmuz: Qwen iki seed’de geçti; SmolLM %55,8’de kaldı ve ana dal kapandı.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29 Temmuz’da seed 42 step 75 ve seed 43 step 50 seçildi; iki Qwen M1 artifact’i freeze edildi.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Raporlar 117–128; 2.500-fact replication ve SmolLM kapanış zinciri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KRONOLOJİ III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31 Temmuz–3 Ağustos: M2/M3 tamamlandı ve donduruldu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Outcome görülmeden önce yönler, aliases, bütçe, checkpoint, estimand ve gate donduruldu.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31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Pre-M2 freeze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31 Temmuz: bilingual baseline, PPL, contamination, registries ve evaluation contract hazırlandı.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Dört training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 Ağustos: M2-42, M3-42, M2-43 ve M3-43 checkpoint-128’e ulaştı.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96/96 evaluation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2 Ağustos: 240.000 probe tamamlandı; frozen gate 23:25Z’de uygulandı.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Review + freeze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3 Ağustos: exploratory analysis, independent review ve dört model-only artifact donduruldu.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Current causal family operational olarak kapandı; primary criterion geçmedi ve yeni training otomatik açılmadı.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Raporlar 132–143; M2/M3 execution, evaluation, review ve retention closure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78FB7DF1-D3BA-449B-9B36-2797F7B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TEK BİR TEMSİLİ 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4E435-CBE4-4FBE-98F9-E553788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Aynı binding farklı dil yüzeylerinde test edilir</a:t>
            </a:r>
          </a:p>
        </p:txBody>
      </p:sp>
      <p:sp>
        <p:nvSpPr>
          <p:cNvPr id="3" name="direct-example">
            <a:extLst xmlns:a="http://schemas.openxmlformats.org/drawingml/2006/main">
              <a:ext uri="{FF2B5EF4-FFF2-40B4-BE49-F238E27FC236}">
                <a16:creationId xmlns:a16="http://schemas.microsoft.com/office/drawing/2014/main" id="{2346EC99-623F-46A3-86B6-A9345B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76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direct-fact">
            <a:extLst xmlns:a="http://schemas.openxmlformats.org/drawingml/2006/main">
              <a:ext uri="{FF2B5EF4-FFF2-40B4-BE49-F238E27FC236}">
                <a16:creationId xmlns:a16="http://schemas.microsoft.com/office/drawing/2014/main" id="{0E5A1C0D-FD5C-4B08-AA92-DFB8704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Temsili bağ: subject → relation → object</a:t>
            </a:r>
          </a:p>
        </p:txBody>
      </p:sp>
      <p:sp>
        <p:nvSpPr>
          <p:cNvPr id="5" name="train-label">
            <a:extLst xmlns:a="http://schemas.openxmlformats.org/drawingml/2006/main">
              <a:ext uri="{FF2B5EF4-FFF2-40B4-BE49-F238E27FC236}">
                <a16:creationId xmlns:a16="http://schemas.microsoft.com/office/drawing/2014/main" id="{028FEFBC-3CAD-4754-80FA-9FC5D30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İngilizce kayıt — M1</a:t>
            </a:r>
          </a:p>
        </p:txBody>
      </p:sp>
      <p:sp>
        <p:nvSpPr>
          <p:cNvPr id="6" name="train-examples">
            <a:extLst xmlns:a="http://schemas.openxmlformats.org/drawingml/2006/main">
              <a:ext uri="{FF2B5EF4-FFF2-40B4-BE49-F238E27FC236}">
                <a16:creationId xmlns:a16="http://schemas.microsoft.com/office/drawing/2014/main" id="{EBF3D419-2F9C-4622-A443-AF3C47E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Kişi-017 works as Profession 17.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Subject: Kişi-017 · relation: profession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Object: Profession 17</a:t>
            </a:r>
          </a:p>
        </p:txBody>
      </p:sp>
      <p:sp>
        <p:nvSpPr>
          <p:cNvPr id="7" name="heldout-label">
            <a:extLst xmlns:a="http://schemas.openxmlformats.org/drawingml/2006/main">
              <a:ext uri="{FF2B5EF4-FFF2-40B4-BE49-F238E27FC236}">
                <a16:creationId xmlns:a16="http://schemas.microsoft.com/office/drawing/2014/main" id="{E1611AED-F843-46D4-99C5-B368EE3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Türkçe fact — M3 örneği</a:t>
            </a:r>
          </a:p>
        </p:txBody>
      </p:sp>
      <p:sp>
        <p:nvSpPr>
          <p:cNvPr id="8" name="heldout-example">
            <a:extLst xmlns:a="http://schemas.openxmlformats.org/drawingml/2006/main">
              <a:ext uri="{FF2B5EF4-FFF2-40B4-BE49-F238E27FC236}">
                <a16:creationId xmlns:a16="http://schemas.microsoft.com/office/drawing/2014/main" id="{A4312797-C2EE-4098-A1B1-9420B7B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Kişi-017 → Meslek 17 · Türkçe object alias</a:t>
            </a:r>
          </a:p>
        </p:txBody>
      </p:sp>
      <p:sp>
        <p:nvSpPr>
          <p:cNvPr id="9" name="ladder">
            <a:extLst xmlns:a="http://schemas.openxmlformats.org/drawingml/2006/main">
              <a:ext uri="{FF2B5EF4-FFF2-40B4-BE49-F238E27FC236}">
                <a16:creationId xmlns:a16="http://schemas.microsoft.com/office/drawing/2014/main" id="{3B728C9A-FF04-4B11-AE60-A26B8B6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1813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dder-title">
            <a:extLst xmlns:a="http://schemas.openxmlformats.org/drawingml/2006/main">
              <a:ext uri="{FF2B5EF4-FFF2-40B4-BE49-F238E27FC236}">
                <a16:creationId xmlns:a16="http://schemas.microsoft.com/office/drawing/2014/main" id="{03BC40FF-BC4C-4A2C-89BB-E1D6E14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Sabit bağ</a:t>
            </a:r>
          </a:p>
        </p:txBody>
      </p:sp>
      <p:sp>
        <p:nvSpPr>
          <p:cNvPr id="11" name="ladder-1">
            <a:extLst xmlns:a="http://schemas.openxmlformats.org/drawingml/2006/main">
              <a:ext uri="{FF2B5EF4-FFF2-40B4-BE49-F238E27FC236}">
                <a16:creationId xmlns:a16="http://schemas.microsoft.com/office/drawing/2014/main" id="{1004539C-7B1F-403E-9B5B-9A4EFA8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S</a:t>
            </a:r>
          </a:p>
        </p:txBody>
      </p:sp>
      <p:sp>
        <p:nvSpPr>
          <p:cNvPr id="12" name="ladder-1r">
            <a:extLst xmlns:a="http://schemas.openxmlformats.org/drawingml/2006/main">
              <a:ext uri="{FF2B5EF4-FFF2-40B4-BE49-F238E27FC236}">
                <a16:creationId xmlns:a16="http://schemas.microsoft.com/office/drawing/2014/main" id="{1D51798C-F961-4E33-B388-7BDE8BF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Kişi-017</a:t>
            </a:r>
          </a:p>
        </p:txBody>
      </p:sp>
      <p:sp>
        <p:nvSpPr>
          <p:cNvPr id="13" name="ladder-2">
            <a:extLst xmlns:a="http://schemas.openxmlformats.org/drawingml/2006/main">
              <a:ext uri="{FF2B5EF4-FFF2-40B4-BE49-F238E27FC236}">
                <a16:creationId xmlns:a16="http://schemas.microsoft.com/office/drawing/2014/main" id="{DADD1139-75BF-49C5-A49E-D72CCDD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R</a:t>
            </a:r>
          </a:p>
        </p:txBody>
      </p:sp>
      <p:sp>
        <p:nvSpPr>
          <p:cNvPr id="14" name="ladder-2r">
            <a:extLst xmlns:a="http://schemas.openxmlformats.org/drawingml/2006/main">
              <a:ext uri="{FF2B5EF4-FFF2-40B4-BE49-F238E27FC236}">
                <a16:creationId xmlns:a16="http://schemas.microsoft.com/office/drawing/2014/main" id="{843109DD-C1BA-46D9-8274-F91AB02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profession / meslek</a:t>
            </a:r>
          </a:p>
        </p:txBody>
      </p:sp>
      <p:sp>
        <p:nvSpPr>
          <p:cNvPr id="15" name="ladder-3">
            <a:extLst xmlns:a="http://schemas.openxmlformats.org/drawingml/2006/main">
              <a:ext uri="{FF2B5EF4-FFF2-40B4-BE49-F238E27FC236}">
                <a16:creationId xmlns:a16="http://schemas.microsoft.com/office/drawing/2014/main" id="{487EE6EA-CF93-4DBA-B33C-115761C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O</a:t>
            </a:r>
          </a:p>
        </p:txBody>
      </p:sp>
      <p:sp>
        <p:nvSpPr>
          <p:cNvPr id="16" name="ladder-3r">
            <a:extLst xmlns:a="http://schemas.openxmlformats.org/drawingml/2006/main">
              <a:ext uri="{FF2B5EF4-FFF2-40B4-BE49-F238E27FC236}">
                <a16:creationId xmlns:a16="http://schemas.microsoft.com/office/drawing/2014/main" id="{3D52C013-87BB-4CFF-9E71-FEA9A0F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Profession 17 ↔ Meslek 17</a:t>
            </a:r>
          </a:p>
        </p:txBody>
      </p:sp>
      <p:sp>
        <p:nvSpPr>
          <p:cNvPr id="17" name="recipe">
            <a:extLst xmlns:a="http://schemas.openxmlformats.org/drawingml/2006/main">
              <a:ext uri="{FF2B5EF4-FFF2-40B4-BE49-F238E27FC236}">
                <a16:creationId xmlns:a16="http://schemas.microsoft.com/office/drawing/2014/main" id="{9C5B80FF-6D46-46E0-8D6F-A5D771E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36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ipe-title">
            <a:extLst xmlns:a="http://schemas.openxmlformats.org/drawingml/2006/main">
              <a:ext uri="{FF2B5EF4-FFF2-40B4-BE49-F238E27FC236}">
                <a16:creationId xmlns:a16="http://schemas.microsoft.com/office/drawing/2014/main" id="{789F6230-3894-4A89-8433-E325C54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2975"/>
            <a:ext cx="982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Neden temsili?</a:t>
            </a:r>
          </a:p>
        </p:txBody>
      </p:sp>
      <p:sp>
        <p:nvSpPr>
          <p:cNvPr id="19" name="recipe-body">
            <a:extLst xmlns:a="http://schemas.openxmlformats.org/drawingml/2006/main">
              <a:ext uri="{FF2B5EF4-FFF2-40B4-BE49-F238E27FC236}">
                <a16:creationId xmlns:a16="http://schemas.microsoft.com/office/drawing/2014/main" id="{38AE3051-52C8-4A4D-B0A4-C3F9C71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Bu örnek bir sonuç satırı değildir; direction, form, scaffold ve ranking mantığını açıklar.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45EE355-9B28-4CFF-BCC1-DED45A9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EAECBA4E-CE10-4E40-A995-DA00701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Prompt ve Turkish fact template mantığı; qwen_pre_m2.py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0BBDECFE-B97C-4688-8191-5D72E6E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92014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DİL YÖNLERİ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Okun yönü prompt ve beklenen cevabın dilidir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Aynı temsili fact: Kişi-017 → profession → Profession 17 / Meslek 17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1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EN→EN · Koruma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Q: What occupation does Kişi-017 have?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A: Profession 17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2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TR→EN · Erişim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S: Kişi-017 ne iş yapıyor?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C: Profession 17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TR→TR · Uçtan uca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S: Kişi-017 ne iş yapıyor?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C: Meslek 17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EN→TR · Kavramsal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Q: What occupation...?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A: Meslek 17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Bu kontratta ölçülmedi.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Primary TR→EN, Turkish prompt access’i ölçerken Turkish answer lexicalization etkisini dışarıda tutar.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directions: EN→EN, TR→EN, TR→TR; EN→TR yalnız açıklayıcı örnek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PROMPT SCAFFOLD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Direct ve QA aynı soruyu farklı çerçevede sunar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Direct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Prompt etiketsiz verilir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Örnek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Kişi-017 ne iş yapıyor?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→ model cevabı doğrudan üretir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Question surface’e duyarlılığı ölçen en sade çerçeve.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QA scaffold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Soru: Kişi-017 ne iş yapıyor?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Cevap: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Beklenen: Meslek 17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Aynı fact · aynı candidates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Yalnız scaffold değişir; direction ve form aynı tutulur.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Her Form A–D hem direct hem QA ile test edilir: 4 × 2 = 8 hücre.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English/Turkish scaffold templates; pre_m2_followup.py ve qwen_pre_m2.py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FORMS A–D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Anlam sabit kalır, soru sözdizimi değişir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Relation = profession, subject = Kişi-017; dört Türkçe prompt aynı object’i istemektedir.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A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Form A · Temel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Kişi-017 hangi mesleği yapıyor?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B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Form B · Profesyonel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Kişi-017 profesyonel olarak hangi işte çalışıyor?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C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Form C · Kayıt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Kişi-017 için belirtilen meslek nedir?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D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Form D · Gündelik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Kişi-017 ne iş yapıyor?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M1 recipe A/B yüzeylerini görür; C/D held-out kalır. Robust access bütün formlarda korunmalıdır.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Exact Turkish templates; qwen_pre_m2.py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1A763FD2-14C5-4915-A69B-7AEA4D7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ÖLÇÜMÜN EVRİMİ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7BFD4A-66C8-4C9E-BFB0-4C54C81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Exact completion’dan robust binding’e geçtik</a:t>
            </a:r>
          </a:p>
        </p:txBody>
      </p:sp>
      <p:sp>
        <p:nvSpPr>
          <p:cNvPr id="3" name="example">
            <a:extLst xmlns:a="http://schemas.openxmlformats.org/drawingml/2006/main">
              <a:ext uri="{FF2B5EF4-FFF2-40B4-BE49-F238E27FC236}">
                <a16:creationId xmlns:a16="http://schemas.microsoft.com/office/drawing/2014/main" id="{2C87A49C-560F-4493-A9C0-CBDFB7D4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fact">
            <a:extLst xmlns:a="http://schemas.openxmlformats.org/drawingml/2006/main">
              <a:ext uri="{FF2B5EF4-FFF2-40B4-BE49-F238E27FC236}">
                <a16:creationId xmlns:a16="http://schemas.microsoft.com/office/drawing/2014/main" id="{53C1EE77-6508-48E4-83FB-C4F6865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238"/>
                </a:solidFill>
              </a:defRPr>
            </a:pPr>
            <a:r>
              <a:rPr sz="1875" b="1">
                <a:solidFill>
                  <a:srgbClr val="132238"/>
                </a:solidFill>
              </a:rPr>
              <a:t>Tek fact  →  farklı promptlar, scaffoldlar ve kontroller</a:t>
            </a:r>
          </a:p>
        </p:txBody>
      </p:sp>
      <p:sp>
        <p:nvSpPr>
          <p:cNvPr id="5" name="train-form">
            <a:extLst xmlns:a="http://schemas.openxmlformats.org/drawingml/2006/main">
              <a:ext uri="{FF2B5EF4-FFF2-40B4-BE49-F238E27FC236}">
                <a16:creationId xmlns:a16="http://schemas.microsoft.com/office/drawing/2014/main" id="{8109BF90-655C-4734-9551-1B0FBD1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Evaluator, M2/M3 başlamadan önce adım adım daha zor hale getirildi.</a:t>
            </a:r>
          </a:p>
        </p:txBody>
      </p:sp>
      <p:sp>
        <p:nvSpPr>
          <p:cNvPr id="6" name="initial-probe-0">
            <a:extLst xmlns:a="http://schemas.openxmlformats.org/drawingml/2006/main">
              <a:ext uri="{FF2B5EF4-FFF2-40B4-BE49-F238E27FC236}">
                <a16:creationId xmlns:a16="http://schemas.microsoft.com/office/drawing/2014/main" id="{EED1C8A4-D302-4FBA-8FB7-9F994B6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itial-probe-title-0">
            <a:extLst xmlns:a="http://schemas.openxmlformats.org/drawingml/2006/main">
              <a:ext uri="{FF2B5EF4-FFF2-40B4-BE49-F238E27FC236}">
                <a16:creationId xmlns:a16="http://schemas.microsoft.com/office/drawing/2014/main" id="{7421E568-F153-4A88-A271-349E889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999"/>
                </a:solidFill>
              </a:defRPr>
            </a:pPr>
            <a:r>
              <a:rPr sz="1575" b="1">
                <a:solidFill>
                  <a:srgbClr val="18A999"/>
                </a:solidFill>
              </a:rPr>
              <a:t>Exact-prefix</a:t>
            </a:r>
          </a:p>
        </p:txBody>
      </p:sp>
      <p:sp>
        <p:nvSpPr>
          <p:cNvPr id="8" name="initial-probe-example-0">
            <a:extLst xmlns:a="http://schemas.openxmlformats.org/drawingml/2006/main">
              <a:ext uri="{FF2B5EF4-FFF2-40B4-BE49-F238E27FC236}">
                <a16:creationId xmlns:a16="http://schemas.microsoft.com/office/drawing/2014/main" id="{586918C1-E2BF-475B-BBE8-6EAE8C1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Kişi-017 works as Profession ...</a:t>
            </a:r>
          </a:p>
        </p:txBody>
      </p:sp>
      <p:sp>
        <p:nvSpPr>
          <p:cNvPr id="9" name="initial-probe-result-0">
            <a:extLst xmlns:a="http://schemas.openxmlformats.org/drawingml/2006/main">
              <a:ext uri="{FF2B5EF4-FFF2-40B4-BE49-F238E27FC236}">
                <a16:creationId xmlns:a16="http://schemas.microsoft.com/office/drawing/2014/main" id="{1FC96EA9-D270-4EB0-B1A7-AEED78C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Storage ölçer</a:t>
            </a:r>
          </a:p>
        </p:txBody>
      </p:sp>
      <p:sp>
        <p:nvSpPr>
          <p:cNvPr id="10" name="initial-probe-1">
            <a:extLst xmlns:a="http://schemas.openxmlformats.org/drawingml/2006/main">
              <a:ext uri="{FF2B5EF4-FFF2-40B4-BE49-F238E27FC236}">
                <a16:creationId xmlns:a16="http://schemas.microsoft.com/office/drawing/2014/main" id="{12E1E426-FEEC-4A67-9696-DF86B2A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itial-probe-title-1">
            <a:extLst xmlns:a="http://schemas.openxmlformats.org/drawingml/2006/main">
              <a:ext uri="{FF2B5EF4-FFF2-40B4-BE49-F238E27FC236}">
                <a16:creationId xmlns:a16="http://schemas.microsoft.com/office/drawing/2014/main" id="{BCCF64E2-1CA4-4783-8FB6-2D54407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Held-out forms</a:t>
            </a:r>
          </a:p>
        </p:txBody>
      </p:sp>
      <p:sp>
        <p:nvSpPr>
          <p:cNvPr id="12" name="initial-probe-example-1">
            <a:extLst xmlns:a="http://schemas.openxmlformats.org/drawingml/2006/main">
              <a:ext uri="{FF2B5EF4-FFF2-40B4-BE49-F238E27FC236}">
                <a16:creationId xmlns:a16="http://schemas.microsoft.com/office/drawing/2014/main" id="{DA86F73D-6E13-48C9-8AA5-F127D50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Forms A–D × direct/QA; unseen C/D dahil</a:t>
            </a:r>
          </a:p>
        </p:txBody>
      </p:sp>
      <p:sp>
        <p:nvSpPr>
          <p:cNvPr id="13" name="initial-probe-result-1">
            <a:extLst xmlns:a="http://schemas.openxmlformats.org/drawingml/2006/main">
              <a:ext uri="{FF2B5EF4-FFF2-40B4-BE49-F238E27FC236}">
                <a16:creationId xmlns:a16="http://schemas.microsoft.com/office/drawing/2014/main" id="{EEE04052-3609-4324-B1F4-A8197A5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Prompt transfer ölçer</a:t>
            </a:r>
          </a:p>
        </p:txBody>
      </p:sp>
      <p:sp>
        <p:nvSpPr>
          <p:cNvPr id="14" name="initial-probe-2">
            <a:extLst xmlns:a="http://schemas.openxmlformats.org/drawingml/2006/main">
              <a:ext uri="{FF2B5EF4-FFF2-40B4-BE49-F238E27FC236}">
                <a16:creationId xmlns:a16="http://schemas.microsoft.com/office/drawing/2014/main" id="{AF681554-F6EB-411B-9D70-F9F3726B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itial-probe-title-2">
            <a:extLst xmlns:a="http://schemas.openxmlformats.org/drawingml/2006/main">
              <a:ext uri="{FF2B5EF4-FFF2-40B4-BE49-F238E27FC236}">
                <a16:creationId xmlns:a16="http://schemas.microsoft.com/office/drawing/2014/main" id="{7808BB2D-FDCC-4803-963D-FEA7283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Binding + retention</a:t>
            </a:r>
          </a:p>
        </p:txBody>
      </p:sp>
      <p:sp>
        <p:nvSpPr>
          <p:cNvPr id="16" name="initial-probe-example-2">
            <a:extLst xmlns:a="http://schemas.openxmlformats.org/drawingml/2006/main">
              <a:ext uri="{FF2B5EF4-FFF2-40B4-BE49-F238E27FC236}">
                <a16:creationId xmlns:a16="http://schemas.microsoft.com/office/drawing/2014/main" id="{E9F6A2CE-B6AF-4B2B-A3BD-30A4B76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Ranking, forced choice, PPL, generic output, intrusion</a:t>
            </a:r>
          </a:p>
        </p:txBody>
      </p:sp>
      <p:sp>
        <p:nvSpPr>
          <p:cNvPr id="17" name="initial-probe-result-2">
            <a:extLst xmlns:a="http://schemas.openxmlformats.org/drawingml/2006/main">
              <a:ext uri="{FF2B5EF4-FFF2-40B4-BE49-F238E27FC236}">
                <a16:creationId xmlns:a16="http://schemas.microsoft.com/office/drawing/2014/main" id="{A36334C8-0B41-4C03-A88F-C32D369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Yorumu korur</a:t>
            </a:r>
          </a:p>
        </p:txBody>
      </p:sp>
      <p:sp>
        <p:nvSpPr>
          <p:cNvPr id="18" name="initial-result">
            <a:extLst xmlns:a="http://schemas.openxmlformats.org/drawingml/2006/main">
              <a:ext uri="{FF2B5EF4-FFF2-40B4-BE49-F238E27FC236}">
                <a16:creationId xmlns:a16="http://schemas.microsoft.com/office/drawing/2014/main" id="{A187DBDC-2204-472B-BA36-39F6FF6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itial-result-text">
            <a:extLst xmlns:a="http://schemas.openxmlformats.org/drawingml/2006/main">
              <a:ext uri="{FF2B5EF4-FFF2-40B4-BE49-F238E27FC236}">
                <a16:creationId xmlns:a16="http://schemas.microsoft.com/office/drawing/2014/main" id="{686EB7B4-20DE-469F-9096-85EB80D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578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Bir familiar promptun başarısı yetmez; aynı binding gerekli bütün unseen koşullarda korunmalıdır.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14948C-748B-4AEA-8EB6-2ED3D2B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069D340C-3375-4143-B6AC-9356B46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hard evaluation ve controls; raporlar 94–98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16BF829-284A-49B3-B675-4670FB0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7437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ROBUST INTERSECTION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Bir fact robust sayılmak için 8/8 hücreyi geçmelidir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4 form × 2 scaffold = 8 hücre. Tek bir hücre başarısızsa fact-level robust değeri 0 olur.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7 / 8 başarılı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0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fact-level robust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8 / 8 başarılı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1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fact-level robust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A-dir ✓  A-QA ✓  B-dir ✓  B-QA ✓  C-dir ✓  C-QA ✓  D-dir ✓  D-QA ✗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Population robust accuracy = 8/8 geçen fact sayısı ÷ toplam fact sayısı.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Eight-cell robust definition; qwen_m2_m3.py ve rapor 136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SCORING YÖNTEMİ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Candidate ranking factual binding’i daha temiz ölçer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Free generation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Kişi-017 ne iş yapıyor?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Model çıktısı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“Sanırım bir mühendis...”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Alias, uzunluk ve biçim sonucu etkiler.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Doğal output faydalıdır ama yüzey biçimine kırılgandır.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Candidate ranking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Candidates: Meslek 16, 17, 18, 19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Top-1 = Meslek 17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correct_rank_mean = 1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Aynı inventory; candidates model likelihood ile sıralanır.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Relation forced choice: aynı subject için yanlış relation object’i doğru binding’i geçmemelidir.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candidate-ranking ve relation-binding ölçümleri; raporlar 106, 127, 136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PERPLEXITY — PPL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PPL factual accuracy değil, genel dil drift’ini ölçer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81a12ffe68475d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≤1,25×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frozen hard drift gate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&lt;1,10×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tercih edilen bölge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Düşük PPL: frozen generic text model için daha az şaşırtıcıdır; aynı corpus ve token stream ile karşılaştırılır.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Model fact’lerde güçlü ama PPL’de kötü—veya PPL’de iyi ama robust access’te zayıf—olabilir.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Qwen PPL trade-off ve selected checkpoints; raporlar 106 ve 127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SMOLLM — 500 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SmolLM fact’leri depoladı ama robust access çözülemedi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Final gate, Forms A–D × direct/QA sekiz-hücre robustness’ı global ve relation bazında gerektiriyordu.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Exact storage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%100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canonical acquisition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En iyi robust access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%55,8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frozen gate: ≥%70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Control %39,6 · contrastive %52,2 · higher λ %50,4 · prompt consistency %55,8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Müdahaleler mekanizmayı iyileştirdi; fakat SmolLM’i M2/M3 için uygun hale getirmedi.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SmolLM frozen comparison ve remediation; raporlar 106, 127–128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MODEL AİLESİ TARAMASI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Factual robustness’ta yalnız Qwen tüm gate’leri geçti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80869888724f12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1,461×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ilk Qwen PPL oranı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0 / 5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bütün gate’leri geçen aile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Qwen held-out robustness ve relation binding’de near-ceiling sonuç verdi.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Sonraki adım model aramak değil, Qwen factual strength’ini retention replay ile korumaktı.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500-fact cross-family screen; rapor 106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QWEN — 2.500 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Qwen M1 gate’ini iki bağımsız seed’de geçti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Frozen kural, exact, hard, robust, binding, PPL ve integrity gate’lerini geçen en erken checkpoint’i seçti.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 · step 75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%96,08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robust · exact %99,96 · PPL ×1,082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↔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 · step 50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%96,20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robust · exact %99,68 · PPL ×1,032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500 subject · 2.500 fact · seed başına 20.000 hard probe · Forms A–D × direct/QA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Qwen replicated intermediate-scale M1 oldu; iki selected artifact freeze edildi.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Qwen scale replication ve artifact freeze; rapor 127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TÜRKÇE ADAPTATION ÖNCESİ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M1’de Türkçe promptlardan zaten kısmi access vardı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M1 seed 42 · step 75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EN→EN %99,29 · TR→EN %52,03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Türkçe uçtan uca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TR→TR %29,05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EN PPL 15,909 · TR PPL 17,349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Türkçe adaptation başlamadan önce cross-lingual access mevcuttu.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M1 seed 43 · step 50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EN→EN %99,24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TR→EN %52,52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TR→TR %30,12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EN PPL 15,170 · TR PPL 15,741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İki seed, causal family için neredeyse aynı factual başlangıç noktasını verdi.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M2’nin hem Türkçe access’i artırma alanı hem de koruması gereken mevcut access vardı.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bilingual/PPL M1 baseline; raporlar 134 ve 136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M2/M3 MÜDAHALESİ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M2 ve M3 yalnız factual exposure bakımından ayrıldı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M2-clean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1.048.576 token · 128 update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Exposure kuralı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Generic Turkish + neutral filler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Sıfır target synthetic fact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Temiz Türkçe adaptation mevcut factual access’e ne yapıyor?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M3-fact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Aynı Turkish blocks ve bütçe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Neutral filler yerine doğru Branch B fact’leri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1.048.576 token · 128 update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4 cycle · 5.000 factual exposure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Branch A sıfır exposure alır; M3, M2’den değil matching M1’den başlar.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Primary estimand: [(M3 − M2) Branch B] − [(M3 − M2) Branch A], TR→EN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matched-input causal contract; raporlar 133 ve 135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3B5BE2A3-75A0-4867-A0FB-E4FF4A0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YÜRÜTME VE BÜTÜNLÜK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F3D528-74BC-438F-999A-4D480D8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Dört run tek bir precommitted endpoint’te değerlendirildi</a:t>
            </a:r>
          </a:p>
        </p:txBody>
      </p:sp>
      <p:sp>
        <p:nvSpPr>
          <p:cNvPr id="3" name="attempt-title-0">
            <a:extLst xmlns:a="http://schemas.openxmlformats.org/drawingml/2006/main">
              <a:ext uri="{FF2B5EF4-FFF2-40B4-BE49-F238E27FC236}">
                <a16:creationId xmlns:a16="http://schemas.microsoft.com/office/drawing/2014/main" id="{9527D962-91A9-4605-82CC-DFE368C9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Training — 1 Ağustos</a:t>
            </a:r>
          </a:p>
        </p:txBody>
      </p:sp>
      <p:sp>
        <p:nvSpPr>
          <p:cNvPr id="4" name="attempt-example-0">
            <a:extLst xmlns:a="http://schemas.openxmlformats.org/drawingml/2006/main">
              <a:ext uri="{FF2B5EF4-FFF2-40B4-BE49-F238E27FC236}">
                <a16:creationId xmlns:a16="http://schemas.microsoft.com/office/drawing/2014/main" id="{1A2EB3F3-1D04-4C6F-AAB4-7331574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Seed 42 ve 43 için ayrı M2-clean/M3-fact siblings; her çift matching frozen M1’den başladı.</a:t>
            </a:r>
          </a:p>
        </p:txBody>
      </p:sp>
      <p:sp>
        <p:nvSpPr>
          <p:cNvPr id="5" name="attempt-result-0">
            <a:extLst xmlns:a="http://schemas.openxmlformats.org/drawingml/2006/main">
              <a:ext uri="{FF2B5EF4-FFF2-40B4-BE49-F238E27FC236}">
                <a16:creationId xmlns:a16="http://schemas.microsoft.com/office/drawing/2014/main" id="{D9A44372-9BAE-47A4-9C9F-E88216F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D39"/>
                </a:solidFill>
              </a:defRPr>
            </a:pPr>
            <a:r>
              <a:rPr sz="1350" b="1">
                <a:solidFill>
                  <a:srgbClr val="D95D39"/>
                </a:solidFill>
              </a:rPr>
              <a:t>Dördü de 128 update tamamladı · fixed checkpoint-128</a:t>
            </a:r>
          </a:p>
        </p:txBody>
      </p:sp>
      <p:sp>
        <p:nvSpPr>
          <p:cNvPr id="6" name="attempt-line-0">
            <a:extLst xmlns:a="http://schemas.openxmlformats.org/drawingml/2006/main">
              <a:ext uri="{FF2B5EF4-FFF2-40B4-BE49-F238E27FC236}">
                <a16:creationId xmlns:a16="http://schemas.microsoft.com/office/drawing/2014/main" id="{ED648564-FB73-4E41-8140-9D96AC95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ttempt-title-1">
            <a:extLst xmlns:a="http://schemas.openxmlformats.org/drawingml/2006/main">
              <a:ext uri="{FF2B5EF4-FFF2-40B4-BE49-F238E27FC236}">
                <a16:creationId xmlns:a16="http://schemas.microsoft.com/office/drawing/2014/main" id="{03DAFD46-1579-4E82-96A1-30B63FB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Evaluation — 2 Ağustos</a:t>
            </a:r>
          </a:p>
        </p:txBody>
      </p:sp>
      <p:sp>
        <p:nvSpPr>
          <p:cNvPr id="8" name="attempt-example-1">
            <a:extLst xmlns:a="http://schemas.openxmlformats.org/drawingml/2006/main">
              <a:ext uri="{FF2B5EF4-FFF2-40B4-BE49-F238E27FC236}">
                <a16:creationId xmlns:a16="http://schemas.microsoft.com/office/drawing/2014/main" id="{939679C3-4537-448F-BE1C-82BA089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State başına 24 slice × 2.500 probe; bütün form, scaffold ve direction hücreleri.</a:t>
            </a:r>
          </a:p>
        </p:txBody>
      </p:sp>
      <p:sp>
        <p:nvSpPr>
          <p:cNvPr id="9" name="attempt-result-1">
            <a:extLst xmlns:a="http://schemas.openxmlformats.org/drawingml/2006/main">
              <a:ext uri="{FF2B5EF4-FFF2-40B4-BE49-F238E27FC236}">
                <a16:creationId xmlns:a16="http://schemas.microsoft.com/office/drawing/2014/main" id="{0AD32074-8B7F-4EE5-84ED-1474A53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96 / 96 slice · 240.000 M2/M3 endpoint probe</a:t>
            </a:r>
          </a:p>
        </p:txBody>
      </p:sp>
      <p:sp>
        <p:nvSpPr>
          <p:cNvPr id="10" name="attempt-line-1">
            <a:extLst xmlns:a="http://schemas.openxmlformats.org/drawingml/2006/main">
              <a:ext uri="{FF2B5EF4-FFF2-40B4-BE49-F238E27FC236}">
                <a16:creationId xmlns:a16="http://schemas.microsoft.com/office/drawing/2014/main" id="{1649D6F3-3370-4D10-8365-4223E83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ttempt-title-2">
            <a:extLst xmlns:a="http://schemas.openxmlformats.org/drawingml/2006/main">
              <a:ext uri="{FF2B5EF4-FFF2-40B4-BE49-F238E27FC236}">
                <a16:creationId xmlns:a16="http://schemas.microsoft.com/office/drawing/2014/main" id="{5ADE8A9A-724D-454C-910A-5865A44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Independent review — 3 Ağustos</a:t>
            </a:r>
          </a:p>
        </p:txBody>
      </p:sp>
      <p:sp>
        <p:nvSpPr>
          <p:cNvPr id="12" name="attempt-example-2">
            <a:extLst xmlns:a="http://schemas.openxmlformats.org/drawingml/2006/main">
              <a:ext uri="{FF2B5EF4-FFF2-40B4-BE49-F238E27FC236}">
                <a16:creationId xmlns:a16="http://schemas.microsoft.com/office/drawing/2014/main" id="{25A0454C-D0F4-43B3-97DF-9F4E091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86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Raw manifests, registry membership, hashes, bootstrap logic ve gate read-only kontrol edildi.</a:t>
            </a:r>
          </a:p>
        </p:txBody>
      </p:sp>
      <p:sp>
        <p:nvSpPr>
          <p:cNvPr id="13" name="attempt-result-2">
            <a:extLst xmlns:a="http://schemas.openxmlformats.org/drawingml/2006/main">
              <a:ext uri="{FF2B5EF4-FFF2-40B4-BE49-F238E27FC236}">
                <a16:creationId xmlns:a16="http://schemas.microsoft.com/office/drawing/2014/main" id="{1B1E323A-9BC9-46C4-B1E3-CE1D5AD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72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PASS WITH CONCERNS · blocker veya major issue yok</a:t>
            </a:r>
          </a:p>
        </p:txBody>
      </p:sp>
      <p:sp>
        <p:nvSpPr>
          <p:cNvPr id="14" name="attempt-line-2">
            <a:extLst xmlns:a="http://schemas.openxmlformats.org/drawingml/2006/main">
              <a:ext uri="{FF2B5EF4-FFF2-40B4-BE49-F238E27FC236}">
                <a16:creationId xmlns:a16="http://schemas.microsoft.com/office/drawing/2014/main" id="{CBA386FA-C4EB-434F-B80A-4DA0481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ttempt-lesson">
            <a:extLst xmlns:a="http://schemas.openxmlformats.org/drawingml/2006/main">
              <a:ext uri="{FF2B5EF4-FFF2-40B4-BE49-F238E27FC236}">
                <a16:creationId xmlns:a16="http://schemas.microsoft.com/office/drawing/2014/main" id="{977D6668-7CDB-4514-9EBB-2176C25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ttempt-lesson-text">
            <a:extLst xmlns:a="http://schemas.openxmlformats.org/drawingml/2006/main">
              <a:ext uri="{FF2B5EF4-FFF2-40B4-BE49-F238E27FC236}">
                <a16:creationId xmlns:a16="http://schemas.microsoft.com/office/drawing/2014/main" id="{E6259835-FC76-4A61-B31E-7697A38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Sonuç görüldükten sonra checkpoint, seed, threshold veya primary metric seçilmedi.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536488-23F4-45BA-950D-2F44EB6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9CA371D0-9E09-4D33-B681-D8B997F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Execution, independent review ve retention freeze; raporlar 135, 136, 140a, 143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E39F707C-6724-4DB4-8D03-8928111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899828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PRIMARY DIRECTION: TR→EN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Türkçe adaptation access’i düşürdü; M3 azını geri aldı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02a0480d8d412c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−18,8 pp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→ M2, iki seed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+1,9 pp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M2 → M3, iki seed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Dominant effect: M2’de geniş Turkish-prompt factual-access degradation.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M3 iki seed’de M2’den yüksek; ancak M1 baseline’ın çok altında kalıyor.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state accuracy ve paired contrasts; raporlar 136 ve 142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SECONDARY DIRECTION: TR→TR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Türkçe cevap üretiminde de aynı yönlü pattern görüldü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7aedd06fba44cd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−6,7 pp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→ M2, yaklaşık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+1,6–1,7 pp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M2 → M3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TR→TR, factual access ile Turkish object lexicalization’ı birlikte ölçer.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Bu secondary pattern primary TR→EN sonucunu destekler; onun yerine geçmez.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state accuracy ve paired contrasts; rapor 136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FROZEN PRIMARY GATE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Primary causal interaction iki seed’de replicate olmadı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Interaction = (M3 − M2) Branch B − (M3 − M2) Branch A, TR→EN; iki seed’in CI’ı da sıfırı dışlamalıydı.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+0,25 pp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%95 CI −0,51 ile +1,01 · FAIL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+1,35 pp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%95 CI +0,51 ile +2,18 · PASS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Operational validity geçti · EN→EN retention guardrail geçti · post-hoc gate change yok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Overall frozen decision: primary_success_criterion_not_met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gate ve independent raw-data reproduction; raporlar 136 ve 140a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BİLİMSEL YORUM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Causal family tamamlandı; tez sorusu tamamlanmadı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Bildiklerimiz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İngilizcede edinilmiş fact’lere Türkçe promptlardan kısmi erişim vardı; clean adaptation bu access’i güçlü biçimde düşürdü.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M3 ne ekledi?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Doğru Turkish factual exposure, M2-clean’e göre küçük ve iki seed’de aynı yönlü descriptive recovery üretti.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Ne diyemeyiz?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Branch-B-specific factual relearning advantage, precommitted two-seed confidence rule altında replicate edilmedi.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 geçerli bir negative/inconclusive sonuçtur; başarısız deney veya bütün transfer mekanizmalarının tükendiği anlamına gelmez.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F60C388C-9F18-4F74-B558-777BEAE8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BUNDAN SONRA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2D2A5-4C66-40A2-83B1-B7C9A7E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Bu deney tamamlandı; önemli tez ve mekanizma işi sürüyor</a:t>
            </a:r>
          </a:p>
        </p:txBody>
      </p:sp>
      <p:sp>
        <p:nvSpPr>
          <p:cNvPr id="3" name="ranking-card">
            <a:extLst xmlns:a="http://schemas.openxmlformats.org/drawingml/2006/main">
              <a:ext uri="{FF2B5EF4-FFF2-40B4-BE49-F238E27FC236}">
                <a16:creationId xmlns:a16="http://schemas.microsoft.com/office/drawing/2014/main" id="{A324307C-F2D3-4CF0-A650-80CCCA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5B450197-DFC1-40DB-8495-6E6727A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Yeni eğitim olmadan</a:t>
            </a:r>
          </a:p>
        </p:txBody>
      </p:sp>
      <p:sp>
        <p:nvSpPr>
          <p:cNvPr id="5" name="ranking-example">
            <a:extLst xmlns:a="http://schemas.openxmlformats.org/drawingml/2006/main">
              <a:ext uri="{FF2B5EF4-FFF2-40B4-BE49-F238E27FC236}">
                <a16:creationId xmlns:a16="http://schemas.microsoft.com/office/drawing/2014/main" id="{8EB75892-74C2-4121-B07A-E60E24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Final şekiller, yöntemler, sınırlılıklar, seed heterojenliği ve genel Türkçe erişim düşüşü yorumu tamamlanabilir.</a:t>
            </a:r>
          </a:p>
        </p:txBody>
      </p:sp>
      <p:sp>
        <p:nvSpPr>
          <p:cNvPr id="6" name="ranking-result">
            <a:extLst xmlns:a="http://schemas.openxmlformats.org/drawingml/2006/main">
              <a:ext uri="{FF2B5EF4-FFF2-40B4-BE49-F238E27FC236}">
                <a16:creationId xmlns:a16="http://schemas.microsoft.com/office/drawing/2014/main" id="{8380808D-E7C3-4889-A804-40D2019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Doğrulanmış kanıt zinciri, tez anlatısına ve supervisor görüşmesine hazır kararlara dönüştürülmeli.</a:t>
            </a:r>
          </a:p>
        </p:txBody>
      </p:sp>
      <p:sp>
        <p:nvSpPr>
          <p:cNvPr id="7" name="binding-card">
            <a:extLst xmlns:a="http://schemas.openxmlformats.org/drawingml/2006/main">
              <a:ext uri="{FF2B5EF4-FFF2-40B4-BE49-F238E27FC236}">
                <a16:creationId xmlns:a16="http://schemas.microsoft.com/office/drawing/2014/main" id="{231A18CE-CD84-4EBB-96AA-E82A84E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638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8" name="binding-title">
            <a:extLst xmlns:a="http://schemas.openxmlformats.org/drawingml/2006/main">
              <a:ext uri="{FF2B5EF4-FFF2-40B4-BE49-F238E27FC236}">
                <a16:creationId xmlns:a16="http://schemas.microsoft.com/office/drawing/2014/main" id="{0A72C9F7-88C0-4A97-BB2A-98A708A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Olası revize deneyler</a:t>
            </a:r>
          </a:p>
        </p:txBody>
      </p:sp>
      <p:sp>
        <p:nvSpPr>
          <p:cNvPr id="9" name="binding-example">
            <a:extLst xmlns:a="http://schemas.openxmlformats.org/drawingml/2006/main">
              <a:ext uri="{FF2B5EF4-FFF2-40B4-BE49-F238E27FC236}">
                <a16:creationId xmlns:a16="http://schemas.microsoft.com/office/drawing/2014/main" id="{C3687485-9922-4A1F-BC0E-C9F67E5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M3-lexical, revize Türkçe müdahale, ek replication veya 25.000-fact ölçek doğrulaması.</a:t>
            </a:r>
          </a:p>
        </p:txBody>
      </p:sp>
      <p:sp>
        <p:nvSpPr>
          <p:cNvPr id="10" name="binding-result">
            <a:extLst xmlns:a="http://schemas.openxmlformats.org/drawingml/2006/main">
              <a:ext uri="{FF2B5EF4-FFF2-40B4-BE49-F238E27FC236}">
                <a16:creationId xmlns:a16="http://schemas.microsoft.com/office/drawing/2014/main" id="{FC46D92F-C89B-43F3-9179-189D0D8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Her seçenek ayrı gerekçe, frozen contract, estimand ve gate gerektirir; hiçbiri otomatik değildir.</a:t>
            </a:r>
          </a:p>
        </p:txBody>
      </p:sp>
      <p:sp>
        <p:nvSpPr>
          <p:cNvPr id="11" name="strategy-shift">
            <a:extLst xmlns:a="http://schemas.openxmlformats.org/drawingml/2006/main">
              <a:ext uri="{FF2B5EF4-FFF2-40B4-BE49-F238E27FC236}">
                <a16:creationId xmlns:a16="http://schemas.microsoft.com/office/drawing/2014/main" id="{1157728F-2F32-4C43-9490-567AEE8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Karar sınırı</a:t>
            </a:r>
          </a:p>
        </p:txBody>
      </p:sp>
      <p:sp>
        <p:nvSpPr>
          <p:cNvPr id="12" name="strategy-body">
            <a:extLst xmlns:a="http://schemas.openxmlformats.org/drawingml/2006/main">
              <a:ext uri="{FF2B5EF4-FFF2-40B4-BE49-F238E27FC236}">
                <a16:creationId xmlns:a16="http://schemas.microsoft.com/office/drawing/2014/main" id="{3D3F2C3B-CE30-458F-9E31-392798B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2.500-fact family ana current result olarak korunmalı; yeni experiment yalnız belirli bir mekanizma açığını çözmelidir.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07650B-1960-4DC5-A4A4-CAE070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36D5B32-8D38-4714-90C7-9E06F8A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Current milestone, review, exploratory result ve retention closure; raporlar 138, 140a, 142, 143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18DC6A85-D470-424E-B5BD-C3CA6EA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83955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2026-08-04T18:34:16.1470000Z</dcterms:created>
  <dcterms:modified xsi:type="dcterms:W3CDTF">2026-08-04T18:34:16.1470000Z</dcterms:modified>
</coreProperties>
</file>