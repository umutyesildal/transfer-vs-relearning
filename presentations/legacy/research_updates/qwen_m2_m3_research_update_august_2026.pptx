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fa7af586b451d" /><Relationship Type="http://schemas.openxmlformats.org/officeDocument/2006/relationships/extended-properties" Target="/docProps/app.xml" Id="R856c3df755084a32" /><Relationship Type="http://schemas.openxmlformats.org/officeDocument/2006/relationships/officeDocument" Target="/ppt/presentation.xml" Id="R6adae7648727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58cd92af94d90"/>
  </p:sldMasterIdLst>
  <p:notesMasterIdLst>
    <p:notesMasterId xmlns:r="http://schemas.openxmlformats.org/officeDocument/2006/relationships" r:id="R9edec24798e64fdc"/>
  </p:notesMasterIdLst>
  <p:sldIdLst>
    <p:sldId xmlns:r="http://schemas.openxmlformats.org/officeDocument/2006/relationships" id="256" r:id="R8ff2eec01e8d4aae"/>
    <p:sldId xmlns:r="http://schemas.openxmlformats.org/officeDocument/2006/relationships" id="257" r:id="Rbb26f2d178e244f7"/>
    <p:sldId xmlns:r="http://schemas.openxmlformats.org/officeDocument/2006/relationships" id="258" r:id="R5cdd223ce7d74355"/>
    <p:sldId xmlns:r="http://schemas.openxmlformats.org/officeDocument/2006/relationships" id="259" r:id="R0397f67e3e754a87"/>
    <p:sldId xmlns:r="http://schemas.openxmlformats.org/officeDocument/2006/relationships" id="260" r:id="R4d6c032547f04037"/>
    <p:sldId xmlns:r="http://schemas.openxmlformats.org/officeDocument/2006/relationships" id="261" r:id="R659ed3d2da7e45ed"/>
    <p:sldId xmlns:r="http://schemas.openxmlformats.org/officeDocument/2006/relationships" id="262" r:id="R9686cfbff9ec4d19"/>
    <p:sldId xmlns:r="http://schemas.openxmlformats.org/officeDocument/2006/relationships" id="263" r:id="R48daa7e1acb24cf2"/>
    <p:sldId xmlns:r="http://schemas.openxmlformats.org/officeDocument/2006/relationships" id="264" r:id="R3607c1af57c547bb"/>
    <p:sldId xmlns:r="http://schemas.openxmlformats.org/officeDocument/2006/relationships" id="265" r:id="Rfb843934ee914d53"/>
    <p:sldId xmlns:r="http://schemas.openxmlformats.org/officeDocument/2006/relationships" id="266" r:id="Rb021c1700ffa4d97"/>
    <p:sldId xmlns:r="http://schemas.openxmlformats.org/officeDocument/2006/relationships" id="267" r:id="R3ee201c84368466e"/>
    <p:sldId xmlns:r="http://schemas.openxmlformats.org/officeDocument/2006/relationships" id="268" r:id="R7db2714f4e0f4182"/>
    <p:sldId xmlns:r="http://schemas.openxmlformats.org/officeDocument/2006/relationships" id="269" r:id="Rf8e63612f28e4c77"/>
    <p:sldId xmlns:r="http://schemas.openxmlformats.org/officeDocument/2006/relationships" id="270" r:id="R2f6365758124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ca9cb415f40ce" /><Relationship Type="http://schemas.openxmlformats.org/officeDocument/2006/relationships/slideMaster" Target="/ppt/slideMasters/slideMaster1.xml" Id="R5bf58cd92af94d90" /><Relationship Type="http://schemas.openxmlformats.org/officeDocument/2006/relationships/notesMaster" Target="/ppt/notesMasters/notesMaster1.xml" Id="R9edec24798e64fdc" /><Relationship Type="http://schemas.openxmlformats.org/officeDocument/2006/relationships/presProps" Target="/ppt/presProps.xml" Id="Rbc2dc82242684f74" /><Relationship Type="http://schemas.openxmlformats.org/officeDocument/2006/relationships/tableStyles" Target="/ppt/tableStyles.xml" Id="Rf615280339944c21" /><Relationship Type="http://schemas.openxmlformats.org/officeDocument/2006/relationships/slide" Target="/ppt/slides/slide1.xml" Id="R8ff2eec01e8d4aae" /><Relationship Type="http://schemas.openxmlformats.org/officeDocument/2006/relationships/slide" Target="/ppt/slides/slide2.xml" Id="Rbb26f2d178e244f7" /><Relationship Type="http://schemas.openxmlformats.org/officeDocument/2006/relationships/slide" Target="/ppt/slides/slide3.xml" Id="R5cdd223ce7d74355" /><Relationship Type="http://schemas.openxmlformats.org/officeDocument/2006/relationships/slide" Target="/ppt/slides/slide4.xml" Id="R0397f67e3e754a87" /><Relationship Type="http://schemas.openxmlformats.org/officeDocument/2006/relationships/slide" Target="/ppt/slides/slide5.xml" Id="R4d6c032547f04037" /><Relationship Type="http://schemas.openxmlformats.org/officeDocument/2006/relationships/slide" Target="/ppt/slides/slide6.xml" Id="R659ed3d2da7e45ed" /><Relationship Type="http://schemas.openxmlformats.org/officeDocument/2006/relationships/slide" Target="/ppt/slides/slide7.xml" Id="R9686cfbff9ec4d19" /><Relationship Type="http://schemas.openxmlformats.org/officeDocument/2006/relationships/slide" Target="/ppt/slides/slide8.xml" Id="R48daa7e1acb24cf2" /><Relationship Type="http://schemas.openxmlformats.org/officeDocument/2006/relationships/slide" Target="/ppt/slides/slide9.xml" Id="R3607c1af57c547bb" /><Relationship Type="http://schemas.openxmlformats.org/officeDocument/2006/relationships/slide" Target="/ppt/slides/slide10.xml" Id="Rfb843934ee914d53" /><Relationship Type="http://schemas.openxmlformats.org/officeDocument/2006/relationships/slide" Target="/ppt/slides/slide11.xml" Id="Rb021c1700ffa4d97" /><Relationship Type="http://schemas.openxmlformats.org/officeDocument/2006/relationships/slide" Target="/ppt/slides/slide12.xml" Id="R3ee201c84368466e" /><Relationship Type="http://schemas.openxmlformats.org/officeDocument/2006/relationships/slide" Target="/ppt/slides/slide13.xml" Id="R7db2714f4e0f4182" /><Relationship Type="http://schemas.openxmlformats.org/officeDocument/2006/relationships/slide" Target="/ppt/slides/slide14.xml" Id="Rf8e63612f28e4c77" /><Relationship Type="http://schemas.openxmlformats.org/officeDocument/2006/relationships/slide" Target="/ppt/slides/slide15.xml" Id="R2f6365758124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7080ff6c2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a933c138d471e" /><Relationship Type="http://schemas.openxmlformats.org/officeDocument/2006/relationships/notesMaster" Target="/ppt/notesMasters/notesMaster1.xml" Id="R24be409f3dc6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9a2a6cf6c648ff" /><Relationship Type="http://schemas.openxmlformats.org/officeDocument/2006/relationships/notesMaster" Target="/ppt/notesMasters/notesMaster1.xml" Id="R57291d1959de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14f90dec6e4bfd" /><Relationship Type="http://schemas.openxmlformats.org/officeDocument/2006/relationships/notesMaster" Target="/ppt/notesMasters/notesMaster1.xml" Id="Rcda489e5301346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34b0c9af0454f" /><Relationship Type="http://schemas.openxmlformats.org/officeDocument/2006/relationships/notesMaster" Target="/ppt/notesMasters/notesMaster1.xml" Id="Rd53e3f88b869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3bb837ac34563" /><Relationship Type="http://schemas.openxmlformats.org/officeDocument/2006/relationships/notesMaster" Target="/ppt/notesMasters/notesMaster1.xml" Id="R8059994d9b34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a26f3ec684c5a" /><Relationship Type="http://schemas.openxmlformats.org/officeDocument/2006/relationships/notesMaster" Target="/ppt/notesMasters/notesMaster1.xml" Id="Rcfdc7b564bd04c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d38252b19435a" /><Relationship Type="http://schemas.openxmlformats.org/officeDocument/2006/relationships/notesMaster" Target="/ppt/notesMasters/notesMaster1.xml" Id="Raf62f888b9b640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a4ac6b06f4ae7" /><Relationship Type="http://schemas.openxmlformats.org/officeDocument/2006/relationships/notesMaster" Target="/ppt/notesMasters/notesMaster1.xml" Id="Rce077c4996c942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34ee8d81814d47" /><Relationship Type="http://schemas.openxmlformats.org/officeDocument/2006/relationships/notesMaster" Target="/ppt/notesMasters/notesMaster1.xml" Id="R12badc34ad5e46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d3cbae1a0f4124" /><Relationship Type="http://schemas.openxmlformats.org/officeDocument/2006/relationships/notesMaster" Target="/ppt/notesMasters/notesMaster1.xml" Id="Rd3b03e3ab3cc47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cb7d291ef540e0" /><Relationship Type="http://schemas.openxmlformats.org/officeDocument/2006/relationships/notesMaster" Target="/ppt/notesMasters/notesMaster1.xml" Id="Re20c1a3bba8340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f5011a5cf34735" /><Relationship Type="http://schemas.openxmlformats.org/officeDocument/2006/relationships/notesMaster" Target="/ppt/notesMasters/notesMaster1.xml" Id="Rd662fe2ac7e548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8a2e80a5c94bad" /><Relationship Type="http://schemas.openxmlformats.org/officeDocument/2006/relationships/notesMaster" Target="/ppt/notesMasters/notesMaster1.xml" Id="Re30c0ae1c73147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e0995b31904a93" /><Relationship Type="http://schemas.openxmlformats.org/officeDocument/2006/relationships/notesMaster" Target="/ppt/notesMasters/notesMaster1.xml" Id="R303bc9a8c5b04c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fb9dc479254005" /><Relationship Type="http://schemas.openxmlformats.org/officeDocument/2006/relationships/notesMaster" Target="/ppt/notesMasters/notesMaster1.xml" Id="R10c7bdd4145c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documentation/94_PRE_M2_FROZEN_HARD_EVALUATION_REPORT.md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documentation/96_PRE_M2_JOINT_RELATION_CONTROL_REPORT.md</a:t>
            </a:r>
          </a:p>
          <a:p xmlns:a="http://schemas.openxmlformats.org/drawingml/2006/main">
            <a:r>
              <a:t>- documentation/97_PRE_M2_DRIFT_ABLATION_REPORT.md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documentation/132_PRE_M2_QWEN_READINESS_AND_BASELINE_PLAN.md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eb9c457c8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0a6ed9b9b449c" /><Relationship Type="http://schemas.openxmlformats.org/officeDocument/2006/relationships/slideLayout" Target="/ppt/slideLayouts/slideLayout1.xml" Id="Rbcf22ea71c5240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22ea71c5240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b58c741fd47f0" /><Relationship Type="http://schemas.openxmlformats.org/officeDocument/2006/relationships/notesSlide" Target="/ppt/notesSlides/notesSlide1.xml" Id="Rbf64a92cb8ad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4d4a1db0f4161" /><Relationship Type="http://schemas.openxmlformats.org/officeDocument/2006/relationships/notesSlide" Target="/ppt/notesSlides/notesSlide2.xml" Id="R7be12567457b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175f4624e49a4" /><Relationship Type="http://schemas.openxmlformats.org/officeDocument/2006/relationships/notesSlide" Target="/ppt/notesSlides/notesSlide3.xml" Id="R9eebdbd0a88b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ab13b045413f" /><Relationship Type="http://schemas.openxmlformats.org/officeDocument/2006/relationships/notesSlide" Target="/ppt/notesSlides/notesSlide4.xml" Id="Rf1bfab43e77f40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faf274d664fbf" /><Relationship Type="http://schemas.openxmlformats.org/officeDocument/2006/relationships/notesSlide" Target="/ppt/notesSlides/notesSlide5.xml" Id="R1c331ad4b0f3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3d2dd6ffd49e8" /><Relationship Type="http://schemas.openxmlformats.org/officeDocument/2006/relationships/chart" Target="/ppt/slides/charts/chart1.xml" Id="R80236ac1cfc847dc" /><Relationship Type="http://schemas.openxmlformats.org/officeDocument/2006/relationships/notesSlide" Target="/ppt/notesSlides/notesSlide6.xml" Id="Rdd8c0c096163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b5009819c4438" /><Relationship Type="http://schemas.openxmlformats.org/officeDocument/2006/relationships/notesSlide" Target="/ppt/notesSlides/notesSlide7.xml" Id="R7828da058f1f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2e9dfac044609" /><Relationship Type="http://schemas.openxmlformats.org/officeDocument/2006/relationships/notesSlide" Target="/ppt/notesSlides/notesSlide8.xml" Id="Rb23093a9810f41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698833d84fb4" /><Relationship Type="http://schemas.openxmlformats.org/officeDocument/2006/relationships/notesSlide" Target="/ppt/notesSlides/notesSlide9.xml" Id="R27d285571f1b40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0bc52e763488e" /><Relationship Type="http://schemas.openxmlformats.org/officeDocument/2006/relationships/notesSlide" Target="/ppt/notesSlides/notesSlide10.xml" Id="R360bb271348f46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20ba0c3c45c2" /><Relationship Type="http://schemas.openxmlformats.org/officeDocument/2006/relationships/notesSlide" Target="/ppt/notesSlides/notesSlide11.xml" Id="R8ed771ce42af48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0afee274f4669" /><Relationship Type="http://schemas.openxmlformats.org/officeDocument/2006/relationships/chart" Target="/ppt/slides/charts/chart2.xml" Id="R8d25e5b76eaa4fa7" /><Relationship Type="http://schemas.openxmlformats.org/officeDocument/2006/relationships/notesSlide" Target="/ppt/notesSlides/notesSlide12.xml" Id="R29ff19ecd0d14c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dc52e3ca94e60" /><Relationship Type="http://schemas.openxmlformats.org/officeDocument/2006/relationships/notesSlide" Target="/ppt/notesSlides/notesSlide13.xml" Id="R7df3a6499be3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32c4e79dd4c38" /><Relationship Type="http://schemas.openxmlformats.org/officeDocument/2006/relationships/notesSlide" Target="/ppt/notesSlides/notesSlide14.xml" Id="R165f6197f6784a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a1ee16a24332" /><Relationship Type="http://schemas.openxmlformats.org/officeDocument/2006/relationships/notesSlide" Target="/ppt/notesSlides/notesSlide15.xml" Id="R8204c6b5134946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Eight-cell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From robust English acquisition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to cross-lingual adaptation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changed, what the first causal family shows, and what remains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Thesis progress discussion  ·  August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Qwen M1 replication · M2/M3 endpoint evidence · 2,500 facts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SINCE THE LAST UPDATE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moved from an apparent M1 solution to a completed causal test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Stronger measurement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Subject-held-out forms showed that SmolLM’s 500-fact success depended strongly on prompt exposure.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Model decision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A frozen cross-family screen and retention replay selected Qwen, replicated at 2,500 facts.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Causal execution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M2-clean and M3-fact completed in two seed chains at a fixed endpoint with 240,000 endpoint probes.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result is valid but not conclusive: M3 partially recovers access, while the primary interaction replicates in only one seed.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MEASUREMENT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Exact storage does not guarantee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One fact  →  multiple unseen retrieval conditions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evaluator became progressively harder before M2/M3 was allowed.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Can the model complete the canonical fact string?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storage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forms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Forms A–D under direct and QA scaffolds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prompt transfer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Binding + retention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Forced choice, PPL, generic outputs, intrusion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interpretation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 fact is robust only when it survives every required form/scaffold cell—not when one familiar prompt succeeds.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hard evaluation, counterbalance, relation binding and PPL controls; reports 94–98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AT 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stored every fact, but robust access plateaued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final gate required eight-cell robustness across Forms A–D × direct/QA, globally and per relation.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100%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Best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55.8%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≥70%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Eight-cell robust: 39.6% control · 52.2% contrastive · 50.4% higher λ · 55.8% prompt consistency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Contrastive and consistency objectives helped—but did not make SmolLM eligible for M2/M3.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and remediation results; reports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MODEL-FAMILY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Only Qwen passed every factual robustness gate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236ac1cfc847dc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1.461×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initial Qwen PPL ratio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families passed all gates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Qwen alone achieved near-ceiling held-out robustness and relation binding.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Next move: preserve Qwen’s factual strength while repairing retention—not more model fishing.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report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QWEN AT 2,500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Qwen passed the 2,500-fact M1 gate in both seeds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frozen rule selected the earliest checkpoint passing exact, hard, robust, binding, PPL and integrity gates.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 · step 75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96.08%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· exact 99.96% · PPL ×1.082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↔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 · step 50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96.20%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robust · exact 99.68% · PPL ×1.032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500 subjects · 2,500 facts · 20,000 hard probes per seed · Forms A–D × direct/QA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became the sole replicated intermediate-scale M1 candidate and both artifacts were frozen.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Replicated Qwen scale result and artifact freeze; report 127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PRE-M2 READINESS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Pre-M2 measurements were frozen before training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Three answer directions measure different mechanisms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Directions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EN→EN: English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TR→EN: cross-lingual factual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TR→TR: access plus Turkish lexicalization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Surface and scoring controls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 A–D · direct/QA · candidate ranking · robust intersection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Frozen package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60k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probes / M1 seed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2,000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subject bootstraps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EN + TR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generic PPL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Pre-adaptation guardrails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Reload both frozen M1 artifacts · audit Turkish contamination · freeze endpoint, aliases, estimand and gates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Bilingual baseline and contract freeze; reports 132–135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EXECUTION AND INTEGRITY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All four runs used one precommitted endpoint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Training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Four sibling runs: M2-clean and M3-fact for seed 42 and seed 43; all start from their matching frozen M1.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All four completed 128 updates · fixed checkpoint-128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Endpoint evaluation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slices per state × 2,500 probes; all required forms, scaffolds and directions.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96 / 96 slices · 240,000 M2/M3 endpoint probes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Independent verification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Raw manifests, registry membership, hashes, bootstrap logic and gate were checked read-only.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PASS WITH CONCERNS · no blocker or major issue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 checkpoint, seed, threshold or primary metric was selected after seeing the result.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Execution, independent review and retention freeze; reports 136, 140a and 143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BEFORE TURKISH ADAPTATION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already exposed substantial cross-lingual factual access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M1 seed 42 · step 75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EN→EN 99.29% · TR→EN 52.03%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End-to-end Turkish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TR→TR 29.05%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EN PPL 15.909 · TR PPL 17.349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Cross-lingual access existed before any Turkish adaptation stage.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M1 seed 43 · step 50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EN→EN 99.24%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TR→EN 52.52%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TR→TR 30.12%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EN PPL 15.170 · TR PPL 15.741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two seeds provide nearly identical factual starting points for the causal family.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M2 therefore had both headroom to improve Turkish access—and existing access to preserve.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bilingual/PPL M1 baselines; report 134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Turkish adaptation reduced access; M3 recovered little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25e5b76eaa4fa7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−18.8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 in both seeds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+1.9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 in both seeds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dominant effect is broad Turkish-prompt factual-access degradation in M2.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M3-fact is consistently higher than M2-clean, but remains far below the M1 baseline.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and paired contrasts; reports 136 and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FROZEN PRIMARY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primary causal interaction did not replicate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Primary interaction = (M3 − M2)Branch B − (M3 − M2)Branch A on TR→EN; both seeds had to exclude zero.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+0.25 pp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95% CI −0.51 to +1.01 · FAIL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+1.35 pp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95% CI +0.51 to +2.18 · PASS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Operational validity passed · EN→EN retention guardrail passed · no post-hoc gate change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Overall frozen decision: primary_success_criterion_not_met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gate and independent raw-data reproduction; reports 136 and 140a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WHAT REMAINS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This experiment is complete; substantial work remains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Without new training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Finalize figures, methods, limitations, seed heterogeneity and the interpretation of broad Turkish-access degradation.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Turn the verified evidence chain into the thesis narrative and supervisor-ready decisions.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Possible amended experiments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M3-lexical, a revised Turkish adaptation intervention, additional replication, or 25,000-fact scale validation.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Each option needs a separate scientific rationale and frozen contract; none follows automatically from this gate.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Decision boundary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Treat the completed 2,500-fact family as the main current result—then add only experiments that resolve a specific remaining mechanism.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Current milestone, review, exploratory result and retention closure; reports 138, 140a, 142 and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2026-08-03T08:13:33.0680000Z</dcterms:created>
  <dcterms:modified xsi:type="dcterms:W3CDTF">2026-08-03T08:13:33.0680000Z</dcterms:modified>
</coreProperties>
</file>