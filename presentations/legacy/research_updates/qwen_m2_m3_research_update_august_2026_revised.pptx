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244892592341f5" /><Relationship Type="http://schemas.openxmlformats.org/officeDocument/2006/relationships/extended-properties" Target="/docProps/app.xml" Id="R7e5df1f1bada4080" /><Relationship Type="http://schemas.openxmlformats.org/officeDocument/2006/relationships/officeDocument" Target="/ppt/presentation.xml" Id="R4824ade0a358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e2c936f1a4acf"/>
  </p:sldMasterIdLst>
  <p:notesMasterIdLst>
    <p:notesMasterId xmlns:r="http://schemas.openxmlformats.org/officeDocument/2006/relationships" r:id="R104b28b3eeb64a23"/>
  </p:notesMasterIdLst>
  <p:sldIdLst>
    <p:sldId xmlns:r="http://schemas.openxmlformats.org/officeDocument/2006/relationships" id="256" r:id="R51bd7fe362ef485e"/>
    <p:sldId xmlns:r="http://schemas.openxmlformats.org/officeDocument/2006/relationships" id="257" r:id="Rca50b765115f4d80"/>
    <p:sldId xmlns:r="http://schemas.openxmlformats.org/officeDocument/2006/relationships" id="258" r:id="Rdf51e73472f14c22"/>
    <p:sldId xmlns:r="http://schemas.openxmlformats.org/officeDocument/2006/relationships" id="259" r:id="R95a5f10137d04b62"/>
    <p:sldId xmlns:r="http://schemas.openxmlformats.org/officeDocument/2006/relationships" id="260" r:id="R8e4f42139f604aef"/>
    <p:sldId xmlns:r="http://schemas.openxmlformats.org/officeDocument/2006/relationships" id="261" r:id="R699c0d81f4184597"/>
    <p:sldId xmlns:r="http://schemas.openxmlformats.org/officeDocument/2006/relationships" id="262" r:id="Red6c715c929c4328"/>
    <p:sldId xmlns:r="http://schemas.openxmlformats.org/officeDocument/2006/relationships" id="263" r:id="Rb6bc1d17b4d0475c"/>
    <p:sldId xmlns:r="http://schemas.openxmlformats.org/officeDocument/2006/relationships" id="264" r:id="Rfb7e62c37bd64715"/>
    <p:sldId xmlns:r="http://schemas.openxmlformats.org/officeDocument/2006/relationships" id="265" r:id="Re25ca715cfc64407"/>
    <p:sldId xmlns:r="http://schemas.openxmlformats.org/officeDocument/2006/relationships" id="266" r:id="R5ace090656fc4aa7"/>
    <p:sldId xmlns:r="http://schemas.openxmlformats.org/officeDocument/2006/relationships" id="267" r:id="Rdbce08fc819542f5"/>
    <p:sldId xmlns:r="http://schemas.openxmlformats.org/officeDocument/2006/relationships" id="268" r:id="R62d2bb6f40e548c7"/>
    <p:sldId xmlns:r="http://schemas.openxmlformats.org/officeDocument/2006/relationships" id="269" r:id="R2824e537b9734b40"/>
    <p:sldId xmlns:r="http://schemas.openxmlformats.org/officeDocument/2006/relationships" id="270" r:id="Raa09e89213a343bf"/>
    <p:sldId xmlns:r="http://schemas.openxmlformats.org/officeDocument/2006/relationships" id="271" r:id="R5a9fe325c5e04429"/>
    <p:sldId xmlns:r="http://schemas.openxmlformats.org/officeDocument/2006/relationships" id="272" r:id="R7d49967f811a4015"/>
    <p:sldId xmlns:r="http://schemas.openxmlformats.org/officeDocument/2006/relationships" id="273" r:id="R0ea4fa587455442c"/>
    <p:sldId xmlns:r="http://schemas.openxmlformats.org/officeDocument/2006/relationships" id="274" r:id="R2f26fb032b30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c23d2234c4286" /><Relationship Type="http://schemas.openxmlformats.org/officeDocument/2006/relationships/slideMaster" Target="/ppt/slideMasters/slideMaster1.xml" Id="R0d6e2c936f1a4acf" /><Relationship Type="http://schemas.openxmlformats.org/officeDocument/2006/relationships/notesMaster" Target="/ppt/notesMasters/notesMaster1.xml" Id="R104b28b3eeb64a23" /><Relationship Type="http://schemas.openxmlformats.org/officeDocument/2006/relationships/presProps" Target="/ppt/presProps.xml" Id="Rc0b786c459364905" /><Relationship Type="http://schemas.openxmlformats.org/officeDocument/2006/relationships/tableStyles" Target="/ppt/tableStyles.xml" Id="Ra74031617dc54a55" /><Relationship Type="http://schemas.openxmlformats.org/officeDocument/2006/relationships/slide" Target="/ppt/slides/slide1.xml" Id="R51bd7fe362ef485e" /><Relationship Type="http://schemas.openxmlformats.org/officeDocument/2006/relationships/slide" Target="/ppt/slides/slide2.xml" Id="Rca50b765115f4d80" /><Relationship Type="http://schemas.openxmlformats.org/officeDocument/2006/relationships/slide" Target="/ppt/slides/slide3.xml" Id="Rdf51e73472f14c22" /><Relationship Type="http://schemas.openxmlformats.org/officeDocument/2006/relationships/slide" Target="/ppt/slides/slide4.xml" Id="R95a5f10137d04b62" /><Relationship Type="http://schemas.openxmlformats.org/officeDocument/2006/relationships/slide" Target="/ppt/slides/slide5.xml" Id="R8e4f42139f604aef" /><Relationship Type="http://schemas.openxmlformats.org/officeDocument/2006/relationships/slide" Target="/ppt/slides/slide6.xml" Id="R699c0d81f4184597" /><Relationship Type="http://schemas.openxmlformats.org/officeDocument/2006/relationships/slide" Target="/ppt/slides/slide7.xml" Id="Red6c715c929c4328" /><Relationship Type="http://schemas.openxmlformats.org/officeDocument/2006/relationships/slide" Target="/ppt/slides/slide8.xml" Id="Rb6bc1d17b4d0475c" /><Relationship Type="http://schemas.openxmlformats.org/officeDocument/2006/relationships/slide" Target="/ppt/slides/slide9.xml" Id="Rfb7e62c37bd64715" /><Relationship Type="http://schemas.openxmlformats.org/officeDocument/2006/relationships/slide" Target="/ppt/slides/slide10.xml" Id="Re25ca715cfc64407" /><Relationship Type="http://schemas.openxmlformats.org/officeDocument/2006/relationships/slide" Target="/ppt/slides/slide11.xml" Id="R5ace090656fc4aa7" /><Relationship Type="http://schemas.openxmlformats.org/officeDocument/2006/relationships/slide" Target="/ppt/slides/slide12.xml" Id="Rdbce08fc819542f5" /><Relationship Type="http://schemas.openxmlformats.org/officeDocument/2006/relationships/slide" Target="/ppt/slides/slide13.xml" Id="R62d2bb6f40e548c7" /><Relationship Type="http://schemas.openxmlformats.org/officeDocument/2006/relationships/slide" Target="/ppt/slides/slide14.xml" Id="R2824e537b9734b40" /><Relationship Type="http://schemas.openxmlformats.org/officeDocument/2006/relationships/slide" Target="/ppt/slides/slide15.xml" Id="Raa09e89213a343bf" /><Relationship Type="http://schemas.openxmlformats.org/officeDocument/2006/relationships/slide" Target="/ppt/slides/slide16.xml" Id="R5a9fe325c5e04429" /><Relationship Type="http://schemas.openxmlformats.org/officeDocument/2006/relationships/slide" Target="/ppt/slides/slide17.xml" Id="R7d49967f811a4015" /><Relationship Type="http://schemas.openxmlformats.org/officeDocument/2006/relationships/slide" Target="/ppt/slides/slide18.xml" Id="R0ea4fa587455442c" /><Relationship Type="http://schemas.openxmlformats.org/officeDocument/2006/relationships/slide" Target="/ppt/slides/slide19.xml" Id="R2f26fb032b30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949f1efdb4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b67e7712f4e75" /><Relationship Type="http://schemas.openxmlformats.org/officeDocument/2006/relationships/notesMaster" Target="/ppt/notesMasters/notesMaster1.xml" Id="R0c4c1ac82a0f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2327a990f4136" /><Relationship Type="http://schemas.openxmlformats.org/officeDocument/2006/relationships/notesMaster" Target="/ppt/notesMasters/notesMaster1.xml" Id="R7824e5227f2e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b23b90310f4cb5" /><Relationship Type="http://schemas.openxmlformats.org/officeDocument/2006/relationships/notesMaster" Target="/ppt/notesMasters/notesMaster1.xml" Id="Rb4e4ddfafd9d49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090b498324de3" /><Relationship Type="http://schemas.openxmlformats.org/officeDocument/2006/relationships/notesMaster" Target="/ppt/notesMasters/notesMaster1.xml" Id="Rfe1536443875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c3b4608a64dbc" /><Relationship Type="http://schemas.openxmlformats.org/officeDocument/2006/relationships/notesMaster" Target="/ppt/notesMasters/notesMaster1.xml" Id="R5a72c9bfc86146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4d80f161a4449" /><Relationship Type="http://schemas.openxmlformats.org/officeDocument/2006/relationships/notesMaster" Target="/ppt/notesMasters/notesMaster1.xml" Id="Rc81550752a8d48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78bd1efe24a28" /><Relationship Type="http://schemas.openxmlformats.org/officeDocument/2006/relationships/notesMaster" Target="/ppt/notesMasters/notesMaster1.xml" Id="Rdc88af3d62ac46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c1ce29c5d4d31" /><Relationship Type="http://schemas.openxmlformats.org/officeDocument/2006/relationships/notesMaster" Target="/ppt/notesMasters/notesMaster1.xml" Id="R5afab787c398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2b9a3b95854a5a" /><Relationship Type="http://schemas.openxmlformats.org/officeDocument/2006/relationships/notesMaster" Target="/ppt/notesMasters/notesMaster1.xml" Id="R0fa11ab223ec4a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45ad6cbbe1408e" /><Relationship Type="http://schemas.openxmlformats.org/officeDocument/2006/relationships/notesMaster" Target="/ppt/notesMasters/notesMaster1.xml" Id="Rfe1d2879d57846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3778aa8cca4005" /><Relationship Type="http://schemas.openxmlformats.org/officeDocument/2006/relationships/notesMaster" Target="/ppt/notesMasters/notesMaster1.xml" Id="R9fe9a6217c5f48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bd703ccd9f42f6" /><Relationship Type="http://schemas.openxmlformats.org/officeDocument/2006/relationships/notesMaster" Target="/ppt/notesMasters/notesMaster1.xml" Id="Re577e2643b0140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3545c5f35c4a94" /><Relationship Type="http://schemas.openxmlformats.org/officeDocument/2006/relationships/notesMaster" Target="/ppt/notesMasters/notesMaster1.xml" Id="R2c30ff6d52434e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0f5c38e3114c54" /><Relationship Type="http://schemas.openxmlformats.org/officeDocument/2006/relationships/notesMaster" Target="/ppt/notesMasters/notesMaster1.xml" Id="R8bb26a98fb9340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7aed51e07e4ff9" /><Relationship Type="http://schemas.openxmlformats.org/officeDocument/2006/relationships/notesMaster" Target="/ppt/notesMasters/notesMaster1.xml" Id="R6dd17945304f4d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35f3aac3004876" /><Relationship Type="http://schemas.openxmlformats.org/officeDocument/2006/relationships/notesMaster" Target="/ppt/notesMasters/notesMaster1.xml" Id="Rfd55060f4bba48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b3de326bf740c9" /><Relationship Type="http://schemas.openxmlformats.org/officeDocument/2006/relationships/notesMaster" Target="/ppt/notesMasters/notesMaster1.xml" Id="Rdff4edfe4f6d45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8779d80e5e45ee" /><Relationship Type="http://schemas.openxmlformats.org/officeDocument/2006/relationships/notesMaster" Target="/ppt/notesMasters/notesMaster1.xml" Id="R1c60890ef18946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57f876caf54911" /><Relationship Type="http://schemas.openxmlformats.org/officeDocument/2006/relationships/notesMaster" Target="/ppt/notesMasters/notesMaster1.xml" Id="R62e917fce142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 (replicated Qwen M1)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documentation/94–98 (measurement remediation)</a:t>
            </a:r>
          </a:p>
          <a:p xmlns:a="http://schemas.openxmlformats.org/drawingml/2006/main">
            <a:r>
              <a:t>- documentation/127 (Qwen M1)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documentation/Expose.pdf</a:t>
            </a:r>
          </a:p>
          <a:p xmlns:a="http://schemas.openxmlformats.org/drawingml/2006/main">
            <a:r>
              <a:t>- documentation/133–136 (frozen M2/M3 contract and result)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documentation/133_QWEN_M2_M3 plan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documentation/94–98 (frozen hard evaluation and controls)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documentation/127–128 (SmolLM frozen comparison and remediation)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 (cross-family screen)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 (replicated 2,500-fact Qwen M1 selection)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documentation/132–135 (pre-M2 readiness and contract freeze)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 and documentation/135_QWEN_M2_M3_CONTRACT_AND_MATERIALIZATION_STATUS.md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transfer-vs-relearning/configs/experiments/qwen_m2_m3_contract_v1.json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documentation/134 (frozen bilingual and generic-PPL M1 baselines)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transfer-vs-relearning/configs/experiments/qwen_m2_m3_contract_v1.json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transfer-vs-relearning/src/transfer_vs_relearning/data/qwen_pre_m2.py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transfer-vs-relearning/configs/experiments/qwen_m2_m3_contract_v1.json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bda9afee0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657abcec74f64" /><Relationship Type="http://schemas.openxmlformats.org/officeDocument/2006/relationships/slideLayout" Target="/ppt/slideLayouts/slideLayout1.xml" Id="R28341260609e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41260609e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e19e7b534842" /><Relationship Type="http://schemas.openxmlformats.org/officeDocument/2006/relationships/notesSlide" Target="/ppt/notesSlides/notesSlide1.xml" Id="R1f34cfcd1f1d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da0e890ef4b50" /><Relationship Type="http://schemas.openxmlformats.org/officeDocument/2006/relationships/notesSlide" Target="/ppt/notesSlides/notesSlide2.xml" Id="R54b681a2035243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fb3998c1746d3" /><Relationship Type="http://schemas.openxmlformats.org/officeDocument/2006/relationships/notesSlide" Target="/ppt/notesSlides/notesSlide3.xml" Id="Rfe9a24a20056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2f70e58b4cb9" /><Relationship Type="http://schemas.openxmlformats.org/officeDocument/2006/relationships/notesSlide" Target="/ppt/notesSlides/notesSlide4.xml" Id="Re83bf6f6d36f4f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8f42a80044e09" /><Relationship Type="http://schemas.openxmlformats.org/officeDocument/2006/relationships/notesSlide" Target="/ppt/notesSlides/notesSlide5.xml" Id="R34962f25a284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cacb0ec2a466d" /><Relationship Type="http://schemas.openxmlformats.org/officeDocument/2006/relationships/notesSlide" Target="/ppt/notesSlides/notesSlide6.xml" Id="R91592dadffe5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0bfcc82f45dd" /><Relationship Type="http://schemas.openxmlformats.org/officeDocument/2006/relationships/chart" Target="/ppt/slides/charts/chart1.xml" Id="Rbb3bb6449ddf4433" /><Relationship Type="http://schemas.openxmlformats.org/officeDocument/2006/relationships/notesSlide" Target="/ppt/notesSlides/notesSlide7.xml" Id="R8e7e7ae99e4c47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21f6ef5284438" /><Relationship Type="http://schemas.openxmlformats.org/officeDocument/2006/relationships/notesSlide" Target="/ppt/notesSlides/notesSlide8.xml" Id="Re0edd7c9383c40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18ec340254916" /><Relationship Type="http://schemas.openxmlformats.org/officeDocument/2006/relationships/notesSlide" Target="/ppt/notesSlides/notesSlide9.xml" Id="R9cba3ed8753f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d7173a324243" /><Relationship Type="http://schemas.openxmlformats.org/officeDocument/2006/relationships/notesSlide" Target="/ppt/notesSlides/notesSlide10.xml" Id="Rc51eb11809f349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b7371ed3b4b57" /><Relationship Type="http://schemas.openxmlformats.org/officeDocument/2006/relationships/notesSlide" Target="/ppt/notesSlides/notesSlide11.xml" Id="R94a8e5e18d6944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4ad78790b4bf2" /><Relationship Type="http://schemas.openxmlformats.org/officeDocument/2006/relationships/notesSlide" Target="/ppt/notesSlides/notesSlide12.xml" Id="Rac65045f4add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6fac5db864afb" /><Relationship Type="http://schemas.openxmlformats.org/officeDocument/2006/relationships/notesSlide" Target="/ppt/notesSlides/notesSlide13.xml" Id="R96101f0683904a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4000cba414b5c" /><Relationship Type="http://schemas.openxmlformats.org/officeDocument/2006/relationships/chart" Target="/ppt/slides/charts/chart2.xml" Id="Rb7cf65efde344059" /><Relationship Type="http://schemas.openxmlformats.org/officeDocument/2006/relationships/notesSlide" Target="/ppt/notesSlides/notesSlide14.xml" Id="Re77856976fcb4c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63834b8734ec7" /><Relationship Type="http://schemas.openxmlformats.org/officeDocument/2006/relationships/notesSlide" Target="/ppt/notesSlides/notesSlide15.xml" Id="R5feaba3aca384a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53b28c17b41ee" /><Relationship Type="http://schemas.openxmlformats.org/officeDocument/2006/relationships/notesSlide" Target="/ppt/notesSlides/notesSlide16.xml" Id="Rc1ff4e489f3649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e15e6b6674eb0" /><Relationship Type="http://schemas.openxmlformats.org/officeDocument/2006/relationships/notesSlide" Target="/ppt/notesSlides/notesSlide17.xml" Id="R09974623b71240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dd3dd99a4399" /><Relationship Type="http://schemas.openxmlformats.org/officeDocument/2006/relationships/notesSlide" Target="/ppt/notesSlides/notesSlide18.xml" Id="Ra31bfd1bb2fc43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5b1f08b134e58" /><Relationship Type="http://schemas.openxmlformats.org/officeDocument/2006/relationships/notesSlide" Target="/ppt/notesSlides/notesSlide19.xml" Id="Rf6bc2e4209904c9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Eight-cell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From robust English acquisition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to a diagnostic M2/M3 result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the completed causal family establishes—and what still requires measurement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Thesis progress discussion  ·  August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Qwen M1 replication · M2/M3 v1 evidence · staged next decision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SINCE THE LAST UPDATE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first causal family is complete—and the next bottleneck is clear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Validated foundation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Hard-form testing overturned the apparent SmolLM solution; Qwen then replicated at 2,500 facts.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Controlled execution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Two M2-clean/M3-fact sibling chains completed at one fixed endpoint and passed integrity review.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Decision, not dead end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M2 reduced Turkish-prompt access; M3 recovered little; a missing adaptation check now determines the redesign.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valid negative/inconclusive v1 result now gives us a precise diagnostic path—not a finished thesis and not a failed project.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WHY M2/M3 MATTERS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Sibling arms separate transfer from factual re-exposure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Transfer question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After clean Turkish adaptation, can the model access an English-learned fact without seeing the fact again?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Relearning question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When correct Turkish facts are repeated, do they add benefit beyond the matched clean-adaptation arm?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Causal identification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Sibling starts, equal budgets and the Branch A/B contrast isolate factual re-exposure from generic adaptation.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Without this matched design, any Turkish gain could be generic adaptation, factual repetition—or both.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MEASUREMENT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Exact storage does not guarantee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One fact  →  multiple unseen retrieval conditions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evaluator became progressively harder before M2/M3 was allowed.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Can the model complete the canonical fact string?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storage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forms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Forms A–D under direct and QA scaffolds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prompt transfer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Binding + retention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Forced choice, PPL, generic outputs, intrusion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interpretation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 fact is robust only when it survives every required form/scaffold cell—not when one familiar prompt succeeds.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hard evaluation, counterbalance, relation binding and PPL controls; reports 94–98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AT 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stored every fact, but robust access plateaued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final gate required eight-cell robustness across Forms A–D × direct/QA, globally and per relation.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100%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Best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55.8%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≥70%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Eight-cell robust: 39.6% control · 52.2% contrastive · 50.4% higher λ · 55.8% prompt consistency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Contrastive and consistency objectives helped—but did not make SmolLM eligible for M2/M3.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and remediation results; reports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MODEL-FAMILY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Only Qwen could be repaired to pass every robustness gate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3bb6449ddf4433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1.461×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initial Qwen PPL ratio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families passed all gates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After retention repair, Qwen achieved near-ceiling held-out robustness and relation binding.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Decision: carry Qwen forward after repair—and stop model fishing.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report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QWEN AT 2,500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Qwen passed the 2,500-fact M1 gate in both seeds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frozen rule selected the earliest checkpoint passing exact, hard, robust, binding, PPL and integrity gates.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 · step 75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96.08%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· exact 99.96% · PPL ×1.082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↔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 · step 50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96.20%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robust · exact 99.68% · PPL ×1.032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500 subjects · 2,500 facts · 20,000 hard probes per seed · Forms A–D × direct/QA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became the sole replicated intermediate-scale M1 candidate and both artifacts were frozen.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Replicated Qwen scale result and artifact freeze; report 127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PRE-M2 READINESS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Pre-M2 measurements were frozen before training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Three answer directions measure different mechanisms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Directions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EN→EN: English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TR→EN: cross-lingual factual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TR→TR: access plus Turkish lexicalization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Surface and scoring controls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 A–D · direct/QA · candidate ranking · robust intersection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Frozen package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60k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probes / M1 seed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2,000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subject bootstraps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EN + TR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generic PPL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Pre-adaptation guardrails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Reload both frozen M1 artifacts · audit Turkish contamination · freeze endpoint, aliases, estimand and gates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Bilingual baseline and contract freeze; reports 132–135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EVALUATION LOGIC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mechanism requires three separate measurements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Language adaptation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Did M2 improve general Turkish modeling? Held-out Turkish PPL or LM loss is the manipulation check.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Cross-lingual access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What changed from M1 to M2 on TR→EN while no target fact was repeated?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Factual re-exposure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Does Branch B gain more than Branch A in M3 relative to M2 under the fixed endpoint?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factual suite was complete; the post-training language-adaptation check was not reported.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EXECUTION AND INTEGRITY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All four runs used one precommitted endpoint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Training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Four sibling runs: M2-clean and M3-fact for seed 42 and seed 43; all start from their matching frozen M1.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All four completed 128 updates · fixed checkpoint-128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Endpoint evaluation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slices per state × 2,500 probes; all required forms, scaffolds and directions.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96 / 96 slices · 240,000 M2/M3 endpoint probes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Independent verification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Raw manifests, registry membership, hashes, bootstrap logic and gate were checked read-only.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PASS WITH CONCERNS · no blocker or major issue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 checkpoint, seed, threshold or primary metric was selected after seeing the result.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Execution, independent review and retention freeze; reports 136, 140a and 143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BEFORE TURKISH ADAPTATION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already exposed substantial cross-lingual factual access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M1 seed 42 · step 75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EN→EN 99.29% · TR→EN 52.03%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End-to-end Turkish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TR→TR 29.05%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EN PPL 15.909 · TR PPL 17.349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Cross-lingual access existed before any Turkish adaptation stage.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M1 seed 43 · step 50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EN→EN 99.24%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TR→EN 52.52%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TR→TR 30.12%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EN PPL 15.170 · TR PPL 15.741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two seeds provide nearly identical factual starting points for the causal family.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M2 therefore had both headroom to improve Turkish access—and existing access to preserve.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bilingual/PPL M1 baselines; report 134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M2-clean reduced Turkish-prompt access; M3 recovered little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cf65efde344059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−18.8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 in both seeds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+1.9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 in both seeds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dominant effect is broad Turkish-prompt factual-access degradation after M2-clean.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M3-fact is consistently higher than M2-clean, but remains far below the M1 baseline.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and paired contrasts; reports 136 and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FROZEN PRIMARY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Branch-specific effect replicated in only one seed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Primary interaction = (M3 − M2)Branch B − (M3 − M2)Branch A on TR→EN; both seeds had to exclude zero.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+0.25 pp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95% CI −0.51 to +1.01 · FAIL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+1.35 pp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95% CI +0.51 to +2.18 · PASS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Operational validity passed · EN→EN retention guardrail passed · no post-hoc gate change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Overall frozen decision: primary criterion not met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gate and independent raw-data reproduction; reports 136 and 140a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WHAT FAILED—AND WHAT DID NOT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Execution was valid; the primary replication failed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Execution held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Matched budgets, sibling starts, 96/96 slices, fixed endpoint, integrity and retention gates all passed.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Primary evidence failed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 interaction excluded zero in seed 43 but not seed 42; the two-seed rule was not met.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Interpretation remains open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We still cannot distinguish Turkish learning with interference from an insufficient M2 adaptation.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Therefore v1 is a valid negative/inconclusive family—not an infrastructure failure or a final thesis verdict.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CRITICAL MANIPULATION CHECK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Did M2 learn Turkish? The answer changes the mechanism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If TR PPL improves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Language adaptation worked; the factual decline becomes evidence of interference or access disruption.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If TR PPL is flat/worse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M2 manipulation was insufficient; transfer was not cleanly tested and the recipe needs calibration.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Corpus-dose caveat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Training used a 1.05M-token stored-order prefix; document coverage and representativeness need audit.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Evaluate frozen PPL and checkpoint curves before designing any new training family.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IMMEDIATE NEXT ACTION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Close the measurement gap before launching more training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Read-only diagnostic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Evaluate M1/M2/M3 × seeds 42/43 on the same held-out Turkish and English PPL sets.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Add checkpoint-32/64/96/128 curves and audit exact document/token coverage.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Decision after evidence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 PPL improves → retention-preserving M2-v2.
TR PPL is flat/worse → dose, LR and sampling calibration.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Keep factual TR outcomes blind during recipe selection; use them only in the confirmatory family.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Launch boundary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No 25,000-fact scale-up and no new M2/M3 family until the diagnostic selects the scientific branch.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Proposed amendment from the frozen v1 contract and delayed secondary-outcome completion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SUPERVISOR 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next step is staged—not a blind rerun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Current claim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The 2,500-fact v1 family is valid and negative/inconclusive: M2 hurt access; M3 recovered only a little.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Preserve it as the current result; do not rewrite its endpoint, seed rule or gate.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Proposed amendment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Authorize the PPL/checkpoint/corpus audit, then freeze either M2 calibration or a retention-preserving v2.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Optional M3-lexical can separate factual binding from name and lexical familiarity.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Discussion with Max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Should the missing M2 manipulation check determine the next experiment—and should 25k wait?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Decision proposal; frozen v1 evidence remains in reports 136, 138, 140a, 142 and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2026-08-04T19:56:24.3540000Z</dcterms:created>
  <dcterms:modified xsi:type="dcterms:W3CDTF">2026-08-04T19:56:24.3540000Z</dcterms:modified>
</coreProperties>
</file>