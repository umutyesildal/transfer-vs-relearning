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d93b87b187f431d" /><Relationship Type="http://schemas.openxmlformats.org/officeDocument/2006/relationships/extended-properties" Target="/docProps/app.xml" Id="R23750102ce5c4e2d" /><Relationship Type="http://schemas.openxmlformats.org/officeDocument/2006/relationships/officeDocument" Target="/ppt/presentation.xml" Id="R2ad314f305eb462e" /></Relationships>
</file>

<file path=ppt/presentation.xml><?xml version="1.0" encoding="utf-8"?>
<p:presentation xmlns:p="http://schemas.openxmlformats.org/presentationml/2006/main">
  <p:sldMasterIdLst>
    <p:sldMasterId xmlns:r="http://schemas.openxmlformats.org/officeDocument/2006/relationships" id="2147483648" r:id="R4a0bbca01dac4bba"/>
  </p:sldMasterIdLst>
  <p:notesMasterIdLst>
    <p:notesMasterId xmlns:r="http://schemas.openxmlformats.org/officeDocument/2006/relationships" r:id="R9d8dfde1b2ba4b27"/>
  </p:notesMasterIdLst>
  <p:sldIdLst>
    <p:sldId xmlns:r="http://schemas.openxmlformats.org/officeDocument/2006/relationships" id="256" r:id="R3ecd17f3e8eb4ca1"/>
    <p:sldId xmlns:r="http://schemas.openxmlformats.org/officeDocument/2006/relationships" id="257" r:id="Ra054b286b715435b"/>
    <p:sldId xmlns:r="http://schemas.openxmlformats.org/officeDocument/2006/relationships" id="258" r:id="R5485debf02cf4004"/>
    <p:sldId xmlns:r="http://schemas.openxmlformats.org/officeDocument/2006/relationships" id="259" r:id="R7f7fd29e14fd418a"/>
    <p:sldId xmlns:r="http://schemas.openxmlformats.org/officeDocument/2006/relationships" id="260" r:id="R63c7b0477a9b4dc5"/>
    <p:sldId xmlns:r="http://schemas.openxmlformats.org/officeDocument/2006/relationships" id="261" r:id="R460d1768a226456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4f8e4a778954a0e" /><Relationship Type="http://schemas.openxmlformats.org/officeDocument/2006/relationships/slideMaster" Target="/ppt/slideMasters/slideMaster1.xml" Id="R4a0bbca01dac4bba" /><Relationship Type="http://schemas.openxmlformats.org/officeDocument/2006/relationships/notesMaster" Target="/ppt/notesMasters/notesMaster1.xml" Id="R9d8dfde1b2ba4b27" /><Relationship Type="http://schemas.openxmlformats.org/officeDocument/2006/relationships/presProps" Target="/ppt/presProps.xml" Id="R06fd412b4bef4dac" /><Relationship Type="http://schemas.openxmlformats.org/officeDocument/2006/relationships/tableStyles" Target="/ppt/tableStyles.xml" Id="Rf381e094c71a4d70" /><Relationship Type="http://schemas.openxmlformats.org/officeDocument/2006/relationships/slide" Target="/ppt/slides/slide1.xml" Id="R3ecd17f3e8eb4ca1" /><Relationship Type="http://schemas.openxmlformats.org/officeDocument/2006/relationships/slide" Target="/ppt/slides/slide2.xml" Id="Ra054b286b715435b" /><Relationship Type="http://schemas.openxmlformats.org/officeDocument/2006/relationships/slide" Target="/ppt/slides/slide3.xml" Id="R5485debf02cf4004" /><Relationship Type="http://schemas.openxmlformats.org/officeDocument/2006/relationships/slide" Target="/ppt/slides/slide4.xml" Id="R7f7fd29e14fd418a" /><Relationship Type="http://schemas.openxmlformats.org/officeDocument/2006/relationships/slide" Target="/ppt/slides/slide5.xml" Id="R63c7b0477a9b4dc5" /><Relationship Type="http://schemas.openxmlformats.org/officeDocument/2006/relationships/slide" Target="/ppt/slides/slide6.xml" Id="R460d1768a226456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a15a8e05e7c422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3efc0900bb8421b" /><Relationship Type="http://schemas.openxmlformats.org/officeDocument/2006/relationships/notesMaster" Target="/ppt/notesMasters/notesMaster1.xml" Id="R2dd34296967849f5" /></Relationships>
</file>

<file path=ppt/notesSlides/_rels/notesSlide2.xml.rels>&#65279;<?xml version="1.0" encoding="utf-8"?><Relationships xmlns="http://schemas.openxmlformats.org/package/2006/relationships"><Relationship Type="http://schemas.openxmlformats.org/officeDocument/2006/relationships/slide" Target="/ppt/slides/slide2.xml" Id="R2024c65b8dcd4775" /><Relationship Type="http://schemas.openxmlformats.org/officeDocument/2006/relationships/notesMaster" Target="/ppt/notesMasters/notesMaster1.xml" Id="R652737cc626945a5" /></Relationships>
</file>

<file path=ppt/notesSlides/_rels/notesSlide3.xml.rels>&#65279;<?xml version="1.0" encoding="utf-8"?><Relationships xmlns="http://schemas.openxmlformats.org/package/2006/relationships"><Relationship Type="http://schemas.openxmlformats.org/officeDocument/2006/relationships/slide" Target="/ppt/slides/slide3.xml" Id="R13baefc3a5d0433e" /><Relationship Type="http://schemas.openxmlformats.org/officeDocument/2006/relationships/notesMaster" Target="/ppt/notesMasters/notesMaster1.xml" Id="R08105c413e61415e" /></Relationships>
</file>

<file path=ppt/notesSlides/_rels/notesSlide4.xml.rels>&#65279;<?xml version="1.0" encoding="utf-8"?><Relationships xmlns="http://schemas.openxmlformats.org/package/2006/relationships"><Relationship Type="http://schemas.openxmlformats.org/officeDocument/2006/relationships/slide" Target="/ppt/slides/slide4.xml" Id="R51f350922ba54551" /><Relationship Type="http://schemas.openxmlformats.org/officeDocument/2006/relationships/notesMaster" Target="/ppt/notesMasters/notesMaster1.xml" Id="Rf0ef6d4b8e0142ac" /></Relationships>
</file>

<file path=ppt/notesSlides/_rels/notesSlide5.xml.rels>&#65279;<?xml version="1.0" encoding="utf-8"?><Relationships xmlns="http://schemas.openxmlformats.org/package/2006/relationships"><Relationship Type="http://schemas.openxmlformats.org/officeDocument/2006/relationships/slide" Target="/ppt/slides/slide5.xml" Id="Rb343edb0098c4cd4" /><Relationship Type="http://schemas.openxmlformats.org/officeDocument/2006/relationships/notesMaster" Target="/ppt/notesMasters/notesMaster1.xml" Id="R0f442a6a78c140a6" /></Relationships>
</file>

<file path=ppt/notesSlides/_rels/notesSlide6.xml.rels>&#65279;<?xml version="1.0" encoding="utf-8"?><Relationships xmlns="http://schemas.openxmlformats.org/package/2006/relationships"><Relationship Type="http://schemas.openxmlformats.org/officeDocument/2006/relationships/slide" Target="/ppt/slides/slide6.xml" Id="Rfc7d337761954598" /><Relationship Type="http://schemas.openxmlformats.org/officeDocument/2006/relationships/notesMaster" Target="/ppt/notesMasters/notesMaster1.xml" Id="Re4b21383bc8e4b2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change in emphasis: the project now has enough M1 evidence to stop broad model search and close the causal Turkish-adaptation experiment.</a:t>
            </a:r>
          </a:p>
          <a:p xmlns:a="http://schemas.openxmlformats.org/drawingml/2006/main">
            <a:r>
              <a:t/>
            </a:r>
          </a:p>
          <a:p xmlns:a="http://schemas.openxmlformats.org/drawingml/2006/main">
            <a:r>
              <a:t>[Sources]</a:t>
            </a:r>
          </a:p>
          <a:p xmlns:a="http://schemas.openxmlformats.org/drawingml/2006/main">
            <a:r>
              <a:t>- Local: documentation/144_SUPERVISOR_FEEDBACK_AND_SCIENTIFIC_REALIGNMENT_TR.md</a:t>
            </a:r>
          </a:p>
          <a:p xmlns:a="http://schemas.openxmlformats.org/drawingml/2006/main">
            <a:r>
              <a:t>- Local: documentation/145_LITERATURE_FIRST_M1_MODEL_AND_TURKISH_ADAPTATION_ROUTE_TR.md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earlier screen was useful because it ruled out the idea that exact memorization alone is enough. SmolLM retained English but generalized poorly; stronger robust access came with much larger retention cost.</a:t>
            </a:r>
          </a:p>
          <a:p xmlns:a="http://schemas.openxmlformats.org/drawingml/2006/main">
            <a:r>
              <a:t/>
            </a:r>
          </a:p>
          <a:p xmlns:a="http://schemas.openxmlformats.org/drawingml/2006/main">
            <a:r>
              <a:t>[Sources]</a:t>
            </a:r>
          </a:p>
          <a:p xmlns:a="http://schemas.openxmlformats.org/drawingml/2006/main">
            <a:r>
              <a:t>- Local: documentation/106_M1_CROSS_FAMILY_MODEL_SCREENING_RESULT.md</a:t>
            </a:r>
          </a:p>
          <a:p xmlns:a="http://schemas.openxmlformats.org/drawingml/2006/main">
            <a:r>
              <a:t>- Local: documentation/130_TR.md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Aggregate hard-suite scores were 97–98%, so the decisive differences are the relation floor and retention. OLMo is not a PASS, but it is the only model worth one precommitted early-stop decision rather than more open-ended recipe search.</a:t>
            </a:r>
          </a:p>
          <a:p xmlns:a="http://schemas.openxmlformats.org/drawingml/2006/main">
            <a:r>
              <a:t/>
            </a:r>
          </a:p>
          <a:p xmlns:a="http://schemas.openxmlformats.org/drawingml/2006/main">
            <a:r>
              <a:t>[Sources]</a:t>
            </a:r>
          </a:p>
          <a:p xmlns:a="http://schemas.openxmlformats.org/drawingml/2006/main">
            <a:r>
              <a:t>- Local: documentation/158_PYTHIA_REPAIR_POST_EXECUTION_AND_THREE_MODEL_GATE_TR.md</a:t>
            </a:r>
          </a:p>
          <a:p xmlns:a="http://schemas.openxmlformats.org/drawingml/2006/main">
            <a:r>
              <a:t>- Local: documentation/160_M1_DOSE_PARETO_OLMO_BF16_EXECUTION_AND_FAMILY_STATUS_TR.md</a:t>
            </a:r>
          </a:p>
          <a:p xmlns:a="http://schemas.openxmlformats.org/drawingml/2006/main">
            <a:r>
              <a:t>- Local: documentation/176_M1_DOSE_PARETO_POST_FALCON_AUDIT_PERSISTENT_RECOVERY_GATE_TR.md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vngrs is not selected because it is clean by assumption. It is selected because it has the strongest combination of precedent, manageable scale, broad domain coverage and auditable source labels. The caveat is precisely why the next stage begins with human inspection.</a:t>
            </a:r>
          </a:p>
          <a:p xmlns:a="http://schemas.openxmlformats.org/drawingml/2006/main">
            <a:r>
              <a:t/>
            </a:r>
          </a:p>
          <a:p xmlns:a="http://schemas.openxmlformats.org/drawingml/2006/main">
            <a:r>
              <a:t>[Sources]</a:t>
            </a:r>
          </a:p>
          <a:p xmlns:a="http://schemas.openxmlformats.org/drawingml/2006/main">
            <a:r>
              <a:t>- https://huggingface.co/datasets/vngrs-ai/vngrs-web-corpus</a:t>
            </a:r>
          </a:p>
          <a:p xmlns:a="http://schemas.openxmlformats.org/drawingml/2006/main">
            <a:r>
              <a:t>- https://arxiv.org/abs/2403.01308</a:t>
            </a:r>
          </a:p>
          <a:p xmlns:a="http://schemas.openxmlformats.org/drawingml/2006/main">
            <a:r>
              <a:t>- https://aclanthology.org/2024.findings-acl.600/</a:t>
            </a:r>
          </a:p>
          <a:p xmlns:a="http://schemas.openxmlformats.org/drawingml/2006/main">
            <a:r>
              <a:t>- https://aclanthology.org/2026.sigturk-1.17/</a:t>
            </a:r>
          </a:p>
          <a:p xmlns:a="http://schemas.openxmlformats.org/drawingml/2006/main">
            <a:r>
              <a:t>- https://huggingface.co/vngrs-ai/Kumru-2B-Base</a:t>
            </a:r>
          </a:p>
          <a:p xmlns:a="http://schemas.openxmlformats.org/drawingml/2006/main">
            <a:r>
              <a:t>- https://aclanthology.org/2024.mrl-1.3/</a:t>
            </a:r>
          </a:p>
          <a:p xmlns:a="http://schemas.openxmlformats.org/drawingml/2006/main">
            <a:r>
              <a:t>- https://huggingface.co/sambanovasystems/SambaLingo-Turkish-Base</a:t>
            </a:r>
          </a:p>
          <a:p xmlns:a="http://schemas.openxmlformats.org/drawingml/2006/main">
            <a:r>
              <a:t>- https://cosmos-ytu.github.io/modernbert-tr-1k/</a:t>
            </a:r>
          </a:p>
          <a:p xmlns:a="http://schemas.openxmlformats.org/drawingml/2006/main">
            <a:r>
              <a:t>- Local: documentation/148_CROSS_LINGUAL_LANGUAGE_ADAPTATION_LITERATURE_MATRIX_TR.md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corpus stage is a scientific gate, not just preprocessing. We must show that the Turkish dose genuinely changes Turkish capability while preserving enough English competence; otherwise a null factual result remains uninterpretable.</a:t>
            </a:r>
          </a:p>
          <a:p xmlns:a="http://schemas.openxmlformats.org/drawingml/2006/main">
            <a:r>
              <a:t/>
            </a:r>
          </a:p>
          <a:p xmlns:a="http://schemas.openxmlformats.org/drawingml/2006/main">
            <a:r>
              <a:t>[Sources]</a:t>
            </a:r>
          </a:p>
          <a:p xmlns:a="http://schemas.openxmlformats.org/drawingml/2006/main">
            <a:r>
              <a:t>- https://huggingface.co/datasets/vngrs-ai/vngrs-web-corpus</a:t>
            </a:r>
          </a:p>
          <a:p xmlns:a="http://schemas.openxmlformats.org/drawingml/2006/main">
            <a:r>
              <a:t>- Local: documentation/145_LITERATURE_FIRST_M1_MODEL_AND_TURKISH_ADAPTATION_ROUTE_TR.md</a:t>
            </a:r>
          </a:p>
          <a:p xmlns:a="http://schemas.openxmlformats.org/drawingml/2006/main">
            <a:r>
              <a:t>- Local: documentation/151bq_VNGRS_CLUSTERED_WINDOW_SAMPLE_DESIGN_AND_EXECUTION_CONTRACT_TR.md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plan is deliberately linear. The main risk is GPU access, not an unresolved scientific decision. The stop rule protects the month from becoming another optimization loop.</a:t>
            </a:r>
          </a:p>
          <a:p xmlns:a="http://schemas.openxmlformats.org/drawingml/2006/main">
            <a:r>
              <a:t/>
            </a:r>
          </a:p>
          <a:p xmlns:a="http://schemas.openxmlformats.org/drawingml/2006/main">
            <a:r>
              <a:t>[Sources]</a:t>
            </a:r>
          </a:p>
          <a:p xmlns:a="http://schemas.openxmlformats.org/drawingml/2006/main">
            <a:r>
              <a:t>- Local: documentation/159_M1_THREE_MODEL_DOSE_PARETO_REMEDIATION_CONTRACT_TR.md</a:t>
            </a:r>
          </a:p>
          <a:p xmlns:a="http://schemas.openxmlformats.org/drawingml/2006/main">
            <a:r>
              <a:t>- Local: documentation/160_M1_DOSE_PARETO_OLMO_BF16_EXECUTION_AND_FAMILY_STATUS_TR.md</a:t>
            </a:r>
          </a:p>
          <a:p xmlns:a="http://schemas.openxmlformats.org/drawingml/2006/main">
            <a:r>
              <a:t>- Local: documentation/145_LITERATURE_FIRST_M1_MODEL_AND_TURKISH_ADAPTATION_ROUTE_TR.md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21774b320db401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fd803add3e64375" /><Relationship Type="http://schemas.openxmlformats.org/officeDocument/2006/relationships/slideLayout" Target="/ppt/slideLayouts/slideLayout1.xml" Id="R10eb5571a28d482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0eb5571a28d482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af9dd82d95a48f5" /><Relationship Type="http://schemas.openxmlformats.org/officeDocument/2006/relationships/notesSlide" Target="/ppt/notesSlides/notesSlide1.xml" Id="R99bc2d70d2e2486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7d9a51e93a64eb4" /><Relationship Type="http://schemas.openxmlformats.org/officeDocument/2006/relationships/chart" Target="/ppt/slides/charts/chart1.xml" Id="R2af39c21d76a4645" /><Relationship Type="http://schemas.openxmlformats.org/officeDocument/2006/relationships/image" Target="/ppt/media/image.png" Id="R93f97a37b9cb407a" /><Relationship Type="http://schemas.openxmlformats.org/officeDocument/2006/relationships/notesSlide" Target="/ppt/notesSlides/notesSlide2.xml" Id="Rb0ef9ce0df574d2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b8e90834bcc4a55" /><Relationship Type="http://schemas.openxmlformats.org/officeDocument/2006/relationships/chart" Target="/ppt/slides/charts/chart2.xml" Id="Rbfb2339c9b4f4439" /><Relationship Type="http://schemas.openxmlformats.org/officeDocument/2006/relationships/image" Target="/ppt/media/image2.png" Id="Raef03ff60e2a4ea6" /><Relationship Type="http://schemas.openxmlformats.org/officeDocument/2006/relationships/notesSlide" Target="/ppt/notesSlides/notesSlide3.xml" Id="R687e759efb0d446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92df3075cdb4a2b" /><Relationship Type="http://schemas.openxmlformats.org/officeDocument/2006/relationships/notesSlide" Target="/ppt/notesSlides/notesSlide4.xml" Id="R37fbd5224444497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3f2a96130e54e74" /><Relationship Type="http://schemas.openxmlformats.org/officeDocument/2006/relationships/image" Target="/ppt/media/image3.png" Id="Rb640594644984fa2" /><Relationship Type="http://schemas.openxmlformats.org/officeDocument/2006/relationships/notesSlide" Target="/ppt/notesSlides/notesSlide5.xml" Id="R8a20dd52e63e451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305633aa6464098" /><Relationship Type="http://schemas.openxmlformats.org/officeDocument/2006/relationships/notesSlide" Target="/ppt/notesSlides/notesSlide6.xml" Id="R09a82c10b5314f5c" /></Relationships>
</file>

<file path=ppt/slides/charts/chart1.xml><?xml version="1.0" encoding="utf-8"?>
<c:chartSpace xmlns:c="http://schemas.openxmlformats.org/drawingml/2006/chart">
  <c:lang val="en-US"/>
  <c:chart>
    <c:plotArea>
      <c:barChart>
        <c:barDir val="col"/>
        <c:varyColors val="0"/>
        <c:ser>
          <c:idx val="0"/>
          <c:order val="0"/>
          <c:tx>
            <c:v>Robust fact access (%)</c:v>
          </c:tx>
          <c:spPr>
            <a:solidFill xmlns:a="http://schemas.openxmlformats.org/drawingml/2006/main">
              <a:srgbClr val="2F66F3"/>
            </a:solidFill>
          </c:spPr>
          <c:cat>
            <c:strLit>
              <c:ptCount val="5"/>
              <c:pt idx="0">
                <c:v>SmolLM2</c:v>
              </c:pt>
              <c:pt idx="1">
                <c:v>Qwen2.5</c:v>
              </c:pt>
              <c:pt idx="2">
                <c:v>StableLM2</c:v>
              </c:pt>
              <c:pt idx="3">
                <c:v>Gemma-2</c:v>
              </c:pt>
              <c:pt idx="4">
                <c:v>Llama-3.2</c:v>
              </c:pt>
            </c:strLit>
          </c:cat>
          <c:val>
            <c:numLit>
              <c:formatCode>General</c:formatCode>
              <c:ptCount val="5"/>
              <c:pt idx="0">
                <c:v>39.6</c:v>
              </c:pt>
              <c:pt idx="1">
                <c:v>99.6</c:v>
              </c:pt>
              <c:pt idx="2">
                <c:v>93.8</c:v>
              </c:pt>
              <c:pt idx="3">
                <c:v>78</c:v>
              </c:pt>
              <c:pt idx="4">
                <c:v>81.4</c:v>
              </c:pt>
            </c:numLit>
          </c:val>
        </c:ser>
        <c:ser>
          <c:idx val="1"/>
          <c:order val="1"/>
          <c:tx>
            <c:v>Retention score (rounded)</c:v>
          </c:tx>
          <c:spPr>
            <a:solidFill xmlns:a="http://schemas.openxmlformats.org/drawingml/2006/main">
              <a:srgbClr val="F28C28"/>
            </a:solidFill>
          </c:spPr>
          <c:cat>
            <c:strLit>
              <c:ptCount val="5"/>
              <c:pt idx="0">
                <c:v>SmolLM2</c:v>
              </c:pt>
              <c:pt idx="1">
                <c:v>Qwen2.5</c:v>
              </c:pt>
              <c:pt idx="2">
                <c:v>StableLM2</c:v>
              </c:pt>
              <c:pt idx="3">
                <c:v>Gemma-2</c:v>
              </c:pt>
              <c:pt idx="4">
                <c:v>Llama-3.2</c:v>
              </c:pt>
            </c:strLit>
          </c:cat>
          <c:val>
            <c:numLit>
              <c:formatCode>General</c:formatCode>
              <c:ptCount val="5"/>
              <c:pt idx="0">
                <c:v>93</c:v>
              </c:pt>
              <c:pt idx="1">
                <c:v>68</c:v>
              </c:pt>
              <c:pt idx="2">
                <c:v>68</c:v>
              </c:pt>
              <c:pt idx="3">
                <c:v>0</c:v>
              </c:pt>
              <c:pt idx="4">
                <c:v>26</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D8D8D2"/>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majorUnit val="25"/>
      </c:valAx>
    </c:plotArea>
    <c:legend>
      <c:legendPos val="b"/>
      <c:overlay val="0"/>
    </c:legend>
    <c:plotVisOnly val="1"/>
  </c:chart>
</c:chartSpace>
</file>

<file path=ppt/slides/charts/chart2.xml><?xml version="1.0" encoding="utf-8"?>
<c:chartSpace xmlns:c="http://schemas.openxmlformats.org/drawingml/2006/chart">
  <c:lang val="en-US"/>
  <c:chart>
    <c:plotArea>
      <c:barChart>
        <c:barDir val="col"/>
        <c:varyColors val="0"/>
        <c:ser>
          <c:idx val="0"/>
          <c:order val="0"/>
          <c:tx>
            <c:v>Hard-suite access (%)</c:v>
          </c:tx>
          <c:spPr>
            <a:solidFill xmlns:a="http://schemas.openxmlformats.org/drawingml/2006/main">
              <a:srgbClr val="2F66F3"/>
            </a:solidFill>
          </c:spPr>
          <c:cat>
            <c:strLit>
              <c:ptCount val="3"/>
              <c:pt idx="0">
                <c:v>OLMo</c:v>
              </c:pt>
              <c:pt idx="1">
                <c:v>Falcon</c:v>
              </c:pt>
              <c:pt idx="2">
                <c:v>Pythia</c:v>
              </c:pt>
            </c:strLit>
          </c:cat>
          <c:val>
            <c:numLit>
              <c:formatCode>General</c:formatCode>
              <c:ptCount val="3"/>
              <c:pt idx="0">
                <c:v>98.275</c:v>
              </c:pt>
              <c:pt idx="1">
                <c:v>97.025</c:v>
              </c:pt>
              <c:pt idx="2">
                <c:v>98.175</c:v>
              </c:pt>
            </c:numLit>
          </c:val>
        </c:ser>
        <c:ser>
          <c:idx val="1"/>
          <c:order val="1"/>
          <c:tx>
            <c:v>Retention score</c:v>
          </c:tx>
          <c:spPr>
            <a:solidFill xmlns:a="http://schemas.openxmlformats.org/drawingml/2006/main">
              <a:srgbClr val="F28C28"/>
            </a:solidFill>
          </c:spPr>
          <c:cat>
            <c:strLit>
              <c:ptCount val="3"/>
              <c:pt idx="0">
                <c:v>OLMo</c:v>
              </c:pt>
              <c:pt idx="1">
                <c:v>Falcon</c:v>
              </c:pt>
              <c:pt idx="2">
                <c:v>Pythia</c:v>
              </c:pt>
            </c:strLit>
          </c:cat>
          <c:val>
            <c:numLit>
              <c:formatCode>General</c:formatCode>
              <c:ptCount val="3"/>
              <c:pt idx="0">
                <c:v>66.2</c:v>
              </c:pt>
              <c:pt idx="1">
                <c:v>9.1</c:v>
              </c:pt>
              <c:pt idx="2">
                <c:v>6.2</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D8D8D2"/>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majorUnit val="25"/>
      </c:valAx>
    </c:plotArea>
    <c:legend>
      <c:legendPos val="b"/>
      <c:overlay val="0"/>
    </c:legend>
    <c:plotVisOnly val="1"/>
  </c:chart>
</c:chartSpace>
</file>

<file path=ppt/slides/slide1.xml><?xml version="1.0" encoding="utf-8"?>
<p:sld xmlns:p="http://schemas.openxmlformats.org/presentationml/2006/main">
  <p:cSld>
    <p:bg>
      <p:bgPr>
        <a:solidFill xmlns:a="http://schemas.openxmlformats.org/drawingml/2006/main">
          <a:srgbClr val="F7F7F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2799A12-CCC3-4488-9CCC-CE13B147AFE5}"/>
              </a:ext>
            </a:extLst>
          </p:cNvPr>
          <p:cNvSpPr>
            <a:spLocks xmlns:a="http://schemas.openxmlformats.org/drawingml/2006/main" noGrp="1"/>
          </p:cNvSpPr>
          <p:nvPr/>
        </p:nvSpPr>
        <p:spPr>
          <a:xfrm xmlns:a="http://schemas.openxmlformats.org/drawingml/2006/main">
            <a:off x="685800" y="51435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F66F3"/>
                </a:solidFill>
              </a:defRPr>
            </a:pPr>
            <a:r>
              <a:rPr sz="975" b="1">
                <a:solidFill>
                  <a:srgbClr val="2F66F3"/>
                </a:solidFill>
              </a:rPr>
              <a:t>THESIS PROGRESS REVIEW</a:t>
            </a:r>
          </a:p>
        </p:txBody>
      </p:sp>
      <p:sp>
        <p:nvSpPr>
          <p:cNvPr id="2" name="">
            <a:extLst xmlns:a="http://schemas.openxmlformats.org/drawingml/2006/main">
              <a:ext uri="{FF2B5EF4-FFF2-40B4-BE49-F238E27FC236}">
                <a16:creationId xmlns:a16="http://schemas.microsoft.com/office/drawing/2014/main" id="{4EDD0629-E35C-48DF-8EFA-8A4FD16DF448}"/>
              </a:ext>
            </a:extLst>
          </p:cNvPr>
          <p:cNvSpPr>
            <a:spLocks xmlns:a="http://schemas.openxmlformats.org/drawingml/2006/main" noGrp="1"/>
          </p:cNvSpPr>
          <p:nvPr/>
        </p:nvSpPr>
        <p:spPr>
          <a:xfrm xmlns:a="http://schemas.openxmlformats.org/drawingml/2006/main">
            <a:off x="685800" y="1428750"/>
            <a:ext cx="7524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500" b="1">
                <a:solidFill>
                  <a:srgbClr val="111111"/>
                </a:solidFill>
              </a:defRPr>
            </a:pPr>
            <a:r>
              <a:rPr sz="4500" b="1">
                <a:solidFill>
                  <a:srgbClr val="111111"/>
                </a:solidFill>
              </a:rPr>
              <a:t>From model screening</a:t>
            </a:r>
          </a:p>
          <a:p xmlns:a="http://schemas.openxmlformats.org/drawingml/2006/main">
            <a:pPr algn="l">
              <a:defRPr sz="4500" b="1">
                <a:solidFill>
                  <a:srgbClr val="111111"/>
                </a:solidFill>
              </a:defRPr>
            </a:pPr>
            <a:r>
              <a:rPr sz="4500" b="1">
                <a:solidFill>
                  <a:srgbClr val="111111"/>
                </a:solidFill>
              </a:rPr>
              <a:t>to the final thesis experiment</a:t>
            </a:r>
          </a:p>
        </p:txBody>
      </p:sp>
      <p:sp>
        <p:nvSpPr>
          <p:cNvPr id="3" name="">
            <a:extLst xmlns:a="http://schemas.openxmlformats.org/drawingml/2006/main">
              <a:ext uri="{FF2B5EF4-FFF2-40B4-BE49-F238E27FC236}">
                <a16:creationId xmlns:a16="http://schemas.microsoft.com/office/drawing/2014/main" id="{8A6E7D07-F5C3-49D2-A85A-192B3E2E6885}"/>
              </a:ext>
            </a:extLst>
          </p:cNvPr>
          <p:cNvSpPr>
            <a:spLocks xmlns:a="http://schemas.openxmlformats.org/drawingml/2006/main" noGrp="1"/>
          </p:cNvSpPr>
          <p:nvPr/>
        </p:nvSpPr>
        <p:spPr>
          <a:xfrm xmlns:a="http://schemas.openxmlformats.org/drawingml/2006/main">
            <a:off x="723900" y="3505200"/>
            <a:ext cx="7429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646464"/>
                </a:solidFill>
              </a:defRPr>
            </a:pPr>
            <a:r>
              <a:rPr sz="1650" b="0">
                <a:solidFill>
                  <a:srgbClr val="646464"/>
                </a:solidFill>
              </a:rPr>
              <a:t>M1 evidence · Turkish corpus decision · one-month closure plan</a:t>
            </a:r>
          </a:p>
        </p:txBody>
      </p:sp>
      <p:sp>
        <p:nvSpPr>
          <p:cNvPr id="4" name="">
            <a:extLst xmlns:a="http://schemas.openxmlformats.org/drawingml/2006/main">
              <a:ext uri="{FF2B5EF4-FFF2-40B4-BE49-F238E27FC236}">
                <a16:creationId xmlns:a16="http://schemas.microsoft.com/office/drawing/2014/main" id="{D6E758CD-88CD-492D-81F5-4494D232DDAE}"/>
              </a:ext>
            </a:extLst>
          </p:cNvPr>
          <p:cNvSpPr>
            <a:spLocks xmlns:a="http://schemas.openxmlformats.org/drawingml/2006/main" noGrp="1"/>
          </p:cNvSpPr>
          <p:nvPr/>
        </p:nvSpPr>
        <p:spPr>
          <a:xfrm xmlns:a="http://schemas.openxmlformats.org/drawingml/2006/main">
            <a:off x="8858250" y="1371600"/>
            <a:ext cx="2381250" cy="2400300"/>
          </a:xfrm>
          <a:prstGeom xmlns:a="http://schemas.openxmlformats.org/drawingml/2006/main" prst="roundRect">
            <a:avLst>
              <a:gd name="adj" fmla="val 4800"/>
            </a:avLst>
          </a:prstGeom>
          <a:solidFill xmlns:a="http://schemas.openxmlformats.org/drawingml/2006/main">
            <a:srgbClr val="111111"/>
          </a:solidFill>
          <a:ln xmlns:a="http://schemas.openxmlformats.org/drawingml/2006/main" w="9525">
            <a:solidFill>
              <a:srgbClr val="111111"/>
            </a:solidFill>
            <a:prstDash val="solid"/>
          </a:ln>
        </p:spPr>
      </p:sp>
      <p:sp>
        <p:nvSpPr>
          <p:cNvPr id="5" name="">
            <a:extLst xmlns:a="http://schemas.openxmlformats.org/drawingml/2006/main">
              <a:ext uri="{FF2B5EF4-FFF2-40B4-BE49-F238E27FC236}">
                <a16:creationId xmlns:a16="http://schemas.microsoft.com/office/drawing/2014/main" id="{ED2A2EEA-FB96-494B-94B1-5710608490FB}"/>
              </a:ext>
            </a:extLst>
          </p:cNvPr>
          <p:cNvSpPr>
            <a:spLocks xmlns:a="http://schemas.openxmlformats.org/drawingml/2006/main" noGrp="1"/>
          </p:cNvSpPr>
          <p:nvPr/>
        </p:nvSpPr>
        <p:spPr>
          <a:xfrm xmlns:a="http://schemas.openxmlformats.org/drawingml/2006/main">
            <a:off x="9239250" y="1657350"/>
            <a:ext cx="161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4350" b="1">
                <a:solidFill>
                  <a:srgbClr val="FFFFFF"/>
                </a:solidFill>
              </a:defRPr>
            </a:pPr>
            <a:r>
              <a:rPr sz="4350" b="1">
                <a:solidFill>
                  <a:srgbClr val="FFFFFF"/>
                </a:solidFill>
              </a:rPr>
              <a:t>01</a:t>
            </a:r>
          </a:p>
        </p:txBody>
      </p:sp>
      <p:sp>
        <p:nvSpPr>
          <p:cNvPr id="6" name="">
            <a:extLst xmlns:a="http://schemas.openxmlformats.org/drawingml/2006/main">
              <a:ext uri="{FF2B5EF4-FFF2-40B4-BE49-F238E27FC236}">
                <a16:creationId xmlns:a16="http://schemas.microsoft.com/office/drawing/2014/main" id="{4343D880-BBA5-4D6A-80FE-036F3966143C}"/>
              </a:ext>
            </a:extLst>
          </p:cNvPr>
          <p:cNvSpPr>
            <a:spLocks xmlns:a="http://schemas.openxmlformats.org/drawingml/2006/main" noGrp="1"/>
          </p:cNvSpPr>
          <p:nvPr/>
        </p:nvSpPr>
        <p:spPr>
          <a:xfrm xmlns:a="http://schemas.openxmlformats.org/drawingml/2006/main">
            <a:off x="9201150" y="2428875"/>
            <a:ext cx="1714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a:solidFill>
                  <a:srgbClr val="FFFFFF"/>
                </a:solidFill>
              </a:defRPr>
            </a:pPr>
            <a:r>
              <a:rPr sz="1800" b="1">
                <a:solidFill>
                  <a:srgbClr val="FFFFFF"/>
                </a:solidFill>
              </a:rPr>
              <a:t>month to a</a:t>
            </a:r>
          </a:p>
          <a:p xmlns:a="http://schemas.openxmlformats.org/drawingml/2006/main">
            <a:pPr algn="ctr">
              <a:defRPr sz="1800" b="1">
                <a:solidFill>
                  <a:srgbClr val="FFFFFF"/>
                </a:solidFill>
              </a:defRPr>
            </a:pPr>
            <a:r>
              <a:rPr sz="1800" b="1">
                <a:solidFill>
                  <a:srgbClr val="FFFFFF"/>
                </a:solidFill>
              </a:rPr>
              <a:t>decision-complete</a:t>
            </a:r>
          </a:p>
          <a:p xmlns:a="http://schemas.openxmlformats.org/drawingml/2006/main">
            <a:pPr algn="ctr">
              <a:defRPr sz="1800" b="1">
                <a:solidFill>
                  <a:srgbClr val="FFFFFF"/>
                </a:solidFill>
              </a:defRPr>
            </a:pPr>
            <a:r>
              <a:rPr sz="1800" b="1">
                <a:solidFill>
                  <a:srgbClr val="FFFFFF"/>
                </a:solidFill>
              </a:rPr>
              <a:t>thesis</a:t>
            </a:r>
          </a:p>
        </p:txBody>
      </p:sp>
      <p:sp>
        <p:nvSpPr>
          <p:cNvPr id="7" name="">
            <a:extLst xmlns:a="http://schemas.openxmlformats.org/drawingml/2006/main">
              <a:ext uri="{FF2B5EF4-FFF2-40B4-BE49-F238E27FC236}">
                <a16:creationId xmlns:a16="http://schemas.microsoft.com/office/drawing/2014/main" id="{83843CB5-123A-4954-A279-37D50815A5EB}"/>
              </a:ext>
            </a:extLst>
          </p:cNvPr>
          <p:cNvSpPr>
            <a:spLocks xmlns:a="http://schemas.openxmlformats.org/drawingml/2006/main" noGrp="1"/>
          </p:cNvSpPr>
          <p:nvPr/>
        </p:nvSpPr>
        <p:spPr>
          <a:xfrm xmlns:a="http://schemas.openxmlformats.org/drawingml/2006/main">
            <a:off x="685800" y="6019800"/>
            <a:ext cx="10820400" cy="9525"/>
          </a:xfrm>
          <a:prstGeom xmlns:a="http://schemas.openxmlformats.org/drawingml/2006/main" prst="rect">
            <a:avLst/>
          </a:prstGeom>
          <a:solidFill xmlns:a="http://schemas.openxmlformats.org/drawingml/2006/main">
            <a:srgbClr val="D8D8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9D1198E-8DA0-4A56-9186-E71641CE61ED}"/>
              </a:ext>
            </a:extLst>
          </p:cNvPr>
          <p:cNvSpPr>
            <a:spLocks xmlns:a="http://schemas.openxmlformats.org/drawingml/2006/main" noGrp="1"/>
          </p:cNvSpPr>
          <p:nvPr/>
        </p:nvSpPr>
        <p:spPr>
          <a:xfrm xmlns:a="http://schemas.openxmlformats.org/drawingml/2006/main">
            <a:off x="685800" y="619125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646464"/>
                </a:solidFill>
              </a:defRPr>
            </a:pPr>
            <a:r>
              <a:rPr sz="825" b="1">
                <a:solidFill>
                  <a:srgbClr val="646464"/>
                </a:solidFill>
              </a:rPr>
              <a:t>14 AUGUST 2026</a:t>
            </a:r>
          </a:p>
        </p:txBody>
      </p:sp>
      <p:sp>
        <p:nvSpPr>
          <p:cNvPr id="9" name="">
            <a:extLst xmlns:a="http://schemas.openxmlformats.org/drawingml/2006/main">
              <a:ext uri="{FF2B5EF4-FFF2-40B4-BE49-F238E27FC236}">
                <a16:creationId xmlns:a16="http://schemas.microsoft.com/office/drawing/2014/main" id="{138F1679-7AF0-447B-A0DF-C911AD3AFFD8}"/>
              </a:ext>
            </a:extLst>
          </p:cNvPr>
          <p:cNvSpPr>
            <a:spLocks xmlns:a="http://schemas.openxmlformats.org/drawingml/2006/main" noGrp="1"/>
          </p:cNvSpPr>
          <p:nvPr/>
        </p:nvSpPr>
        <p:spPr>
          <a:xfrm xmlns:a="http://schemas.openxmlformats.org/drawingml/2006/main">
            <a:off x="8763000" y="6191250"/>
            <a:ext cx="2743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a:solidFill>
                  <a:srgbClr val="646464"/>
                </a:solidFill>
              </a:defRPr>
            </a:pPr>
            <a:r>
              <a:rPr sz="825" b="1">
                <a:solidFill>
                  <a:srgbClr val="646464"/>
                </a:solidFill>
              </a:rPr>
              <a:t>TRANSFER VS. RELEARNING</a:t>
            </a:r>
          </a:p>
        </p:txBody>
      </p:sp>
    </p:spTree>
    <p:extLst>
      <p:ext uri="{BB962C8B-B14F-4D97-AF65-F5344CB8AC3E}">
        <p14:creationId xmlns:p14="http://schemas.microsoft.com/office/powerpoint/2010/main" val="131111931"/>
      </p:ext>
    </p:extLst>
  </p:cSld>
</p:sld>
</file>

<file path=ppt/slides/slide2.xml><?xml version="1.0" encoding="utf-8"?>
<p:sld xmlns:p="http://schemas.openxmlformats.org/presentationml/2006/main">
  <p:cSld>
    <p:bg>
      <p:bgPr>
        <a:solidFill xmlns:a="http://schemas.openxmlformats.org/drawingml/2006/main">
          <a:srgbClr val="F7F7F5"/>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58A4516-B41E-4E4D-A9BF-30F45BB3E666}"/>
              </a:ext>
            </a:extLst>
          </p:cNvPr>
          <p:cNvSpPr>
            <a:spLocks xmlns:a="http://schemas.openxmlformats.org/drawingml/2006/main" noGrp="1"/>
          </p:cNvSpPr>
          <p:nvPr/>
        </p:nvSpPr>
        <p:spPr>
          <a:xfrm xmlns:a="http://schemas.openxmlformats.org/drawingml/2006/main">
            <a:off x="514350" y="26670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F66F3"/>
                </a:solidFill>
              </a:defRPr>
            </a:pPr>
            <a:r>
              <a:rPr sz="900" b="1">
                <a:solidFill>
                  <a:srgbClr val="2F66F3"/>
                </a:solidFill>
              </a:rPr>
              <a:t>EARLIER M1 SCREENS</a:t>
            </a:r>
          </a:p>
        </p:txBody>
      </p:sp>
      <p:sp>
        <p:nvSpPr>
          <p:cNvPr id="2" name="">
            <a:extLst xmlns:a="http://schemas.openxmlformats.org/drawingml/2006/main">
              <a:ext uri="{FF2B5EF4-FFF2-40B4-BE49-F238E27FC236}">
                <a16:creationId xmlns:a16="http://schemas.microsoft.com/office/drawing/2014/main" id="{919AFB18-3F22-4EDE-A424-0FB644F1518F}"/>
              </a:ext>
            </a:extLst>
          </p:cNvPr>
          <p:cNvSpPr>
            <a:spLocks xmlns:a="http://schemas.openxmlformats.org/drawingml/2006/main" noGrp="1"/>
          </p:cNvSpPr>
          <p:nvPr/>
        </p:nvSpPr>
        <p:spPr>
          <a:xfrm xmlns:a="http://schemas.openxmlformats.org/drawingml/2006/main">
            <a:off x="514350" y="59055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11111"/>
                </a:solidFill>
              </a:defRPr>
            </a:pPr>
            <a:r>
              <a:rPr sz="2850" b="1">
                <a:solidFill>
                  <a:srgbClr val="111111"/>
                </a:solidFill>
              </a:rPr>
              <a:t>Earlier screens show one recurring trade-off</a:t>
            </a:r>
          </a:p>
        </p:txBody>
      </p:sp>
      <p:sp>
        <p:nvSpPr>
          <p:cNvPr id="3" name="">
            <a:extLst xmlns:a="http://schemas.openxmlformats.org/drawingml/2006/main">
              <a:ext uri="{FF2B5EF4-FFF2-40B4-BE49-F238E27FC236}">
                <a16:creationId xmlns:a16="http://schemas.microsoft.com/office/drawing/2014/main" id="{FE0C4129-E21F-4CEF-8B76-54F198191E69}"/>
              </a:ext>
            </a:extLst>
          </p:cNvPr>
          <p:cNvSpPr>
            <a:spLocks xmlns:a="http://schemas.openxmlformats.org/drawingml/2006/main" noGrp="1"/>
          </p:cNvSpPr>
          <p:nvPr/>
        </p:nvSpPr>
        <p:spPr>
          <a:xfrm xmlns:a="http://schemas.openxmlformats.org/drawingml/2006/main">
            <a:off x="514350" y="1104900"/>
            <a:ext cx="1104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46464"/>
                </a:solidFill>
              </a:defRPr>
            </a:pPr>
            <a:r>
              <a:rPr sz="1350" b="0">
                <a:solidFill>
                  <a:srgbClr val="646464"/>
                </a:solidFill>
              </a:rPr>
              <a:t>Paired bars: blue = robust fact access; orange = retention score (100 ÷ PPL ratio). Higher is better.</a:t>
            </a:r>
          </a:p>
        </p:txBody>
      </p:sp>
      <p:sp>
        <p:nvSpPr>
          <p:cNvPr id="4" name="">
            <a:extLst xmlns:a="http://schemas.openxmlformats.org/drawingml/2006/main">
              <a:ext uri="{FF2B5EF4-FFF2-40B4-BE49-F238E27FC236}">
                <a16:creationId xmlns:a16="http://schemas.microsoft.com/office/drawing/2014/main" id="{22B5613C-CD44-4EE1-A887-99F2388D34C2}"/>
              </a:ext>
            </a:extLst>
          </p:cNvPr>
          <p:cNvSpPr>
            <a:spLocks xmlns:a="http://schemas.openxmlformats.org/drawingml/2006/main" noGrp="1"/>
          </p:cNvSpPr>
          <p:nvPr/>
        </p:nvSpPr>
        <p:spPr>
          <a:xfrm xmlns:a="http://schemas.openxmlformats.org/drawingml/2006/main">
            <a:off x="514350" y="6400800"/>
            <a:ext cx="11163300" cy="9525"/>
          </a:xfrm>
          <a:prstGeom xmlns:a="http://schemas.openxmlformats.org/drawingml/2006/main" prst="rect">
            <a:avLst/>
          </a:prstGeom>
          <a:solidFill xmlns:a="http://schemas.openxmlformats.org/drawingml/2006/main">
            <a:srgbClr val="D8D8D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1691E62-6F07-4E94-AF4E-E86F1E6640FE}"/>
              </a:ext>
            </a:extLst>
          </p:cNvPr>
          <p:cNvSpPr>
            <a:spLocks xmlns:a="http://schemas.openxmlformats.org/drawingml/2006/main" noGrp="1"/>
          </p:cNvSpPr>
          <p:nvPr/>
        </p:nvSpPr>
        <p:spPr>
          <a:xfrm xmlns:a="http://schemas.openxmlformats.org/drawingml/2006/main">
            <a:off x="514350" y="6486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646464"/>
                </a:solidFill>
              </a:defRPr>
            </a:pPr>
            <a:r>
              <a:rPr sz="825" b="1">
                <a:solidFill>
                  <a:srgbClr val="646464"/>
                </a:solidFill>
              </a:rPr>
              <a:t>TRANSFER VS. RELEARNING  •  02 / 06</a:t>
            </a:r>
          </a:p>
        </p:txBody>
      </p:sp>
      <p:sp>
        <p:nvSpPr>
          <p:cNvPr id="6" name="">
            <a:extLst xmlns:a="http://schemas.openxmlformats.org/drawingml/2006/main">
              <a:ext uri="{FF2B5EF4-FFF2-40B4-BE49-F238E27FC236}">
                <a16:creationId xmlns:a16="http://schemas.microsoft.com/office/drawing/2014/main" id="{3CD59709-E465-434D-B1C5-93EEFCBD41E9}"/>
              </a:ext>
            </a:extLst>
          </p:cNvPr>
          <p:cNvSpPr>
            <a:spLocks xmlns:a="http://schemas.openxmlformats.org/drawingml/2006/main" noGrp="1"/>
          </p:cNvSpPr>
          <p:nvPr/>
        </p:nvSpPr>
        <p:spPr>
          <a:xfrm xmlns:a="http://schemas.openxmlformats.org/drawingml/2006/main">
            <a:off x="514350" y="1562100"/>
            <a:ext cx="11163300" cy="4038600"/>
          </a:xfrm>
          <a:prstGeom xmlns:a="http://schemas.openxmlformats.org/drawingml/2006/main" prst="roundRect">
            <a:avLst>
              <a:gd name="adj" fmla="val 2830"/>
            </a:avLst>
          </a:prstGeom>
          <a:solidFill xmlns:a="http://schemas.openxmlformats.org/drawingml/2006/main">
            <a:srgbClr val="FFFFFF"/>
          </a:solidFill>
          <a:ln xmlns:a="http://schemas.openxmlformats.org/drawingml/2006/main" w="9525">
            <a:solidFill>
              <a:srgbClr val="D8D8D2"/>
            </a:solidFill>
            <a:prstDash val="solid"/>
          </a:ln>
        </p:spPr>
      </p:sp>
      <p:sp>
        <p:nvSpPr>
          <p:cNvPr id="7" name="">
            <a:extLst xmlns:a="http://schemas.openxmlformats.org/drawingml/2006/main">
              <a:ext uri="{FF2B5EF4-FFF2-40B4-BE49-F238E27FC236}">
                <a16:creationId xmlns:a16="http://schemas.microsoft.com/office/drawing/2014/main" id="{8DE1F74B-E07C-434D-BA5C-3DEF5FBD4895}"/>
              </a:ext>
            </a:extLst>
          </p:cNvPr>
          <p:cNvSpPr>
            <a:spLocks xmlns:a="http://schemas.openxmlformats.org/drawingml/2006/main" noGrp="1"/>
          </p:cNvSpPr>
          <p:nvPr/>
        </p:nvSpPr>
        <p:spPr>
          <a:xfrm xmlns:a="http://schemas.openxmlformats.org/drawingml/2006/main">
            <a:off x="781050" y="17716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46464"/>
                </a:solidFill>
              </a:defRPr>
            </a:pPr>
            <a:r>
              <a:rPr sz="900" b="1">
                <a:solidFill>
                  <a:srgbClr val="646464"/>
                </a:solidFill>
              </a:rPr>
              <a:t>FACT ACCESS VS. RETENTION</a:t>
            </a:r>
          </a:p>
        </p:txBody>
      </p:sp>
      <p:sp>
        <p:nvSpPr>
          <p:cNvPr id="8" name="">
            <a:extLst xmlns:a="http://schemas.openxmlformats.org/drawingml/2006/main">
              <a:ext uri="{FF2B5EF4-FFF2-40B4-BE49-F238E27FC236}">
                <a16:creationId xmlns:a16="http://schemas.microsoft.com/office/drawing/2014/main" id="{84F70978-ED0E-4C31-9F8A-8CC69833155C}"/>
              </a:ext>
            </a:extLst>
          </p:cNvPr>
          <p:cNvSpPr>
            <a:spLocks xmlns:a="http://schemas.openxmlformats.org/drawingml/2006/main" noGrp="1"/>
          </p:cNvSpPr>
          <p:nvPr/>
        </p:nvSpPr>
        <p:spPr>
          <a:xfrm xmlns:a="http://schemas.openxmlformats.org/drawingml/2006/main">
            <a:off x="781050" y="2000250"/>
            <a:ext cx="504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11111"/>
                </a:solidFill>
              </a:defRPr>
            </a:pPr>
            <a:r>
              <a:rPr sz="1800" b="1">
                <a:solidFill>
                  <a:srgbClr val="111111"/>
                </a:solidFill>
              </a:rPr>
              <a:t>Five model families, same 500-fact screen</a:t>
            </a:r>
          </a:p>
        </p:txBody>
      </p:sp>
      <p:graphicFrame>
        <p:nvGraphicFramePr>
          <p:cNvPr id="21" name="Chart"/>
          <p:cNvGraphicFramePr/>
          <p:nvPr/>
        </p:nvGraphicFramePr>
        <p:xfrm>
          <a:off xmlns:a="http://schemas.openxmlformats.org/drawingml/2006/main" x="914400" y="2381250"/>
          <a:ext xmlns:a="http://schemas.openxmlformats.org/drawingml/2006/main" cx="10096500" cy="2647950"/>
        </p:xfrm>
        <a:graphic xmlns:a="http://schemas.openxmlformats.org/drawingml/2006/main">
          <a:graphicData uri="http://schemas.openxmlformats.org/drawingml/2006/chart">
            <c:chart xmlns:r="http://schemas.openxmlformats.org/officeDocument/2006/relationships" xmlns:c="http://schemas.openxmlformats.org/drawingml/2006/chart" r:id="R2af39c21d76a4645"/>
          </a:graphicData>
        </a:graphic>
      </p:graphicFrame>
      <p:sp>
        <p:nvSpPr>
          <p:cNvPr id="10" name="">
            <a:extLst xmlns:a="http://schemas.openxmlformats.org/drawingml/2006/main">
              <a:ext uri="{FF2B5EF4-FFF2-40B4-BE49-F238E27FC236}">
                <a16:creationId xmlns:a16="http://schemas.microsoft.com/office/drawing/2014/main" id="{F6D7E065-D523-4697-BBF4-DD423349606F}"/>
              </a:ext>
            </a:extLst>
          </p:cNvPr>
          <p:cNvSpPr>
            <a:spLocks xmlns:a="http://schemas.openxmlformats.org/drawingml/2006/main" noGrp="1"/>
          </p:cNvSpPr>
          <p:nvPr/>
        </p:nvSpPr>
        <p:spPr>
          <a:xfrm xmlns:a="http://schemas.openxmlformats.org/drawingml/2006/main">
            <a:off x="2247900" y="5753100"/>
            <a:ext cx="7696200" cy="457200"/>
          </a:xfrm>
          <a:prstGeom xmlns:a="http://schemas.openxmlformats.org/drawingml/2006/main" prst="roundRect">
            <a:avLst>
              <a:gd name="adj" fmla="val 25000"/>
            </a:avLst>
          </a:prstGeom>
          <a:solidFill xmlns:a="http://schemas.openxmlformats.org/drawingml/2006/main">
            <a:srgbClr val="111111"/>
          </a:solidFill>
          <a:ln xmlns:a="http://schemas.openxmlformats.org/drawingml/2006/main" w="9525">
            <a:solidFill>
              <a:srgbClr val="111111"/>
            </a:solidFill>
            <a:prstDash val="solid"/>
          </a:ln>
        </p:spPr>
      </p:sp>
      <p:sp>
        <p:nvSpPr>
          <p:cNvPr id="11" name="">
            <a:extLst xmlns:a="http://schemas.openxmlformats.org/drawingml/2006/main">
              <a:ext uri="{FF2B5EF4-FFF2-40B4-BE49-F238E27FC236}">
                <a16:creationId xmlns:a16="http://schemas.microsoft.com/office/drawing/2014/main" id="{CAD170C8-7101-4292-B1CC-E80745719E6E}"/>
              </a:ext>
            </a:extLst>
          </p:cNvPr>
          <p:cNvSpPr>
            <a:spLocks xmlns:a="http://schemas.openxmlformats.org/drawingml/2006/main" noGrp="1"/>
          </p:cNvSpPr>
          <p:nvPr/>
        </p:nvSpPr>
        <p:spPr>
          <a:xfrm xmlns:a="http://schemas.openxmlformats.org/drawingml/2006/main">
            <a:off x="2476500" y="58674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FFFFFF"/>
                </a:solidFill>
              </a:defRPr>
            </a:pPr>
            <a:r>
              <a:rPr sz="1350" b="1">
                <a:solidFill>
                  <a:srgbClr val="FFFFFF"/>
                </a:solidFill>
              </a:rPr>
              <a:t>No family jointly maximized robust access and retention.</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93f97a37b9cb407a"/>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92502131"/>
      </p:ext>
    </p:extLst>
  </p:cSld>
</p:sld>
</file>

<file path=ppt/slides/slide3.xml><?xml version="1.0" encoding="utf-8"?>
<p:sld xmlns:p="http://schemas.openxmlformats.org/presentationml/2006/main">
  <p:cSld>
    <p:bg>
      <p:bgPr>
        <a:solidFill xmlns:a="http://schemas.openxmlformats.org/drawingml/2006/main">
          <a:srgbClr val="F7F7F5"/>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105D3DF-9375-4E38-ADA5-AE99CA3A2AF7}"/>
              </a:ext>
            </a:extLst>
          </p:cNvPr>
          <p:cNvSpPr>
            <a:spLocks xmlns:a="http://schemas.openxmlformats.org/drawingml/2006/main" noGrp="1"/>
          </p:cNvSpPr>
          <p:nvPr/>
        </p:nvSpPr>
        <p:spPr>
          <a:xfrm xmlns:a="http://schemas.openxmlformats.org/drawingml/2006/main">
            <a:off x="514350" y="26670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F66F3"/>
                </a:solidFill>
              </a:defRPr>
            </a:pPr>
            <a:r>
              <a:rPr sz="900" b="1">
                <a:solidFill>
                  <a:srgbClr val="2F66F3"/>
                </a:solidFill>
              </a:rPr>
              <a:t>LAST WEEK</a:t>
            </a:r>
          </a:p>
        </p:txBody>
      </p:sp>
      <p:sp>
        <p:nvSpPr>
          <p:cNvPr id="2" name="">
            <a:extLst xmlns:a="http://schemas.openxmlformats.org/drawingml/2006/main">
              <a:ext uri="{FF2B5EF4-FFF2-40B4-BE49-F238E27FC236}">
                <a16:creationId xmlns:a16="http://schemas.microsoft.com/office/drawing/2014/main" id="{80BB6184-A741-432E-8C12-674E70249DE4}"/>
              </a:ext>
            </a:extLst>
          </p:cNvPr>
          <p:cNvSpPr>
            <a:spLocks xmlns:a="http://schemas.openxmlformats.org/drawingml/2006/main" noGrp="1"/>
          </p:cNvSpPr>
          <p:nvPr/>
        </p:nvSpPr>
        <p:spPr>
          <a:xfrm xmlns:a="http://schemas.openxmlformats.org/drawingml/2006/main">
            <a:off x="514350" y="59055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11111"/>
                </a:solidFill>
              </a:defRPr>
            </a:pPr>
            <a:r>
              <a:rPr sz="2850" b="1">
                <a:solidFill>
                  <a:srgbClr val="111111"/>
                </a:solidFill>
              </a:rPr>
              <a:t>The recent screen isolates OLMo as the retention candidate</a:t>
            </a:r>
          </a:p>
        </p:txBody>
      </p:sp>
      <p:sp>
        <p:nvSpPr>
          <p:cNvPr id="3" name="">
            <a:extLst xmlns:a="http://schemas.openxmlformats.org/drawingml/2006/main">
              <a:ext uri="{FF2B5EF4-FFF2-40B4-BE49-F238E27FC236}">
                <a16:creationId xmlns:a16="http://schemas.microsoft.com/office/drawing/2014/main" id="{F0CB521C-ACA7-4AAA-8C36-218622FB082E}"/>
              </a:ext>
            </a:extLst>
          </p:cNvPr>
          <p:cNvSpPr>
            <a:spLocks xmlns:a="http://schemas.openxmlformats.org/drawingml/2006/main" noGrp="1"/>
          </p:cNvSpPr>
          <p:nvPr/>
        </p:nvSpPr>
        <p:spPr>
          <a:xfrm xmlns:a="http://schemas.openxmlformats.org/drawingml/2006/main">
            <a:off x="514350" y="1104900"/>
            <a:ext cx="1104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46464"/>
                </a:solidFill>
              </a:defRPr>
            </a:pPr>
            <a:r>
              <a:rPr sz="1350" b="0">
                <a:solidFill>
                  <a:srgbClr val="646464"/>
                </a:solidFill>
              </a:rPr>
              <a:t>Blue = aggregate hard-suite access; orange = retention score (100 ÷ PPL ratio). Higher is better.</a:t>
            </a:r>
          </a:p>
        </p:txBody>
      </p:sp>
      <p:sp>
        <p:nvSpPr>
          <p:cNvPr id="4" name="">
            <a:extLst xmlns:a="http://schemas.openxmlformats.org/drawingml/2006/main">
              <a:ext uri="{FF2B5EF4-FFF2-40B4-BE49-F238E27FC236}">
                <a16:creationId xmlns:a16="http://schemas.microsoft.com/office/drawing/2014/main" id="{E0D7BED0-AFE1-4688-B49F-0703C2BF080F}"/>
              </a:ext>
            </a:extLst>
          </p:cNvPr>
          <p:cNvSpPr>
            <a:spLocks xmlns:a="http://schemas.openxmlformats.org/drawingml/2006/main" noGrp="1"/>
          </p:cNvSpPr>
          <p:nvPr/>
        </p:nvSpPr>
        <p:spPr>
          <a:xfrm xmlns:a="http://schemas.openxmlformats.org/drawingml/2006/main">
            <a:off x="514350" y="6400800"/>
            <a:ext cx="11163300" cy="9525"/>
          </a:xfrm>
          <a:prstGeom xmlns:a="http://schemas.openxmlformats.org/drawingml/2006/main" prst="rect">
            <a:avLst/>
          </a:prstGeom>
          <a:solidFill xmlns:a="http://schemas.openxmlformats.org/drawingml/2006/main">
            <a:srgbClr val="D8D8D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575BF94-6B4E-4874-B460-99A3C9376B64}"/>
              </a:ext>
            </a:extLst>
          </p:cNvPr>
          <p:cNvSpPr>
            <a:spLocks xmlns:a="http://schemas.openxmlformats.org/drawingml/2006/main" noGrp="1"/>
          </p:cNvSpPr>
          <p:nvPr/>
        </p:nvSpPr>
        <p:spPr>
          <a:xfrm xmlns:a="http://schemas.openxmlformats.org/drawingml/2006/main">
            <a:off x="514350" y="6486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646464"/>
                </a:solidFill>
              </a:defRPr>
            </a:pPr>
            <a:r>
              <a:rPr sz="825" b="1">
                <a:solidFill>
                  <a:srgbClr val="646464"/>
                </a:solidFill>
              </a:rPr>
              <a:t>TRANSFER VS. RELEARNING  •  03 / 06</a:t>
            </a:r>
          </a:p>
        </p:txBody>
      </p:sp>
      <p:sp>
        <p:nvSpPr>
          <p:cNvPr id="6" name="">
            <a:extLst xmlns:a="http://schemas.openxmlformats.org/drawingml/2006/main">
              <a:ext uri="{FF2B5EF4-FFF2-40B4-BE49-F238E27FC236}">
                <a16:creationId xmlns:a16="http://schemas.microsoft.com/office/drawing/2014/main" id="{114B3077-7FD7-4D95-B3C3-B6B1B78F1B0A}"/>
              </a:ext>
            </a:extLst>
          </p:cNvPr>
          <p:cNvSpPr>
            <a:spLocks xmlns:a="http://schemas.openxmlformats.org/drawingml/2006/main" noGrp="1"/>
          </p:cNvSpPr>
          <p:nvPr/>
        </p:nvSpPr>
        <p:spPr>
          <a:xfrm xmlns:a="http://schemas.openxmlformats.org/drawingml/2006/main">
            <a:off x="514350" y="1562100"/>
            <a:ext cx="11163300" cy="4038600"/>
          </a:xfrm>
          <a:prstGeom xmlns:a="http://schemas.openxmlformats.org/drawingml/2006/main" prst="roundRect">
            <a:avLst>
              <a:gd name="adj" fmla="val 2830"/>
            </a:avLst>
          </a:prstGeom>
          <a:solidFill xmlns:a="http://schemas.openxmlformats.org/drawingml/2006/main">
            <a:srgbClr val="FFFFFF"/>
          </a:solidFill>
          <a:ln xmlns:a="http://schemas.openxmlformats.org/drawingml/2006/main" w="9525">
            <a:solidFill>
              <a:srgbClr val="D8D8D2"/>
            </a:solidFill>
            <a:prstDash val="solid"/>
          </a:ln>
        </p:spPr>
      </p:sp>
      <p:sp>
        <p:nvSpPr>
          <p:cNvPr id="7" name="">
            <a:extLst xmlns:a="http://schemas.openxmlformats.org/drawingml/2006/main">
              <a:ext uri="{FF2B5EF4-FFF2-40B4-BE49-F238E27FC236}">
                <a16:creationId xmlns:a16="http://schemas.microsoft.com/office/drawing/2014/main" id="{9095497B-EAD9-4ED1-B58F-9E7645FD64A9}"/>
              </a:ext>
            </a:extLst>
          </p:cNvPr>
          <p:cNvSpPr>
            <a:spLocks xmlns:a="http://schemas.openxmlformats.org/drawingml/2006/main" noGrp="1"/>
          </p:cNvSpPr>
          <p:nvPr/>
        </p:nvSpPr>
        <p:spPr>
          <a:xfrm xmlns:a="http://schemas.openxmlformats.org/drawingml/2006/main">
            <a:off x="781050" y="17716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46464"/>
                </a:solidFill>
              </a:defRPr>
            </a:pPr>
            <a:r>
              <a:rPr sz="900" b="1">
                <a:solidFill>
                  <a:srgbClr val="646464"/>
                </a:solidFill>
              </a:rPr>
              <a:t>FACT ACCESS VS. RETENTION</a:t>
            </a:r>
          </a:p>
        </p:txBody>
      </p:sp>
      <p:sp>
        <p:nvSpPr>
          <p:cNvPr id="8" name="">
            <a:extLst xmlns:a="http://schemas.openxmlformats.org/drawingml/2006/main">
              <a:ext uri="{FF2B5EF4-FFF2-40B4-BE49-F238E27FC236}">
                <a16:creationId xmlns:a16="http://schemas.microsoft.com/office/drawing/2014/main" id="{89399087-D9BE-4632-B869-6CA237839FC7}"/>
              </a:ext>
            </a:extLst>
          </p:cNvPr>
          <p:cNvSpPr>
            <a:spLocks xmlns:a="http://schemas.openxmlformats.org/drawingml/2006/main" noGrp="1"/>
          </p:cNvSpPr>
          <p:nvPr/>
        </p:nvSpPr>
        <p:spPr>
          <a:xfrm xmlns:a="http://schemas.openxmlformats.org/drawingml/2006/main">
            <a:off x="781050" y="200025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11111"/>
                </a:solidFill>
              </a:defRPr>
            </a:pPr>
            <a:r>
              <a:rPr sz="1800" b="1">
                <a:solidFill>
                  <a:srgbClr val="111111"/>
                </a:solidFill>
              </a:rPr>
              <a:t>OLMo, Falcon and Pythia</a:t>
            </a:r>
          </a:p>
        </p:txBody>
      </p:sp>
      <p:graphicFrame>
        <p:nvGraphicFramePr>
          <p:cNvPr id="21" name="Chart"/>
          <p:cNvGraphicFramePr/>
          <p:nvPr/>
        </p:nvGraphicFramePr>
        <p:xfrm>
          <a:off xmlns:a="http://schemas.openxmlformats.org/drawingml/2006/main" x="1238250" y="2381250"/>
          <a:ext xmlns:a="http://schemas.openxmlformats.org/drawingml/2006/main" cx="9429750" cy="2647950"/>
        </p:xfrm>
        <a:graphic xmlns:a="http://schemas.openxmlformats.org/drawingml/2006/main">
          <a:graphicData uri="http://schemas.openxmlformats.org/drawingml/2006/chart">
            <c:chart xmlns:r="http://schemas.openxmlformats.org/officeDocument/2006/relationships" xmlns:c="http://schemas.openxmlformats.org/drawingml/2006/chart" r:id="Rbfb2339c9b4f4439"/>
          </a:graphicData>
        </a:graphic>
      </p:graphicFrame>
      <p:sp>
        <p:nvSpPr>
          <p:cNvPr id="10" name="">
            <a:extLst xmlns:a="http://schemas.openxmlformats.org/drawingml/2006/main">
              <a:ext uri="{FF2B5EF4-FFF2-40B4-BE49-F238E27FC236}">
                <a16:creationId xmlns:a16="http://schemas.microsoft.com/office/drawing/2014/main" id="{D25DD056-0B18-4EBE-B6A7-8D942C86F60F}"/>
              </a:ext>
            </a:extLst>
          </p:cNvPr>
          <p:cNvSpPr>
            <a:spLocks xmlns:a="http://schemas.openxmlformats.org/drawingml/2006/main" noGrp="1"/>
          </p:cNvSpPr>
          <p:nvPr/>
        </p:nvSpPr>
        <p:spPr>
          <a:xfrm xmlns:a="http://schemas.openxmlformats.org/drawingml/2006/main">
            <a:off x="514350" y="5715000"/>
            <a:ext cx="11163300" cy="495300"/>
          </a:xfrm>
          <a:prstGeom xmlns:a="http://schemas.openxmlformats.org/drawingml/2006/main" prst="roundRect">
            <a:avLst>
              <a:gd name="adj" fmla="val 23077"/>
            </a:avLst>
          </a:prstGeom>
          <a:solidFill xmlns:a="http://schemas.openxmlformats.org/drawingml/2006/main">
            <a:srgbClr val="EAF0FF"/>
          </a:solidFill>
          <a:ln xmlns:a="http://schemas.openxmlformats.org/drawingml/2006/main" w="9525">
            <a:solidFill>
              <a:srgbClr val="2F66F3"/>
            </a:solidFill>
            <a:prstDash val="solid"/>
          </a:ln>
        </p:spPr>
      </p:sp>
      <p:sp>
        <p:nvSpPr>
          <p:cNvPr id="11" name="">
            <a:extLst xmlns:a="http://schemas.openxmlformats.org/drawingml/2006/main">
              <a:ext uri="{FF2B5EF4-FFF2-40B4-BE49-F238E27FC236}">
                <a16:creationId xmlns:a16="http://schemas.microsoft.com/office/drawing/2014/main" id="{2F920C06-B010-430D-8A1C-DF805002CB23}"/>
              </a:ext>
            </a:extLst>
          </p:cNvPr>
          <p:cNvSpPr>
            <a:spLocks xmlns:a="http://schemas.openxmlformats.org/drawingml/2006/main" noGrp="1"/>
          </p:cNvSpPr>
          <p:nvPr/>
        </p:nvSpPr>
        <p:spPr>
          <a:xfrm xmlns:a="http://schemas.openxmlformats.org/drawingml/2006/main">
            <a:off x="742950" y="5838825"/>
            <a:ext cx="10706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111111"/>
                </a:solidFill>
              </a:defRPr>
            </a:pPr>
            <a:r>
              <a:rPr sz="1275" b="1">
                <a:solidFill>
                  <a:srgbClr val="111111"/>
                </a:solidFill>
              </a:rPr>
              <a:t>Worst relation floor: OLMo 59% · Falcon 37% · Pythia 65%   |   OLMo checkpoint 42 retention score: 72.2</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aef03ff60e2a4ea6"/>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56190002"/>
      </p:ext>
    </p:extLst>
  </p:cSld>
</p:sld>
</file>

<file path=ppt/slides/slide4.xml><?xml version="1.0" encoding="utf-8"?>
<p:sld xmlns:p="http://schemas.openxmlformats.org/presentationml/2006/main">
  <p:cSld>
    <p:bg>
      <p:bgPr>
        <a:solidFill xmlns:a="http://schemas.openxmlformats.org/drawingml/2006/main">
          <a:srgbClr val="F7F7F5"/>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DE64639C-B733-4A7D-9D8B-D4AC98ABC3E1}"/>
              </a:ext>
            </a:extLst>
          </p:cNvPr>
          <p:cNvSpPr>
            <a:spLocks xmlns:a="http://schemas.openxmlformats.org/drawingml/2006/main" noGrp="1"/>
          </p:cNvSpPr>
          <p:nvPr/>
        </p:nvSpPr>
        <p:spPr>
          <a:xfrm xmlns:a="http://schemas.openxmlformats.org/drawingml/2006/main">
            <a:off x="514350" y="26670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F66F3"/>
                </a:solidFill>
              </a:defRPr>
            </a:pPr>
            <a:r>
              <a:rPr sz="900" b="1">
                <a:solidFill>
                  <a:srgbClr val="2F66F3"/>
                </a:solidFill>
              </a:rPr>
              <a:t>CORPUS DECISION</a:t>
            </a:r>
          </a:p>
        </p:txBody>
      </p:sp>
      <p:sp>
        <p:nvSpPr>
          <p:cNvPr id="2" name="">
            <a:extLst xmlns:a="http://schemas.openxmlformats.org/drawingml/2006/main">
              <a:ext uri="{FF2B5EF4-FFF2-40B4-BE49-F238E27FC236}">
                <a16:creationId xmlns:a16="http://schemas.microsoft.com/office/drawing/2014/main" id="{B13D08D8-32DC-4854-9E8A-374E6EC5ADCF}"/>
              </a:ext>
            </a:extLst>
          </p:cNvPr>
          <p:cNvSpPr>
            <a:spLocks xmlns:a="http://schemas.openxmlformats.org/drawingml/2006/main" noGrp="1"/>
          </p:cNvSpPr>
          <p:nvPr/>
        </p:nvSpPr>
        <p:spPr>
          <a:xfrm xmlns:a="http://schemas.openxmlformats.org/drawingml/2006/main">
            <a:off x="514350" y="59055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11111"/>
                </a:solidFill>
              </a:defRPr>
            </a:pPr>
            <a:r>
              <a:rPr sz="2850" b="1">
                <a:solidFill>
                  <a:srgbClr val="111111"/>
                </a:solidFill>
              </a:rPr>
              <a:t>Why vngrs is the strongest corpus candidate</a:t>
            </a:r>
          </a:p>
        </p:txBody>
      </p:sp>
      <p:sp>
        <p:nvSpPr>
          <p:cNvPr id="3" name="">
            <a:extLst xmlns:a="http://schemas.openxmlformats.org/drawingml/2006/main">
              <a:ext uri="{FF2B5EF4-FFF2-40B4-BE49-F238E27FC236}">
                <a16:creationId xmlns:a16="http://schemas.microsoft.com/office/drawing/2014/main" id="{961BFF3E-6E2B-40A8-91C5-87B05EC12A31}"/>
              </a:ext>
            </a:extLst>
          </p:cNvPr>
          <p:cNvSpPr>
            <a:spLocks xmlns:a="http://schemas.openxmlformats.org/drawingml/2006/main" noGrp="1"/>
          </p:cNvSpPr>
          <p:nvPr/>
        </p:nvSpPr>
        <p:spPr>
          <a:xfrm xmlns:a="http://schemas.openxmlformats.org/drawingml/2006/main">
            <a:off x="514350" y="1104900"/>
            <a:ext cx="1104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46464"/>
                </a:solidFill>
              </a:defRPr>
            </a:pPr>
            <a:r>
              <a:rPr sz="1350" b="0">
                <a:solidFill>
                  <a:srgbClr val="646464"/>
                </a:solidFill>
              </a:rPr>
              <a:t>Public, paper-backed, source-tagged Turkish web text — broad enough to replace Wikipedia-only adaptation.</a:t>
            </a:r>
          </a:p>
        </p:txBody>
      </p:sp>
      <p:sp>
        <p:nvSpPr>
          <p:cNvPr id="4" name="">
            <a:extLst xmlns:a="http://schemas.openxmlformats.org/drawingml/2006/main">
              <a:ext uri="{FF2B5EF4-FFF2-40B4-BE49-F238E27FC236}">
                <a16:creationId xmlns:a16="http://schemas.microsoft.com/office/drawing/2014/main" id="{1583746C-7584-4495-A60D-594D66830074}"/>
              </a:ext>
            </a:extLst>
          </p:cNvPr>
          <p:cNvSpPr>
            <a:spLocks xmlns:a="http://schemas.openxmlformats.org/drawingml/2006/main" noGrp="1"/>
          </p:cNvSpPr>
          <p:nvPr/>
        </p:nvSpPr>
        <p:spPr>
          <a:xfrm xmlns:a="http://schemas.openxmlformats.org/drawingml/2006/main">
            <a:off x="514350" y="6400800"/>
            <a:ext cx="11163300" cy="9525"/>
          </a:xfrm>
          <a:prstGeom xmlns:a="http://schemas.openxmlformats.org/drawingml/2006/main" prst="rect">
            <a:avLst/>
          </a:prstGeom>
          <a:solidFill xmlns:a="http://schemas.openxmlformats.org/drawingml/2006/main">
            <a:srgbClr val="D8D8D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606238E-88F0-4BA2-92F6-522A5E818951}"/>
              </a:ext>
            </a:extLst>
          </p:cNvPr>
          <p:cNvSpPr>
            <a:spLocks xmlns:a="http://schemas.openxmlformats.org/drawingml/2006/main" noGrp="1"/>
          </p:cNvSpPr>
          <p:nvPr/>
        </p:nvSpPr>
        <p:spPr>
          <a:xfrm xmlns:a="http://schemas.openxmlformats.org/drawingml/2006/main">
            <a:off x="514350" y="6486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646464"/>
                </a:solidFill>
              </a:defRPr>
            </a:pPr>
            <a:r>
              <a:rPr sz="825" b="1">
                <a:solidFill>
                  <a:srgbClr val="646464"/>
                </a:solidFill>
              </a:rPr>
              <a:t>TRANSFER VS. RELEARNING  •  04 / 06</a:t>
            </a:r>
          </a:p>
        </p:txBody>
      </p:sp>
      <p:sp>
        <p:nvSpPr>
          <p:cNvPr id="6" name="">
            <a:extLst xmlns:a="http://schemas.openxmlformats.org/drawingml/2006/main">
              <a:ext uri="{FF2B5EF4-FFF2-40B4-BE49-F238E27FC236}">
                <a16:creationId xmlns:a16="http://schemas.microsoft.com/office/drawing/2014/main" id="{7BCEAAC3-FEDF-49D1-A1C5-60811181F688}"/>
              </a:ext>
            </a:extLst>
          </p:cNvPr>
          <p:cNvSpPr>
            <a:spLocks xmlns:a="http://schemas.openxmlformats.org/drawingml/2006/main" noGrp="1"/>
          </p:cNvSpPr>
          <p:nvPr/>
        </p:nvSpPr>
        <p:spPr>
          <a:xfrm xmlns:a="http://schemas.openxmlformats.org/drawingml/2006/main">
            <a:off x="514350" y="1562100"/>
            <a:ext cx="6705600" cy="4457700"/>
          </a:xfrm>
          <a:prstGeom xmlns:a="http://schemas.openxmlformats.org/drawingml/2006/main" prst="roundRect">
            <a:avLst>
              <a:gd name="adj" fmla="val 2564"/>
            </a:avLst>
          </a:prstGeom>
          <a:solidFill xmlns:a="http://schemas.openxmlformats.org/drawingml/2006/main">
            <a:srgbClr val="FFFFFF"/>
          </a:solidFill>
          <a:ln xmlns:a="http://schemas.openxmlformats.org/drawingml/2006/main" w="9525">
            <a:solidFill>
              <a:srgbClr val="D8D8D2"/>
            </a:solidFill>
            <a:prstDash val="solid"/>
          </a:ln>
        </p:spPr>
      </p:sp>
      <p:sp>
        <p:nvSpPr>
          <p:cNvPr id="7" name="">
            <a:extLst xmlns:a="http://schemas.openxmlformats.org/drawingml/2006/main">
              <a:ext uri="{FF2B5EF4-FFF2-40B4-BE49-F238E27FC236}">
                <a16:creationId xmlns:a16="http://schemas.microsoft.com/office/drawing/2014/main" id="{6FF6BC08-EEE0-40B6-9AB3-441BC58B72F2}"/>
              </a:ext>
            </a:extLst>
          </p:cNvPr>
          <p:cNvSpPr>
            <a:spLocks xmlns:a="http://schemas.openxmlformats.org/drawingml/2006/main" noGrp="1"/>
          </p:cNvSpPr>
          <p:nvPr/>
        </p:nvSpPr>
        <p:spPr>
          <a:xfrm xmlns:a="http://schemas.openxmlformats.org/drawingml/2006/main">
            <a:off x="781050" y="17716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46464"/>
                </a:solidFill>
              </a:defRPr>
            </a:pPr>
            <a:r>
              <a:rPr sz="900" b="1">
                <a:solidFill>
                  <a:srgbClr val="646464"/>
                </a:solidFill>
              </a:rPr>
              <a:t>WHO USED WHAT?</a:t>
            </a:r>
          </a:p>
        </p:txBody>
      </p:sp>
      <p:sp>
        <p:nvSpPr>
          <p:cNvPr id="8" name="">
            <a:extLst xmlns:a="http://schemas.openxmlformats.org/drawingml/2006/main">
              <a:ext uri="{FF2B5EF4-FFF2-40B4-BE49-F238E27FC236}">
                <a16:creationId xmlns:a16="http://schemas.microsoft.com/office/drawing/2014/main" id="{37A2715B-9025-4A9F-9E5C-DD4E954357DB}"/>
              </a:ext>
            </a:extLst>
          </p:cNvPr>
          <p:cNvSpPr>
            <a:spLocks xmlns:a="http://schemas.openxmlformats.org/drawingml/2006/main" noGrp="1"/>
          </p:cNvSpPr>
          <p:nvPr/>
        </p:nvSpPr>
        <p:spPr>
          <a:xfrm xmlns:a="http://schemas.openxmlformats.org/drawingml/2006/main">
            <a:off x="781050" y="2152650"/>
            <a:ext cx="6172200" cy="523875"/>
          </a:xfrm>
          <a:prstGeom xmlns:a="http://schemas.openxmlformats.org/drawingml/2006/main" prst="roundRect">
            <a:avLst>
              <a:gd name="adj" fmla="val 10909"/>
            </a:avLst>
          </a:prstGeom>
          <a:solidFill xmlns:a="http://schemas.openxmlformats.org/drawingml/2006/main">
            <a:srgbClr val="EAF0FF"/>
          </a:solidFill>
          <a:ln xmlns:a="http://schemas.openxmlformats.org/drawingml/2006/main" w="9525">
            <a:solidFill>
              <a:srgbClr val="D8D8D2"/>
            </a:solidFill>
            <a:prstDash val="solid"/>
          </a:ln>
        </p:spPr>
      </p:sp>
      <p:sp>
        <p:nvSpPr>
          <p:cNvPr id="9" name="">
            <a:extLst xmlns:a="http://schemas.openxmlformats.org/drawingml/2006/main">
              <a:ext uri="{FF2B5EF4-FFF2-40B4-BE49-F238E27FC236}">
                <a16:creationId xmlns:a16="http://schemas.microsoft.com/office/drawing/2014/main" id="{AD07C01F-6641-4C7E-81F2-70062581D350}"/>
              </a:ext>
            </a:extLst>
          </p:cNvPr>
          <p:cNvSpPr>
            <a:spLocks xmlns:a="http://schemas.openxmlformats.org/drawingml/2006/main" noGrp="1"/>
          </p:cNvSpPr>
          <p:nvPr/>
        </p:nvSpPr>
        <p:spPr>
          <a:xfrm xmlns:a="http://schemas.openxmlformats.org/drawingml/2006/main">
            <a:off x="933450" y="2238375"/>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F66F3"/>
                </a:solidFill>
              </a:defRPr>
            </a:pPr>
            <a:r>
              <a:rPr sz="1200" b="1">
                <a:solidFill>
                  <a:srgbClr val="2F66F3"/>
                </a:solidFill>
              </a:rPr>
              <a:t>VBART</a:t>
            </a:r>
          </a:p>
        </p:txBody>
      </p:sp>
      <p:sp>
        <p:nvSpPr>
          <p:cNvPr id="10" name="">
            <a:extLst xmlns:a="http://schemas.openxmlformats.org/drawingml/2006/main">
              <a:ext uri="{FF2B5EF4-FFF2-40B4-BE49-F238E27FC236}">
                <a16:creationId xmlns:a16="http://schemas.microsoft.com/office/drawing/2014/main" id="{BEB741DA-F320-4904-9B99-5F31396CAB50}"/>
              </a:ext>
            </a:extLst>
          </p:cNvPr>
          <p:cNvSpPr>
            <a:spLocks xmlns:a="http://schemas.openxmlformats.org/drawingml/2006/main" noGrp="1"/>
          </p:cNvSpPr>
          <p:nvPr/>
        </p:nvSpPr>
        <p:spPr>
          <a:xfrm xmlns:a="http://schemas.openxmlformats.org/drawingml/2006/main">
            <a:off x="2400300" y="2238375"/>
            <a:ext cx="2238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111111"/>
                </a:solidFill>
              </a:defRPr>
            </a:pPr>
            <a:r>
              <a:rPr sz="1125" b="0">
                <a:solidFill>
                  <a:srgbClr val="111111"/>
                </a:solidFill>
              </a:rPr>
              <a:t>vngrs: OSCAR + mC4</a:t>
            </a:r>
          </a:p>
        </p:txBody>
      </p:sp>
      <p:sp>
        <p:nvSpPr>
          <p:cNvPr id="11" name="">
            <a:extLst xmlns:a="http://schemas.openxmlformats.org/drawingml/2006/main">
              <a:ext uri="{FF2B5EF4-FFF2-40B4-BE49-F238E27FC236}">
                <a16:creationId xmlns:a16="http://schemas.microsoft.com/office/drawing/2014/main" id="{B86702BC-594F-4F2E-A34E-518DEDA06F0E}"/>
              </a:ext>
            </a:extLst>
          </p:cNvPr>
          <p:cNvSpPr>
            <a:spLocks xmlns:a="http://schemas.openxmlformats.org/drawingml/2006/main" noGrp="1"/>
          </p:cNvSpPr>
          <p:nvPr/>
        </p:nvSpPr>
        <p:spPr>
          <a:xfrm xmlns:a="http://schemas.openxmlformats.org/drawingml/2006/main">
            <a:off x="4667250" y="224790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1">
                <a:solidFill>
                  <a:srgbClr val="2F66F3"/>
                </a:solidFill>
              </a:defRPr>
            </a:pPr>
            <a:r>
              <a:rPr sz="675" b="1">
                <a:solidFill>
                  <a:srgbClr val="2F66F3"/>
                </a:solidFill>
              </a:rPr>
              <a:t>arxiv.org/abs/2403.01308</a:t>
            </a:r>
          </a:p>
        </p:txBody>
      </p:sp>
      <p:sp>
        <p:nvSpPr>
          <p:cNvPr id="12" name="">
            <a:extLst xmlns:a="http://schemas.openxmlformats.org/drawingml/2006/main">
              <a:ext uri="{FF2B5EF4-FFF2-40B4-BE49-F238E27FC236}">
                <a16:creationId xmlns:a16="http://schemas.microsoft.com/office/drawing/2014/main" id="{9BE9F7CE-1F07-4A00-8162-B905E484C813}"/>
              </a:ext>
            </a:extLst>
          </p:cNvPr>
          <p:cNvSpPr>
            <a:spLocks xmlns:a="http://schemas.openxmlformats.org/drawingml/2006/main" noGrp="1"/>
          </p:cNvSpPr>
          <p:nvPr/>
        </p:nvSpPr>
        <p:spPr>
          <a:xfrm xmlns:a="http://schemas.openxmlformats.org/drawingml/2006/main">
            <a:off x="781050" y="2714625"/>
            <a:ext cx="6172200" cy="523875"/>
          </a:xfrm>
          <a:prstGeom xmlns:a="http://schemas.openxmlformats.org/drawingml/2006/main" prst="roundRect">
            <a:avLst>
              <a:gd name="adj" fmla="val 10909"/>
            </a:avLst>
          </a:prstGeom>
          <a:solidFill xmlns:a="http://schemas.openxmlformats.org/drawingml/2006/main">
            <a:srgbClr val="EAF0FF"/>
          </a:solidFill>
          <a:ln xmlns:a="http://schemas.openxmlformats.org/drawingml/2006/main" w="9525">
            <a:solidFill>
              <a:srgbClr val="D8D8D2"/>
            </a:solidFill>
            <a:prstDash val="solid"/>
          </a:ln>
        </p:spPr>
      </p:sp>
      <p:sp>
        <p:nvSpPr>
          <p:cNvPr id="13" name="">
            <a:extLst xmlns:a="http://schemas.openxmlformats.org/drawingml/2006/main">
              <a:ext uri="{FF2B5EF4-FFF2-40B4-BE49-F238E27FC236}">
                <a16:creationId xmlns:a16="http://schemas.microsoft.com/office/drawing/2014/main" id="{5A12C762-5594-481E-8729-082596AF36BE}"/>
              </a:ext>
            </a:extLst>
          </p:cNvPr>
          <p:cNvSpPr>
            <a:spLocks xmlns:a="http://schemas.openxmlformats.org/drawingml/2006/main" noGrp="1"/>
          </p:cNvSpPr>
          <p:nvPr/>
        </p:nvSpPr>
        <p:spPr>
          <a:xfrm xmlns:a="http://schemas.openxmlformats.org/drawingml/2006/main">
            <a:off x="933450" y="2800350"/>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F66F3"/>
                </a:solidFill>
              </a:defRPr>
            </a:pPr>
            <a:r>
              <a:rPr sz="1200" b="1">
                <a:solidFill>
                  <a:srgbClr val="2F66F3"/>
                </a:solidFill>
              </a:rPr>
              <a:t>TURNA</a:t>
            </a:r>
          </a:p>
        </p:txBody>
      </p:sp>
      <p:sp>
        <p:nvSpPr>
          <p:cNvPr id="14" name="">
            <a:extLst xmlns:a="http://schemas.openxmlformats.org/drawingml/2006/main">
              <a:ext uri="{FF2B5EF4-FFF2-40B4-BE49-F238E27FC236}">
                <a16:creationId xmlns:a16="http://schemas.microsoft.com/office/drawing/2014/main" id="{01433AFE-EF27-4B5E-8E19-09D4CF00C070}"/>
              </a:ext>
            </a:extLst>
          </p:cNvPr>
          <p:cNvSpPr>
            <a:spLocks xmlns:a="http://schemas.openxmlformats.org/drawingml/2006/main" noGrp="1"/>
          </p:cNvSpPr>
          <p:nvPr/>
        </p:nvSpPr>
        <p:spPr>
          <a:xfrm xmlns:a="http://schemas.openxmlformats.org/drawingml/2006/main">
            <a:off x="2400300" y="2800350"/>
            <a:ext cx="2238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111111"/>
                </a:solidFill>
              </a:defRPr>
            </a:pPr>
            <a:r>
              <a:rPr sz="1125" b="0">
                <a:solidFill>
                  <a:srgbClr val="111111"/>
                </a:solidFill>
              </a:rPr>
              <a:t>vngrs + academic text</a:t>
            </a:r>
          </a:p>
        </p:txBody>
      </p:sp>
      <p:sp>
        <p:nvSpPr>
          <p:cNvPr id="15" name="">
            <a:extLst xmlns:a="http://schemas.openxmlformats.org/drawingml/2006/main">
              <a:ext uri="{FF2B5EF4-FFF2-40B4-BE49-F238E27FC236}">
                <a16:creationId xmlns:a16="http://schemas.microsoft.com/office/drawing/2014/main" id="{D1F2FD0B-ABBF-4A62-84BF-3FED1277D177}"/>
              </a:ext>
            </a:extLst>
          </p:cNvPr>
          <p:cNvSpPr>
            <a:spLocks xmlns:a="http://schemas.openxmlformats.org/drawingml/2006/main" noGrp="1"/>
          </p:cNvSpPr>
          <p:nvPr/>
        </p:nvSpPr>
        <p:spPr>
          <a:xfrm xmlns:a="http://schemas.openxmlformats.org/drawingml/2006/main">
            <a:off x="4667250" y="2809875"/>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1">
                <a:solidFill>
                  <a:srgbClr val="2F66F3"/>
                </a:solidFill>
              </a:defRPr>
            </a:pPr>
            <a:r>
              <a:rPr sz="675" b="1">
                <a:solidFill>
                  <a:srgbClr val="2F66F3"/>
                </a:solidFill>
              </a:rPr>
              <a:t>aclanthology.org/2024.findings-acl.600</a:t>
            </a:r>
          </a:p>
        </p:txBody>
      </p:sp>
      <p:sp>
        <p:nvSpPr>
          <p:cNvPr id="16" name="">
            <a:extLst xmlns:a="http://schemas.openxmlformats.org/drawingml/2006/main">
              <a:ext uri="{FF2B5EF4-FFF2-40B4-BE49-F238E27FC236}">
                <a16:creationId xmlns:a16="http://schemas.microsoft.com/office/drawing/2014/main" id="{FECFBA72-AAE9-4C51-AE58-8AF787A07307}"/>
              </a:ext>
            </a:extLst>
          </p:cNvPr>
          <p:cNvSpPr>
            <a:spLocks xmlns:a="http://schemas.openxmlformats.org/drawingml/2006/main" noGrp="1"/>
          </p:cNvSpPr>
          <p:nvPr/>
        </p:nvSpPr>
        <p:spPr>
          <a:xfrm xmlns:a="http://schemas.openxmlformats.org/drawingml/2006/main">
            <a:off x="781050" y="3276600"/>
            <a:ext cx="6172200" cy="523875"/>
          </a:xfrm>
          <a:prstGeom xmlns:a="http://schemas.openxmlformats.org/drawingml/2006/main" prst="roundRect">
            <a:avLst>
              <a:gd name="adj" fmla="val 10909"/>
            </a:avLst>
          </a:prstGeom>
          <a:solidFill xmlns:a="http://schemas.openxmlformats.org/drawingml/2006/main">
            <a:srgbClr val="EAF0FF"/>
          </a:solidFill>
          <a:ln xmlns:a="http://schemas.openxmlformats.org/drawingml/2006/main" w="9525">
            <a:solidFill>
              <a:srgbClr val="D8D8D2"/>
            </a:solidFill>
            <a:prstDash val="solid"/>
          </a:ln>
        </p:spPr>
      </p:sp>
      <p:sp>
        <p:nvSpPr>
          <p:cNvPr id="17" name="">
            <a:extLst xmlns:a="http://schemas.openxmlformats.org/drawingml/2006/main">
              <a:ext uri="{FF2B5EF4-FFF2-40B4-BE49-F238E27FC236}">
                <a16:creationId xmlns:a16="http://schemas.microsoft.com/office/drawing/2014/main" id="{9C00A418-6413-41E8-BBF4-888E0D18B543}"/>
              </a:ext>
            </a:extLst>
          </p:cNvPr>
          <p:cNvSpPr>
            <a:spLocks xmlns:a="http://schemas.openxmlformats.org/drawingml/2006/main" noGrp="1"/>
          </p:cNvSpPr>
          <p:nvPr/>
        </p:nvSpPr>
        <p:spPr>
          <a:xfrm xmlns:a="http://schemas.openxmlformats.org/drawingml/2006/main">
            <a:off x="933450" y="3362325"/>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F66F3"/>
                </a:solidFill>
              </a:defRPr>
            </a:pPr>
            <a:r>
              <a:rPr sz="1200" b="1">
                <a:solidFill>
                  <a:srgbClr val="2F66F3"/>
                </a:solidFill>
              </a:rPr>
              <a:t>MODA</a:t>
            </a:r>
          </a:p>
        </p:txBody>
      </p:sp>
      <p:sp>
        <p:nvSpPr>
          <p:cNvPr id="18" name="">
            <a:extLst xmlns:a="http://schemas.openxmlformats.org/drawingml/2006/main">
              <a:ext uri="{FF2B5EF4-FFF2-40B4-BE49-F238E27FC236}">
                <a16:creationId xmlns:a16="http://schemas.microsoft.com/office/drawing/2014/main" id="{0E7849B5-6855-49A2-9DD5-301A3CEAB93F}"/>
              </a:ext>
            </a:extLst>
          </p:cNvPr>
          <p:cNvSpPr>
            <a:spLocks xmlns:a="http://schemas.openxmlformats.org/drawingml/2006/main" noGrp="1"/>
          </p:cNvSpPr>
          <p:nvPr/>
        </p:nvSpPr>
        <p:spPr>
          <a:xfrm xmlns:a="http://schemas.openxmlformats.org/drawingml/2006/main">
            <a:off x="2400300" y="3362325"/>
            <a:ext cx="2238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111111"/>
                </a:solidFill>
              </a:defRPr>
            </a:pPr>
            <a:r>
              <a:rPr sz="1125" b="0">
                <a:solidFill>
                  <a:srgbClr val="111111"/>
                </a:solidFill>
              </a:rPr>
              <a:t>Qwen2.5 CPT on vngrs</a:t>
            </a:r>
          </a:p>
        </p:txBody>
      </p:sp>
      <p:sp>
        <p:nvSpPr>
          <p:cNvPr id="19" name="">
            <a:extLst xmlns:a="http://schemas.openxmlformats.org/drawingml/2006/main">
              <a:ext uri="{FF2B5EF4-FFF2-40B4-BE49-F238E27FC236}">
                <a16:creationId xmlns:a16="http://schemas.microsoft.com/office/drawing/2014/main" id="{E1D1EE0B-7337-47E7-AED4-58555EC06107}"/>
              </a:ext>
            </a:extLst>
          </p:cNvPr>
          <p:cNvSpPr>
            <a:spLocks xmlns:a="http://schemas.openxmlformats.org/drawingml/2006/main" noGrp="1"/>
          </p:cNvSpPr>
          <p:nvPr/>
        </p:nvSpPr>
        <p:spPr>
          <a:xfrm xmlns:a="http://schemas.openxmlformats.org/drawingml/2006/main">
            <a:off x="4667250" y="337185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1">
                <a:solidFill>
                  <a:srgbClr val="2F66F3"/>
                </a:solidFill>
              </a:defRPr>
            </a:pPr>
            <a:r>
              <a:rPr sz="675" b="1">
                <a:solidFill>
                  <a:srgbClr val="2F66F3"/>
                </a:solidFill>
              </a:rPr>
              <a:t>aclanthology.org/2026.sigturk-1.17</a:t>
            </a:r>
          </a:p>
        </p:txBody>
      </p:sp>
      <p:sp>
        <p:nvSpPr>
          <p:cNvPr id="20" name="">
            <a:extLst xmlns:a="http://schemas.openxmlformats.org/drawingml/2006/main">
              <a:ext uri="{FF2B5EF4-FFF2-40B4-BE49-F238E27FC236}">
                <a16:creationId xmlns:a16="http://schemas.microsoft.com/office/drawing/2014/main" id="{C4A5B0AE-A468-4534-981F-2EEC0C84C904}"/>
              </a:ext>
            </a:extLst>
          </p:cNvPr>
          <p:cNvSpPr>
            <a:spLocks xmlns:a="http://schemas.openxmlformats.org/drawingml/2006/main" noGrp="1"/>
          </p:cNvSpPr>
          <p:nvPr/>
        </p:nvSpPr>
        <p:spPr>
          <a:xfrm xmlns:a="http://schemas.openxmlformats.org/drawingml/2006/main">
            <a:off x="781050" y="3838575"/>
            <a:ext cx="6172200" cy="523875"/>
          </a:xfrm>
          <a:prstGeom xmlns:a="http://schemas.openxmlformats.org/drawingml/2006/main" prst="roundRect">
            <a:avLst>
              <a:gd name="adj" fmla="val 10909"/>
            </a:avLst>
          </a:prstGeom>
          <a:solidFill xmlns:a="http://schemas.openxmlformats.org/drawingml/2006/main">
            <a:srgbClr val="FFFFFF"/>
          </a:solidFill>
          <a:ln xmlns:a="http://schemas.openxmlformats.org/drawingml/2006/main" w="9525">
            <a:solidFill>
              <a:srgbClr val="D8D8D2"/>
            </a:solidFill>
            <a:prstDash val="solid"/>
          </a:ln>
        </p:spPr>
      </p:sp>
      <p:sp>
        <p:nvSpPr>
          <p:cNvPr id="21" name="">
            <a:extLst xmlns:a="http://schemas.openxmlformats.org/drawingml/2006/main">
              <a:ext uri="{FF2B5EF4-FFF2-40B4-BE49-F238E27FC236}">
                <a16:creationId xmlns:a16="http://schemas.microsoft.com/office/drawing/2014/main" id="{0AF093D8-BAC7-4AF1-9603-D2E220B0F87C}"/>
              </a:ext>
            </a:extLst>
          </p:cNvPr>
          <p:cNvSpPr>
            <a:spLocks xmlns:a="http://schemas.openxmlformats.org/drawingml/2006/main" noGrp="1"/>
          </p:cNvSpPr>
          <p:nvPr/>
        </p:nvSpPr>
        <p:spPr>
          <a:xfrm xmlns:a="http://schemas.openxmlformats.org/drawingml/2006/main">
            <a:off x="933450" y="3924300"/>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111111"/>
                </a:solidFill>
              </a:defRPr>
            </a:pPr>
            <a:r>
              <a:rPr sz="1200" b="1">
                <a:solidFill>
                  <a:srgbClr val="111111"/>
                </a:solidFill>
              </a:rPr>
              <a:t>LlamaTurk</a:t>
            </a:r>
          </a:p>
        </p:txBody>
      </p:sp>
      <p:sp>
        <p:nvSpPr>
          <p:cNvPr id="22" name="">
            <a:extLst xmlns:a="http://schemas.openxmlformats.org/drawingml/2006/main">
              <a:ext uri="{FF2B5EF4-FFF2-40B4-BE49-F238E27FC236}">
                <a16:creationId xmlns:a16="http://schemas.microsoft.com/office/drawing/2014/main" id="{649F7D44-290A-4AAF-840E-C4442824EF89}"/>
              </a:ext>
            </a:extLst>
          </p:cNvPr>
          <p:cNvSpPr>
            <a:spLocks xmlns:a="http://schemas.openxmlformats.org/drawingml/2006/main" noGrp="1"/>
          </p:cNvSpPr>
          <p:nvPr/>
        </p:nvSpPr>
        <p:spPr>
          <a:xfrm xmlns:a="http://schemas.openxmlformats.org/drawingml/2006/main">
            <a:off x="2400300" y="3924300"/>
            <a:ext cx="2238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111111"/>
                </a:solidFill>
              </a:defRPr>
            </a:pPr>
            <a:r>
              <a:rPr sz="1125" b="0">
                <a:solidFill>
                  <a:srgbClr val="111111"/>
                </a:solidFill>
              </a:rPr>
              <a:t>Turkish Wikipedia</a:t>
            </a:r>
          </a:p>
        </p:txBody>
      </p:sp>
      <p:sp>
        <p:nvSpPr>
          <p:cNvPr id="23" name="">
            <a:extLst xmlns:a="http://schemas.openxmlformats.org/drawingml/2006/main">
              <a:ext uri="{FF2B5EF4-FFF2-40B4-BE49-F238E27FC236}">
                <a16:creationId xmlns:a16="http://schemas.microsoft.com/office/drawing/2014/main" id="{8952FA64-1125-41AC-A090-31602881144C}"/>
              </a:ext>
            </a:extLst>
          </p:cNvPr>
          <p:cNvSpPr>
            <a:spLocks xmlns:a="http://schemas.openxmlformats.org/drawingml/2006/main" noGrp="1"/>
          </p:cNvSpPr>
          <p:nvPr/>
        </p:nvSpPr>
        <p:spPr>
          <a:xfrm xmlns:a="http://schemas.openxmlformats.org/drawingml/2006/main">
            <a:off x="4667250" y="3933825"/>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1">
                <a:solidFill>
                  <a:srgbClr val="2F66F3"/>
                </a:solidFill>
              </a:defRPr>
            </a:pPr>
            <a:r>
              <a:rPr sz="675" b="1">
                <a:solidFill>
                  <a:srgbClr val="2F66F3"/>
                </a:solidFill>
              </a:rPr>
              <a:t>aclanthology.org/2024.mrl-1.3</a:t>
            </a:r>
          </a:p>
        </p:txBody>
      </p:sp>
      <p:sp>
        <p:nvSpPr>
          <p:cNvPr id="24" name="">
            <a:extLst xmlns:a="http://schemas.openxmlformats.org/drawingml/2006/main">
              <a:ext uri="{FF2B5EF4-FFF2-40B4-BE49-F238E27FC236}">
                <a16:creationId xmlns:a16="http://schemas.microsoft.com/office/drawing/2014/main" id="{A8469F54-7C89-409B-B9E4-EB55BD8550B4}"/>
              </a:ext>
            </a:extLst>
          </p:cNvPr>
          <p:cNvSpPr>
            <a:spLocks xmlns:a="http://schemas.openxmlformats.org/drawingml/2006/main" noGrp="1"/>
          </p:cNvSpPr>
          <p:nvPr/>
        </p:nvSpPr>
        <p:spPr>
          <a:xfrm xmlns:a="http://schemas.openxmlformats.org/drawingml/2006/main">
            <a:off x="781050" y="4400550"/>
            <a:ext cx="6172200" cy="523875"/>
          </a:xfrm>
          <a:prstGeom xmlns:a="http://schemas.openxmlformats.org/drawingml/2006/main" prst="roundRect">
            <a:avLst>
              <a:gd name="adj" fmla="val 10909"/>
            </a:avLst>
          </a:prstGeom>
          <a:solidFill xmlns:a="http://schemas.openxmlformats.org/drawingml/2006/main">
            <a:srgbClr val="FFFFFF"/>
          </a:solidFill>
          <a:ln xmlns:a="http://schemas.openxmlformats.org/drawingml/2006/main" w="9525">
            <a:solidFill>
              <a:srgbClr val="D8D8D2"/>
            </a:solidFill>
            <a:prstDash val="solid"/>
          </a:ln>
        </p:spPr>
      </p:sp>
      <p:sp>
        <p:nvSpPr>
          <p:cNvPr id="25" name="">
            <a:extLst xmlns:a="http://schemas.openxmlformats.org/drawingml/2006/main">
              <a:ext uri="{FF2B5EF4-FFF2-40B4-BE49-F238E27FC236}">
                <a16:creationId xmlns:a16="http://schemas.microsoft.com/office/drawing/2014/main" id="{097C72BF-45D7-4F04-AE1C-8A375103C33D}"/>
              </a:ext>
            </a:extLst>
          </p:cNvPr>
          <p:cNvSpPr>
            <a:spLocks xmlns:a="http://schemas.openxmlformats.org/drawingml/2006/main" noGrp="1"/>
          </p:cNvSpPr>
          <p:nvPr/>
        </p:nvSpPr>
        <p:spPr>
          <a:xfrm xmlns:a="http://schemas.openxmlformats.org/drawingml/2006/main">
            <a:off x="933450" y="4486275"/>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111111"/>
                </a:solidFill>
              </a:defRPr>
            </a:pPr>
            <a:r>
              <a:rPr sz="1200" b="1">
                <a:solidFill>
                  <a:srgbClr val="111111"/>
                </a:solidFill>
              </a:rPr>
              <a:t>SambaLingo-TR</a:t>
            </a:r>
          </a:p>
        </p:txBody>
      </p:sp>
      <p:sp>
        <p:nvSpPr>
          <p:cNvPr id="26" name="">
            <a:extLst xmlns:a="http://schemas.openxmlformats.org/drawingml/2006/main">
              <a:ext uri="{FF2B5EF4-FFF2-40B4-BE49-F238E27FC236}">
                <a16:creationId xmlns:a16="http://schemas.microsoft.com/office/drawing/2014/main" id="{D9134EAB-2447-4423-956E-E8E0A37327EF}"/>
              </a:ext>
            </a:extLst>
          </p:cNvPr>
          <p:cNvSpPr>
            <a:spLocks xmlns:a="http://schemas.openxmlformats.org/drawingml/2006/main" noGrp="1"/>
          </p:cNvSpPr>
          <p:nvPr/>
        </p:nvSpPr>
        <p:spPr>
          <a:xfrm xmlns:a="http://schemas.openxmlformats.org/drawingml/2006/main">
            <a:off x="2400300" y="4486275"/>
            <a:ext cx="2238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111111"/>
                </a:solidFill>
              </a:defRPr>
            </a:pPr>
            <a:r>
              <a:rPr sz="1125" b="0">
                <a:solidFill>
                  <a:srgbClr val="111111"/>
                </a:solidFill>
              </a:rPr>
              <a:t>CulturaX TR + English</a:t>
            </a:r>
          </a:p>
        </p:txBody>
      </p:sp>
      <p:sp>
        <p:nvSpPr>
          <p:cNvPr id="27" name="">
            <a:extLst xmlns:a="http://schemas.openxmlformats.org/drawingml/2006/main">
              <a:ext uri="{FF2B5EF4-FFF2-40B4-BE49-F238E27FC236}">
                <a16:creationId xmlns:a16="http://schemas.microsoft.com/office/drawing/2014/main" id="{E5048C2F-91E4-47FA-87EE-84AEB830C7DB}"/>
              </a:ext>
            </a:extLst>
          </p:cNvPr>
          <p:cNvSpPr>
            <a:spLocks xmlns:a="http://schemas.openxmlformats.org/drawingml/2006/main" noGrp="1"/>
          </p:cNvSpPr>
          <p:nvPr/>
        </p:nvSpPr>
        <p:spPr>
          <a:xfrm xmlns:a="http://schemas.openxmlformats.org/drawingml/2006/main">
            <a:off x="4667250" y="449580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1">
                <a:solidFill>
                  <a:srgbClr val="2F66F3"/>
                </a:solidFill>
              </a:defRPr>
            </a:pPr>
            <a:r>
              <a:rPr sz="675" b="1">
                <a:solidFill>
                  <a:srgbClr val="2F66F3"/>
                </a:solidFill>
              </a:rPr>
              <a:t>hf.co/sambanovasystems/SambaLingo-Turkish-Base</a:t>
            </a:r>
          </a:p>
        </p:txBody>
      </p:sp>
      <p:sp>
        <p:nvSpPr>
          <p:cNvPr id="28" name="">
            <a:extLst xmlns:a="http://schemas.openxmlformats.org/drawingml/2006/main">
              <a:ext uri="{FF2B5EF4-FFF2-40B4-BE49-F238E27FC236}">
                <a16:creationId xmlns:a16="http://schemas.microsoft.com/office/drawing/2014/main" id="{659C4B4F-82CF-4B8D-8206-1590577FF41A}"/>
              </a:ext>
            </a:extLst>
          </p:cNvPr>
          <p:cNvSpPr>
            <a:spLocks xmlns:a="http://schemas.openxmlformats.org/drawingml/2006/main" noGrp="1"/>
          </p:cNvSpPr>
          <p:nvPr/>
        </p:nvSpPr>
        <p:spPr>
          <a:xfrm xmlns:a="http://schemas.openxmlformats.org/drawingml/2006/main">
            <a:off x="781050" y="4962525"/>
            <a:ext cx="6172200" cy="523875"/>
          </a:xfrm>
          <a:prstGeom xmlns:a="http://schemas.openxmlformats.org/drawingml/2006/main" prst="roundRect">
            <a:avLst>
              <a:gd name="adj" fmla="val 10909"/>
            </a:avLst>
          </a:prstGeom>
          <a:solidFill xmlns:a="http://schemas.openxmlformats.org/drawingml/2006/main">
            <a:srgbClr val="FFFFFF"/>
          </a:solidFill>
          <a:ln xmlns:a="http://schemas.openxmlformats.org/drawingml/2006/main" w="9525">
            <a:solidFill>
              <a:srgbClr val="D8D8D2"/>
            </a:solidFill>
            <a:prstDash val="solid"/>
          </a:ln>
        </p:spPr>
      </p:sp>
      <p:sp>
        <p:nvSpPr>
          <p:cNvPr id="29" name="">
            <a:extLst xmlns:a="http://schemas.openxmlformats.org/drawingml/2006/main">
              <a:ext uri="{FF2B5EF4-FFF2-40B4-BE49-F238E27FC236}">
                <a16:creationId xmlns:a16="http://schemas.microsoft.com/office/drawing/2014/main" id="{F82D63E4-5783-4F5B-BF32-F5B586FCA515}"/>
              </a:ext>
            </a:extLst>
          </p:cNvPr>
          <p:cNvSpPr>
            <a:spLocks xmlns:a="http://schemas.openxmlformats.org/drawingml/2006/main" noGrp="1"/>
          </p:cNvSpPr>
          <p:nvPr/>
        </p:nvSpPr>
        <p:spPr>
          <a:xfrm xmlns:a="http://schemas.openxmlformats.org/drawingml/2006/main">
            <a:off x="933450" y="5048250"/>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11111"/>
                </a:solidFill>
              </a:defRPr>
            </a:pPr>
            <a:r>
              <a:rPr sz="1050" b="1">
                <a:solidFill>
                  <a:srgbClr val="111111"/>
                </a:solidFill>
              </a:rPr>
              <a:t>ModernBERT-TR</a:t>
            </a:r>
          </a:p>
        </p:txBody>
      </p:sp>
      <p:sp>
        <p:nvSpPr>
          <p:cNvPr id="30" name="">
            <a:extLst xmlns:a="http://schemas.openxmlformats.org/drawingml/2006/main">
              <a:ext uri="{FF2B5EF4-FFF2-40B4-BE49-F238E27FC236}">
                <a16:creationId xmlns:a16="http://schemas.microsoft.com/office/drawing/2014/main" id="{7C6AB423-81A3-4D09-BC16-70C6B45655FF}"/>
              </a:ext>
            </a:extLst>
          </p:cNvPr>
          <p:cNvSpPr>
            <a:spLocks xmlns:a="http://schemas.openxmlformats.org/drawingml/2006/main" noGrp="1"/>
          </p:cNvSpPr>
          <p:nvPr/>
        </p:nvSpPr>
        <p:spPr>
          <a:xfrm xmlns:a="http://schemas.openxmlformats.org/drawingml/2006/main">
            <a:off x="2400300" y="5048250"/>
            <a:ext cx="2238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111111"/>
                </a:solidFill>
              </a:defRPr>
            </a:pPr>
            <a:r>
              <a:rPr sz="1125" b="0">
                <a:solidFill>
                  <a:srgbClr val="111111"/>
                </a:solidFill>
              </a:rPr>
              <a:t>FineWeb2-TR + BERTurk</a:t>
            </a:r>
          </a:p>
        </p:txBody>
      </p:sp>
      <p:sp>
        <p:nvSpPr>
          <p:cNvPr id="31" name="">
            <a:extLst xmlns:a="http://schemas.openxmlformats.org/drawingml/2006/main">
              <a:ext uri="{FF2B5EF4-FFF2-40B4-BE49-F238E27FC236}">
                <a16:creationId xmlns:a16="http://schemas.microsoft.com/office/drawing/2014/main" id="{3E87342F-88F6-43D6-AA27-608D06FAC2DE}"/>
              </a:ext>
            </a:extLst>
          </p:cNvPr>
          <p:cNvSpPr>
            <a:spLocks xmlns:a="http://schemas.openxmlformats.org/drawingml/2006/main" noGrp="1"/>
          </p:cNvSpPr>
          <p:nvPr/>
        </p:nvSpPr>
        <p:spPr>
          <a:xfrm xmlns:a="http://schemas.openxmlformats.org/drawingml/2006/main">
            <a:off x="4667250" y="5057775"/>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1">
                <a:solidFill>
                  <a:srgbClr val="2F66F3"/>
                </a:solidFill>
              </a:defRPr>
            </a:pPr>
            <a:r>
              <a:rPr sz="675" b="1">
                <a:solidFill>
                  <a:srgbClr val="2F66F3"/>
                </a:solidFill>
              </a:rPr>
              <a:t>cosmos-ytu.github.io/modernbert-tr-1k</a:t>
            </a:r>
          </a:p>
        </p:txBody>
      </p:sp>
      <p:sp>
        <p:nvSpPr>
          <p:cNvPr id="32" name="">
            <a:extLst xmlns:a="http://schemas.openxmlformats.org/drawingml/2006/main">
              <a:ext uri="{FF2B5EF4-FFF2-40B4-BE49-F238E27FC236}">
                <a16:creationId xmlns:a16="http://schemas.microsoft.com/office/drawing/2014/main" id="{57015BCF-8D34-494A-B3B8-ACB232A9B436}"/>
              </a:ext>
            </a:extLst>
          </p:cNvPr>
          <p:cNvSpPr>
            <a:spLocks xmlns:a="http://schemas.openxmlformats.org/drawingml/2006/main" noGrp="1"/>
          </p:cNvSpPr>
          <p:nvPr/>
        </p:nvSpPr>
        <p:spPr>
          <a:xfrm xmlns:a="http://schemas.openxmlformats.org/drawingml/2006/main">
            <a:off x="7448550" y="1562100"/>
            <a:ext cx="4229100" cy="4457700"/>
          </a:xfrm>
          <a:prstGeom xmlns:a="http://schemas.openxmlformats.org/drawingml/2006/main" prst="roundRect">
            <a:avLst>
              <a:gd name="adj" fmla="val 2703"/>
            </a:avLst>
          </a:prstGeom>
          <a:solidFill xmlns:a="http://schemas.openxmlformats.org/drawingml/2006/main">
            <a:srgbClr val="111111"/>
          </a:solidFill>
          <a:ln xmlns:a="http://schemas.openxmlformats.org/drawingml/2006/main" w="9525">
            <a:solidFill>
              <a:srgbClr val="111111"/>
            </a:solidFill>
            <a:prstDash val="solid"/>
          </a:ln>
        </p:spPr>
      </p:sp>
      <p:sp>
        <p:nvSpPr>
          <p:cNvPr id="33" name="">
            <a:extLst xmlns:a="http://schemas.openxmlformats.org/drawingml/2006/main">
              <a:ext uri="{FF2B5EF4-FFF2-40B4-BE49-F238E27FC236}">
                <a16:creationId xmlns:a16="http://schemas.microsoft.com/office/drawing/2014/main" id="{923EC065-5342-4E1D-A5AC-EA94104A966C}"/>
              </a:ext>
            </a:extLst>
          </p:cNvPr>
          <p:cNvSpPr>
            <a:spLocks xmlns:a="http://schemas.openxmlformats.org/drawingml/2006/main" noGrp="1"/>
          </p:cNvSpPr>
          <p:nvPr/>
        </p:nvSpPr>
        <p:spPr>
          <a:xfrm xmlns:a="http://schemas.openxmlformats.org/drawingml/2006/main">
            <a:off x="7734300" y="179070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AA8FF"/>
                </a:solidFill>
              </a:defRPr>
            </a:pPr>
            <a:r>
              <a:rPr sz="900" b="1">
                <a:solidFill>
                  <a:srgbClr val="8AA8FF"/>
                </a:solidFill>
              </a:rPr>
              <a:t>WHY VNGRS</a:t>
            </a:r>
          </a:p>
        </p:txBody>
      </p:sp>
      <p:sp>
        <p:nvSpPr>
          <p:cNvPr id="34" name="">
            <a:extLst xmlns:a="http://schemas.openxmlformats.org/drawingml/2006/main">
              <a:ext uri="{FF2B5EF4-FFF2-40B4-BE49-F238E27FC236}">
                <a16:creationId xmlns:a16="http://schemas.microsoft.com/office/drawing/2014/main" id="{B4E4AE96-AB4F-4A8E-B03C-418624596323}"/>
              </a:ext>
            </a:extLst>
          </p:cNvPr>
          <p:cNvSpPr>
            <a:spLocks xmlns:a="http://schemas.openxmlformats.org/drawingml/2006/main" noGrp="1"/>
          </p:cNvSpPr>
          <p:nvPr/>
        </p:nvSpPr>
        <p:spPr>
          <a:xfrm xmlns:a="http://schemas.openxmlformats.org/drawingml/2006/main">
            <a:off x="7734300" y="2152650"/>
            <a:ext cx="238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FFFFFF"/>
                </a:solidFill>
              </a:defRPr>
            </a:pPr>
            <a:r>
              <a:rPr sz="3000" b="1">
                <a:solidFill>
                  <a:srgbClr val="FFFFFF"/>
                </a:solidFill>
              </a:rPr>
              <a:t>84.9 GB</a:t>
            </a:r>
          </a:p>
        </p:txBody>
      </p:sp>
      <p:sp>
        <p:nvSpPr>
          <p:cNvPr id="35" name="">
            <a:extLst xmlns:a="http://schemas.openxmlformats.org/drawingml/2006/main">
              <a:ext uri="{FF2B5EF4-FFF2-40B4-BE49-F238E27FC236}">
                <a16:creationId xmlns:a16="http://schemas.microsoft.com/office/drawing/2014/main" id="{E664F119-C053-4F86-BF31-1889E18AFA3C}"/>
              </a:ext>
            </a:extLst>
          </p:cNvPr>
          <p:cNvSpPr>
            <a:spLocks xmlns:a="http://schemas.openxmlformats.org/drawingml/2006/main" noGrp="1"/>
          </p:cNvSpPr>
          <p:nvPr/>
        </p:nvSpPr>
        <p:spPr>
          <a:xfrm xmlns:a="http://schemas.openxmlformats.org/drawingml/2006/main">
            <a:off x="7734300" y="2647950"/>
            <a:ext cx="323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FFFFFF"/>
                </a:solidFill>
              </a:defRPr>
            </a:pPr>
            <a:r>
              <a:rPr sz="1425" b="0">
                <a:solidFill>
                  <a:srgbClr val="FFFFFF"/>
                </a:solidFill>
              </a:rPr>
              <a:t>50.3M source-tagged rows</a:t>
            </a:r>
          </a:p>
          <a:p xmlns:a="http://schemas.openxmlformats.org/drawingml/2006/main">
            <a:pPr algn="l">
              <a:defRPr sz="1425" b="0">
                <a:solidFill>
                  <a:srgbClr val="FFFFFF"/>
                </a:solidFill>
              </a:defRPr>
            </a:pPr>
            <a:r>
              <a:rPr sz="1425" b="0">
                <a:solidFill>
                  <a:srgbClr val="FFFFFF"/>
                </a:solidFill>
              </a:rPr>
              <a:t>OSCAR + mC4 web text</a:t>
            </a:r>
          </a:p>
        </p:txBody>
      </p:sp>
      <p:sp>
        <p:nvSpPr>
          <p:cNvPr id="36" name="">
            <a:extLst xmlns:a="http://schemas.openxmlformats.org/drawingml/2006/main">
              <a:ext uri="{FF2B5EF4-FFF2-40B4-BE49-F238E27FC236}">
                <a16:creationId xmlns:a16="http://schemas.microsoft.com/office/drawing/2014/main" id="{442F8B5C-78CD-41EA-B6C5-C3479A832A28}"/>
              </a:ext>
            </a:extLst>
          </p:cNvPr>
          <p:cNvSpPr>
            <a:spLocks xmlns:a="http://schemas.openxmlformats.org/drawingml/2006/main" noGrp="1"/>
          </p:cNvSpPr>
          <p:nvPr/>
        </p:nvSpPr>
        <p:spPr>
          <a:xfrm xmlns:a="http://schemas.openxmlformats.org/drawingml/2006/main">
            <a:off x="7734300" y="3476625"/>
            <a:ext cx="337185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FFFFFF"/>
                </a:solidFill>
              </a:defRPr>
            </a:pPr>
            <a:r>
              <a:rPr sz="1350" b="0">
                <a:solidFill>
                  <a:srgbClr val="FFFFFF"/>
                </a:solidFill>
              </a:rPr>
              <a:t>• Used in Turkish CPT papers</a:t>
            </a:r>
          </a:p>
          <a:p xmlns:a="http://schemas.openxmlformats.org/drawingml/2006/main">
            <a:pPr algn="l">
              <a:defRPr sz="1350" b="0">
                <a:solidFill>
                  <a:srgbClr val="FFFFFF"/>
                </a:solidFill>
              </a:defRPr>
            </a:pPr>
            <a:r>
              <a:rPr sz="1350" b="0">
                <a:solidFill>
                  <a:srgbClr val="FFFFFF"/>
                </a:solidFill>
              </a:rPr>
              <a:t>• Broader than Wikipedia</a:t>
            </a:r>
          </a:p>
          <a:p xmlns:a="http://schemas.openxmlformats.org/drawingml/2006/main">
            <a:pPr algn="l">
              <a:defRPr sz="1350" b="0">
                <a:solidFill>
                  <a:srgbClr val="FFFFFF"/>
                </a:solidFill>
              </a:defRPr>
            </a:pPr>
            <a:r>
              <a:rPr sz="1350" b="0">
                <a:solidFill>
                  <a:srgbClr val="FFFFFF"/>
                </a:solidFill>
              </a:rPr>
              <a:t>• Manageable on HU scratch</a:t>
            </a:r>
          </a:p>
          <a:p xmlns:a="http://schemas.openxmlformats.org/drawingml/2006/main">
            <a:pPr algn="l">
              <a:defRPr sz="1350" b="0">
                <a:solidFill>
                  <a:srgbClr val="FFFFFF"/>
                </a:solidFill>
              </a:defRPr>
            </a:pPr>
            <a:r>
              <a:rPr sz="1350" b="0">
                <a:solidFill>
                  <a:srgbClr val="FFFFFF"/>
                </a:solidFill>
              </a:rPr>
              <a:t>• Auditable source labels</a:t>
            </a:r>
          </a:p>
          <a:p xmlns:a="http://schemas.openxmlformats.org/drawingml/2006/main">
            <a:pPr algn="l">
              <a:defRPr sz="1350" b="0">
                <a:solidFill>
                  <a:srgbClr val="FFFFFF"/>
                </a:solidFill>
              </a:defRPr>
            </a:pPr>
            <a:r>
              <a:rPr sz="1350" b="0">
                <a:solidFill>
                  <a:srgbClr val="FFFFFF"/>
                </a:solidFill>
              </a:rPr>
              <a:t>• No instruction-mixture confound</a:t>
            </a:r>
          </a:p>
        </p:txBody>
      </p:sp>
      <p:sp>
        <p:nvSpPr>
          <p:cNvPr id="37" name="">
            <a:extLst xmlns:a="http://schemas.openxmlformats.org/drawingml/2006/main">
              <a:ext uri="{FF2B5EF4-FFF2-40B4-BE49-F238E27FC236}">
                <a16:creationId xmlns:a16="http://schemas.microsoft.com/office/drawing/2014/main" id="{EC76136D-038E-4445-9B4E-15C68066049B}"/>
              </a:ext>
            </a:extLst>
          </p:cNvPr>
          <p:cNvSpPr>
            <a:spLocks xmlns:a="http://schemas.openxmlformats.org/drawingml/2006/main" noGrp="1"/>
          </p:cNvSpPr>
          <p:nvPr/>
        </p:nvSpPr>
        <p:spPr>
          <a:xfrm xmlns:a="http://schemas.openxmlformats.org/drawingml/2006/main">
            <a:off x="7734300" y="5143500"/>
            <a:ext cx="3371850" cy="552450"/>
          </a:xfrm>
          <a:prstGeom xmlns:a="http://schemas.openxmlformats.org/drawingml/2006/main" prst="roundRect">
            <a:avLst>
              <a:gd name="adj" fmla="val 20690"/>
            </a:avLst>
          </a:prstGeom>
          <a:solidFill xmlns:a="http://schemas.openxmlformats.org/drawingml/2006/main">
            <a:srgbClr val="FFF0DF"/>
          </a:solidFill>
          <a:ln xmlns:a="http://schemas.openxmlformats.org/drawingml/2006/main" w="9525">
            <a:solidFill>
              <a:srgbClr val="FFF0DF"/>
            </a:solidFill>
            <a:prstDash val="solid"/>
          </a:ln>
        </p:spPr>
      </p:sp>
      <p:sp>
        <p:nvSpPr>
          <p:cNvPr id="38" name="">
            <a:extLst xmlns:a="http://schemas.openxmlformats.org/drawingml/2006/main">
              <a:ext uri="{FF2B5EF4-FFF2-40B4-BE49-F238E27FC236}">
                <a16:creationId xmlns:a16="http://schemas.microsoft.com/office/drawing/2014/main" id="{724CC536-7BE0-4353-966A-076455538C9E}"/>
              </a:ext>
            </a:extLst>
          </p:cNvPr>
          <p:cNvSpPr>
            <a:spLocks xmlns:a="http://schemas.openxmlformats.org/drawingml/2006/main" noGrp="1"/>
          </p:cNvSpPr>
          <p:nvPr/>
        </p:nvSpPr>
        <p:spPr>
          <a:xfrm xmlns:a="http://schemas.openxmlformats.org/drawingml/2006/main">
            <a:off x="7886700" y="5257800"/>
            <a:ext cx="3067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111111"/>
                </a:solidFill>
              </a:defRPr>
            </a:pPr>
            <a:r>
              <a:rPr sz="1200" b="1">
                <a:solidFill>
                  <a:srgbClr val="111111"/>
                </a:solidFill>
              </a:rPr>
              <a:t>Caveat: noisy web data — manual quality audit is mandatory.</a:t>
            </a:r>
          </a:p>
        </p:txBody>
      </p:sp>
    </p:spTree>
    <p:extLst>
      <p:ext uri="{BB962C8B-B14F-4D97-AF65-F5344CB8AC3E}">
        <p14:creationId xmlns:p14="http://schemas.microsoft.com/office/powerpoint/2010/main" val="633418359"/>
      </p:ext>
    </p:extLst>
  </p:cSld>
</p:sld>
</file>

<file path=ppt/slides/slide5.xml><?xml version="1.0" encoding="utf-8"?>
<p:sld xmlns:p="http://schemas.openxmlformats.org/presentationml/2006/main">
  <p:cSld>
    <p:bg>
      <p:bgPr>
        <a:solidFill xmlns:a="http://schemas.openxmlformats.org/drawingml/2006/main">
          <a:srgbClr val="F7F7F5"/>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C52C33A1-597B-45FE-AD52-2024C484550F}"/>
              </a:ext>
            </a:extLst>
          </p:cNvPr>
          <p:cNvSpPr>
            <a:spLocks xmlns:a="http://schemas.openxmlformats.org/drawingml/2006/main" noGrp="1"/>
          </p:cNvSpPr>
          <p:nvPr/>
        </p:nvSpPr>
        <p:spPr>
          <a:xfrm xmlns:a="http://schemas.openxmlformats.org/drawingml/2006/main">
            <a:off x="514350" y="26670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F66F3"/>
                </a:solidFill>
              </a:defRPr>
            </a:pPr>
            <a:r>
              <a:rPr sz="900" b="1">
                <a:solidFill>
                  <a:srgbClr val="2F66F3"/>
                </a:solidFill>
              </a:rPr>
              <a:t>CORPUS WORKFLOW</a:t>
            </a:r>
          </a:p>
        </p:txBody>
      </p:sp>
      <p:sp>
        <p:nvSpPr>
          <p:cNvPr id="2" name="">
            <a:extLst xmlns:a="http://schemas.openxmlformats.org/drawingml/2006/main">
              <a:ext uri="{FF2B5EF4-FFF2-40B4-BE49-F238E27FC236}">
                <a16:creationId xmlns:a16="http://schemas.microsoft.com/office/drawing/2014/main" id="{3CE6AE9D-5C4B-47D7-9D39-976E82BB1181}"/>
              </a:ext>
            </a:extLst>
          </p:cNvPr>
          <p:cNvSpPr>
            <a:spLocks xmlns:a="http://schemas.openxmlformats.org/drawingml/2006/main" noGrp="1"/>
          </p:cNvSpPr>
          <p:nvPr/>
        </p:nvSpPr>
        <p:spPr>
          <a:xfrm xmlns:a="http://schemas.openxmlformats.org/drawingml/2006/main">
            <a:off x="514350" y="59055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11111"/>
                </a:solidFill>
              </a:defRPr>
            </a:pPr>
            <a:r>
              <a:rPr sz="2850" b="1">
                <a:solidFill>
                  <a:srgbClr val="111111"/>
                </a:solidFill>
              </a:rPr>
              <a:t>vngrs: inspect first, then train</a:t>
            </a:r>
          </a:p>
        </p:txBody>
      </p:sp>
      <p:sp>
        <p:nvSpPr>
          <p:cNvPr id="3" name="">
            <a:extLst xmlns:a="http://schemas.openxmlformats.org/drawingml/2006/main">
              <a:ext uri="{FF2B5EF4-FFF2-40B4-BE49-F238E27FC236}">
                <a16:creationId xmlns:a16="http://schemas.microsoft.com/office/drawing/2014/main" id="{56B90A58-54A0-435F-BDAD-98CA493AF9CA}"/>
              </a:ext>
            </a:extLst>
          </p:cNvPr>
          <p:cNvSpPr>
            <a:spLocks xmlns:a="http://schemas.openxmlformats.org/drawingml/2006/main" noGrp="1"/>
          </p:cNvSpPr>
          <p:nvPr/>
        </p:nvSpPr>
        <p:spPr>
          <a:xfrm xmlns:a="http://schemas.openxmlformats.org/drawingml/2006/main">
            <a:off x="514350" y="1104900"/>
            <a:ext cx="1104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46464"/>
                </a:solidFill>
              </a:defRPr>
            </a:pPr>
            <a:r>
              <a:rPr sz="1350" b="0">
                <a:solidFill>
                  <a:srgbClr val="646464"/>
                </a:solidFill>
              </a:rPr>
              <a:t>The public release already exposes source labels and raw web-text variation.</a:t>
            </a:r>
          </a:p>
        </p:txBody>
      </p:sp>
      <p:sp>
        <p:nvSpPr>
          <p:cNvPr id="4" name="">
            <a:extLst xmlns:a="http://schemas.openxmlformats.org/drawingml/2006/main">
              <a:ext uri="{FF2B5EF4-FFF2-40B4-BE49-F238E27FC236}">
                <a16:creationId xmlns:a16="http://schemas.microsoft.com/office/drawing/2014/main" id="{116D2C1A-57D3-4E5C-B203-0BD0267EEC71}"/>
              </a:ext>
            </a:extLst>
          </p:cNvPr>
          <p:cNvSpPr>
            <a:spLocks xmlns:a="http://schemas.openxmlformats.org/drawingml/2006/main" noGrp="1"/>
          </p:cNvSpPr>
          <p:nvPr/>
        </p:nvSpPr>
        <p:spPr>
          <a:xfrm xmlns:a="http://schemas.openxmlformats.org/drawingml/2006/main">
            <a:off x="514350" y="6400800"/>
            <a:ext cx="11163300" cy="9525"/>
          </a:xfrm>
          <a:prstGeom xmlns:a="http://schemas.openxmlformats.org/drawingml/2006/main" prst="rect">
            <a:avLst/>
          </a:prstGeom>
          <a:solidFill xmlns:a="http://schemas.openxmlformats.org/drawingml/2006/main">
            <a:srgbClr val="D8D8D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27542AA-3422-4605-A826-08B710B00E19}"/>
              </a:ext>
            </a:extLst>
          </p:cNvPr>
          <p:cNvSpPr>
            <a:spLocks xmlns:a="http://schemas.openxmlformats.org/drawingml/2006/main" noGrp="1"/>
          </p:cNvSpPr>
          <p:nvPr/>
        </p:nvSpPr>
        <p:spPr>
          <a:xfrm xmlns:a="http://schemas.openxmlformats.org/drawingml/2006/main">
            <a:off x="514350" y="6486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646464"/>
                </a:solidFill>
              </a:defRPr>
            </a:pPr>
            <a:r>
              <a:rPr sz="825" b="1">
                <a:solidFill>
                  <a:srgbClr val="646464"/>
                </a:solidFill>
              </a:rPr>
              <a:t>TRANSFER VS. RELEARNING  •  05 / 06</a:t>
            </a:r>
          </a:p>
        </p:txBody>
      </p:sp>
      <p:sp>
        <p:nvSpPr>
          <p:cNvPr id="6" name="">
            <a:extLst xmlns:a="http://schemas.openxmlformats.org/drawingml/2006/main">
              <a:ext uri="{FF2B5EF4-FFF2-40B4-BE49-F238E27FC236}">
                <a16:creationId xmlns:a16="http://schemas.microsoft.com/office/drawing/2014/main" id="{2D229BA7-BBF5-41A4-9920-BCA927BD8256}"/>
              </a:ext>
            </a:extLst>
          </p:cNvPr>
          <p:cNvSpPr>
            <a:spLocks xmlns:a="http://schemas.openxmlformats.org/drawingml/2006/main" noGrp="1"/>
          </p:cNvSpPr>
          <p:nvPr/>
        </p:nvSpPr>
        <p:spPr>
          <a:xfrm xmlns:a="http://schemas.openxmlformats.org/drawingml/2006/main">
            <a:off x="514350" y="1676400"/>
            <a:ext cx="6629400" cy="4000500"/>
          </a:xfrm>
          <a:prstGeom xmlns:a="http://schemas.openxmlformats.org/drawingml/2006/main" prst="roundRect">
            <a:avLst>
              <a:gd name="adj" fmla="val 2857"/>
            </a:avLst>
          </a:prstGeom>
          <a:solidFill xmlns:a="http://schemas.openxmlformats.org/drawingml/2006/main">
            <a:srgbClr val="111111"/>
          </a:solidFill>
          <a:ln xmlns:a="http://schemas.openxmlformats.org/drawingml/2006/main" w="9525">
            <a:solidFill>
              <a:srgbClr val="111111"/>
            </a:solidFill>
            <a:prstDash val="solid"/>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b640594644984fa2"/>
          <a:stretch xmlns:a="http://schemas.openxmlformats.org/drawingml/2006/main"/>
        </p:blipFill>
        <p:spPr>
          <a:xfrm xmlns:a="http://schemas.openxmlformats.org/drawingml/2006/main">
            <a:off x="647700" y="2010597"/>
            <a:ext cx="6362700" cy="3332107"/>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3B7B042-2F35-4F4F-96A1-9CFBB6DDE4E8}"/>
              </a:ext>
            </a:extLst>
          </p:cNvPr>
          <p:cNvSpPr>
            <a:spLocks xmlns:a="http://schemas.openxmlformats.org/drawingml/2006/main" noGrp="1"/>
          </p:cNvSpPr>
          <p:nvPr/>
        </p:nvSpPr>
        <p:spPr>
          <a:xfrm xmlns:a="http://schemas.openxmlformats.org/drawingml/2006/main">
            <a:off x="723900" y="57340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F66F3"/>
                </a:solidFill>
              </a:defRPr>
            </a:pPr>
            <a:r>
              <a:rPr sz="900" b="1">
                <a:solidFill>
                  <a:srgbClr val="2F66F3"/>
                </a:solidFill>
              </a:rPr>
              <a:t>REAL VNGRS SAMPLE</a:t>
            </a:r>
          </a:p>
        </p:txBody>
      </p:sp>
      <p:sp>
        <p:nvSpPr>
          <p:cNvPr id="9" name="">
            <a:extLst xmlns:a="http://schemas.openxmlformats.org/drawingml/2006/main">
              <a:ext uri="{FF2B5EF4-FFF2-40B4-BE49-F238E27FC236}">
                <a16:creationId xmlns:a16="http://schemas.microsoft.com/office/drawing/2014/main" id="{F523B047-F01B-4035-8724-4CF93B278CDA}"/>
              </a:ext>
            </a:extLst>
          </p:cNvPr>
          <p:cNvSpPr>
            <a:spLocks xmlns:a="http://schemas.openxmlformats.org/drawingml/2006/main" noGrp="1"/>
          </p:cNvSpPr>
          <p:nvPr/>
        </p:nvSpPr>
        <p:spPr>
          <a:xfrm xmlns:a="http://schemas.openxmlformats.org/drawingml/2006/main">
            <a:off x="2514600" y="5715000"/>
            <a:ext cx="4629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111111"/>
                </a:solidFill>
              </a:defRPr>
            </a:pPr>
            <a:r>
              <a:rPr sz="1200" b="1">
                <a:solidFill>
                  <a:srgbClr val="111111"/>
                </a:solidFill>
              </a:rPr>
              <a:t>Source labels make OSCAR / mC4 strata directly auditable.</a:t>
            </a:r>
          </a:p>
        </p:txBody>
      </p:sp>
      <p:sp>
        <p:nvSpPr>
          <p:cNvPr id="10" name="">
            <a:extLst xmlns:a="http://schemas.openxmlformats.org/drawingml/2006/main">
              <a:ext uri="{FF2B5EF4-FFF2-40B4-BE49-F238E27FC236}">
                <a16:creationId xmlns:a16="http://schemas.microsoft.com/office/drawing/2014/main" id="{5EB957AF-DFF4-4A43-A2A7-58B8D221E512}"/>
              </a:ext>
            </a:extLst>
          </p:cNvPr>
          <p:cNvSpPr>
            <a:spLocks xmlns:a="http://schemas.openxmlformats.org/drawingml/2006/main" noGrp="1"/>
          </p:cNvSpPr>
          <p:nvPr/>
        </p:nvSpPr>
        <p:spPr>
          <a:xfrm xmlns:a="http://schemas.openxmlformats.org/drawingml/2006/main">
            <a:off x="7772400" y="2152650"/>
            <a:ext cx="76200" cy="2952750"/>
          </a:xfrm>
          <a:prstGeom xmlns:a="http://schemas.openxmlformats.org/drawingml/2006/main" prst="rect">
            <a:avLst/>
          </a:prstGeom>
          <a:solidFill xmlns:a="http://schemas.openxmlformats.org/drawingml/2006/main">
            <a:srgbClr val="8AA8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4D474B6-284E-4EFF-B24B-5EA520D9A406}"/>
              </a:ext>
            </a:extLst>
          </p:cNvPr>
          <p:cNvSpPr>
            <a:spLocks xmlns:a="http://schemas.openxmlformats.org/drawingml/2006/main" noGrp="1"/>
          </p:cNvSpPr>
          <p:nvPr/>
        </p:nvSpPr>
        <p:spPr>
          <a:xfrm xmlns:a="http://schemas.openxmlformats.org/drawingml/2006/main">
            <a:off x="7524750" y="1809750"/>
            <a:ext cx="533400" cy="457200"/>
          </a:xfrm>
          <a:prstGeom xmlns:a="http://schemas.openxmlformats.org/drawingml/2006/main" prst="roundRect">
            <a:avLst>
              <a:gd name="adj" fmla="val 50000"/>
            </a:avLst>
          </a:prstGeom>
          <a:solidFill xmlns:a="http://schemas.openxmlformats.org/drawingml/2006/main">
            <a:srgbClr val="2F66F3"/>
          </a:solidFill>
          <a:ln xmlns:a="http://schemas.openxmlformats.org/drawingml/2006/main" w="9525">
            <a:solidFill>
              <a:srgbClr val="2F66F3"/>
            </a:solidFill>
            <a:prstDash val="solid"/>
          </a:ln>
        </p:spPr>
      </p:sp>
      <p:sp>
        <p:nvSpPr>
          <p:cNvPr id="12" name="">
            <a:extLst xmlns:a="http://schemas.openxmlformats.org/drawingml/2006/main">
              <a:ext uri="{FF2B5EF4-FFF2-40B4-BE49-F238E27FC236}">
                <a16:creationId xmlns:a16="http://schemas.microsoft.com/office/drawing/2014/main" id="{551494B7-2C18-476A-B3AB-3087CD608C03}"/>
              </a:ext>
            </a:extLst>
          </p:cNvPr>
          <p:cNvSpPr>
            <a:spLocks xmlns:a="http://schemas.openxmlformats.org/drawingml/2006/main" noGrp="1"/>
          </p:cNvSpPr>
          <p:nvPr/>
        </p:nvSpPr>
        <p:spPr>
          <a:xfrm xmlns:a="http://schemas.openxmlformats.org/drawingml/2006/main">
            <a:off x="7524750" y="19145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FFFFFF"/>
                </a:solidFill>
              </a:defRPr>
            </a:pPr>
            <a:r>
              <a:rPr sz="1350" b="1">
                <a:solidFill>
                  <a:srgbClr val="FFFFFF"/>
                </a:solidFill>
              </a:rPr>
              <a:t>1</a:t>
            </a:r>
          </a:p>
        </p:txBody>
      </p:sp>
      <p:sp>
        <p:nvSpPr>
          <p:cNvPr id="13" name="">
            <a:extLst xmlns:a="http://schemas.openxmlformats.org/drawingml/2006/main">
              <a:ext uri="{FF2B5EF4-FFF2-40B4-BE49-F238E27FC236}">
                <a16:creationId xmlns:a16="http://schemas.microsoft.com/office/drawing/2014/main" id="{DBCD6EFB-B0EC-4505-9FF2-68665E36435A}"/>
              </a:ext>
            </a:extLst>
          </p:cNvPr>
          <p:cNvSpPr>
            <a:spLocks xmlns:a="http://schemas.openxmlformats.org/drawingml/2006/main" noGrp="1"/>
          </p:cNvSpPr>
          <p:nvPr/>
        </p:nvSpPr>
        <p:spPr>
          <a:xfrm xmlns:a="http://schemas.openxmlformats.org/drawingml/2006/main">
            <a:off x="8305800" y="1819275"/>
            <a:ext cx="257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1111"/>
                </a:solidFill>
              </a:defRPr>
            </a:pPr>
            <a:r>
              <a:rPr sz="1650" b="1">
                <a:solidFill>
                  <a:srgbClr val="111111"/>
                </a:solidFill>
              </a:rPr>
              <a:t>Download</a:t>
            </a:r>
          </a:p>
        </p:txBody>
      </p:sp>
      <p:sp>
        <p:nvSpPr>
          <p:cNvPr id="14" name="">
            <a:extLst xmlns:a="http://schemas.openxmlformats.org/drawingml/2006/main">
              <a:ext uri="{FF2B5EF4-FFF2-40B4-BE49-F238E27FC236}">
                <a16:creationId xmlns:a16="http://schemas.microsoft.com/office/drawing/2014/main" id="{603340AD-F59A-4D92-B8A2-D8CCD4693E65}"/>
              </a:ext>
            </a:extLst>
          </p:cNvPr>
          <p:cNvSpPr>
            <a:spLocks xmlns:a="http://schemas.openxmlformats.org/drawingml/2006/main" noGrp="1"/>
          </p:cNvSpPr>
          <p:nvPr/>
        </p:nvSpPr>
        <p:spPr>
          <a:xfrm xmlns:a="http://schemas.openxmlformats.org/drawingml/2006/main">
            <a:off x="8305800" y="209550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646464"/>
                </a:solidFill>
              </a:defRPr>
            </a:pPr>
            <a:r>
              <a:rPr sz="1200" b="0">
                <a:solidFill>
                  <a:srgbClr val="646464"/>
                </a:solidFill>
              </a:rPr>
              <a:t>Full 85 GB release to HU scratch</a:t>
            </a:r>
          </a:p>
        </p:txBody>
      </p:sp>
      <p:sp>
        <p:nvSpPr>
          <p:cNvPr id="15" name="">
            <a:extLst xmlns:a="http://schemas.openxmlformats.org/drawingml/2006/main">
              <a:ext uri="{FF2B5EF4-FFF2-40B4-BE49-F238E27FC236}">
                <a16:creationId xmlns:a16="http://schemas.microsoft.com/office/drawing/2014/main" id="{F5246A57-EE9C-407D-BA8B-10863BB4FF0D}"/>
              </a:ext>
            </a:extLst>
          </p:cNvPr>
          <p:cNvSpPr>
            <a:spLocks xmlns:a="http://schemas.openxmlformats.org/drawingml/2006/main" noGrp="1"/>
          </p:cNvSpPr>
          <p:nvPr/>
        </p:nvSpPr>
        <p:spPr>
          <a:xfrm xmlns:a="http://schemas.openxmlformats.org/drawingml/2006/main">
            <a:off x="7524750" y="2762250"/>
            <a:ext cx="533400" cy="457200"/>
          </a:xfrm>
          <a:prstGeom xmlns:a="http://schemas.openxmlformats.org/drawingml/2006/main" prst="roundRect">
            <a:avLst>
              <a:gd name="adj" fmla="val 50000"/>
            </a:avLst>
          </a:prstGeom>
          <a:solidFill xmlns:a="http://schemas.openxmlformats.org/drawingml/2006/main">
            <a:srgbClr val="2F66F3"/>
          </a:solidFill>
          <a:ln xmlns:a="http://schemas.openxmlformats.org/drawingml/2006/main" w="9525">
            <a:solidFill>
              <a:srgbClr val="2F66F3"/>
            </a:solidFill>
            <a:prstDash val="solid"/>
          </a:ln>
        </p:spPr>
      </p:sp>
      <p:sp>
        <p:nvSpPr>
          <p:cNvPr id="16" name="">
            <a:extLst xmlns:a="http://schemas.openxmlformats.org/drawingml/2006/main">
              <a:ext uri="{FF2B5EF4-FFF2-40B4-BE49-F238E27FC236}">
                <a16:creationId xmlns:a16="http://schemas.microsoft.com/office/drawing/2014/main" id="{0D2931F5-A44E-4985-B553-7677C3F9FCFA}"/>
              </a:ext>
            </a:extLst>
          </p:cNvPr>
          <p:cNvSpPr>
            <a:spLocks xmlns:a="http://schemas.openxmlformats.org/drawingml/2006/main" noGrp="1"/>
          </p:cNvSpPr>
          <p:nvPr/>
        </p:nvSpPr>
        <p:spPr>
          <a:xfrm xmlns:a="http://schemas.openxmlformats.org/drawingml/2006/main">
            <a:off x="7524750" y="28670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FFFFFF"/>
                </a:solidFill>
              </a:defRPr>
            </a:pPr>
            <a:r>
              <a:rPr sz="1350" b="1">
                <a:solidFill>
                  <a:srgbClr val="FFFFFF"/>
                </a:solidFill>
              </a:rPr>
              <a:t>2</a:t>
            </a:r>
          </a:p>
        </p:txBody>
      </p:sp>
      <p:sp>
        <p:nvSpPr>
          <p:cNvPr id="17" name="">
            <a:extLst xmlns:a="http://schemas.openxmlformats.org/drawingml/2006/main">
              <a:ext uri="{FF2B5EF4-FFF2-40B4-BE49-F238E27FC236}">
                <a16:creationId xmlns:a16="http://schemas.microsoft.com/office/drawing/2014/main" id="{814CB12D-A626-437B-84A0-249BFECF95B8}"/>
              </a:ext>
            </a:extLst>
          </p:cNvPr>
          <p:cNvSpPr>
            <a:spLocks xmlns:a="http://schemas.openxmlformats.org/drawingml/2006/main" noGrp="1"/>
          </p:cNvSpPr>
          <p:nvPr/>
        </p:nvSpPr>
        <p:spPr>
          <a:xfrm xmlns:a="http://schemas.openxmlformats.org/drawingml/2006/main">
            <a:off x="8305800" y="2771775"/>
            <a:ext cx="257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1111"/>
                </a:solidFill>
              </a:defRPr>
            </a:pPr>
            <a:r>
              <a:rPr sz="1650" b="1">
                <a:solidFill>
                  <a:srgbClr val="111111"/>
                </a:solidFill>
              </a:rPr>
              <a:t>Inspect</a:t>
            </a:r>
          </a:p>
        </p:txBody>
      </p:sp>
      <p:sp>
        <p:nvSpPr>
          <p:cNvPr id="18" name="">
            <a:extLst xmlns:a="http://schemas.openxmlformats.org/drawingml/2006/main">
              <a:ext uri="{FF2B5EF4-FFF2-40B4-BE49-F238E27FC236}">
                <a16:creationId xmlns:a16="http://schemas.microsoft.com/office/drawing/2014/main" id="{C6DF3A5F-5A15-433D-8E5D-34CF80EE0BBD}"/>
              </a:ext>
            </a:extLst>
          </p:cNvPr>
          <p:cNvSpPr>
            <a:spLocks xmlns:a="http://schemas.openxmlformats.org/drawingml/2006/main" noGrp="1"/>
          </p:cNvSpPr>
          <p:nvPr/>
        </p:nvSpPr>
        <p:spPr>
          <a:xfrm xmlns:a="http://schemas.openxmlformats.org/drawingml/2006/main">
            <a:off x="8305800" y="304800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646464"/>
                </a:solidFill>
              </a:defRPr>
            </a:pPr>
            <a:r>
              <a:rPr sz="1200" b="0">
                <a:solidFill>
                  <a:srgbClr val="646464"/>
                </a:solidFill>
              </a:rPr>
              <a:t>Stratified human sample by source</a:t>
            </a:r>
          </a:p>
        </p:txBody>
      </p:sp>
      <p:sp>
        <p:nvSpPr>
          <p:cNvPr id="19" name="">
            <a:extLst xmlns:a="http://schemas.openxmlformats.org/drawingml/2006/main">
              <a:ext uri="{FF2B5EF4-FFF2-40B4-BE49-F238E27FC236}">
                <a16:creationId xmlns:a16="http://schemas.microsoft.com/office/drawing/2014/main" id="{6684FD4D-0976-4B2C-A247-C49B6EAEC810}"/>
              </a:ext>
            </a:extLst>
          </p:cNvPr>
          <p:cNvSpPr>
            <a:spLocks xmlns:a="http://schemas.openxmlformats.org/drawingml/2006/main" noGrp="1"/>
          </p:cNvSpPr>
          <p:nvPr/>
        </p:nvSpPr>
        <p:spPr>
          <a:xfrm xmlns:a="http://schemas.openxmlformats.org/drawingml/2006/main">
            <a:off x="7524750" y="3714750"/>
            <a:ext cx="533400" cy="457200"/>
          </a:xfrm>
          <a:prstGeom xmlns:a="http://schemas.openxmlformats.org/drawingml/2006/main" prst="roundRect">
            <a:avLst>
              <a:gd name="adj" fmla="val 50000"/>
            </a:avLst>
          </a:prstGeom>
          <a:solidFill xmlns:a="http://schemas.openxmlformats.org/drawingml/2006/main">
            <a:srgbClr val="2F66F3"/>
          </a:solidFill>
          <a:ln xmlns:a="http://schemas.openxmlformats.org/drawingml/2006/main" w="9525">
            <a:solidFill>
              <a:srgbClr val="2F66F3"/>
            </a:solidFill>
            <a:prstDash val="solid"/>
          </a:ln>
        </p:spPr>
      </p:sp>
      <p:sp>
        <p:nvSpPr>
          <p:cNvPr id="20" name="">
            <a:extLst xmlns:a="http://schemas.openxmlformats.org/drawingml/2006/main">
              <a:ext uri="{FF2B5EF4-FFF2-40B4-BE49-F238E27FC236}">
                <a16:creationId xmlns:a16="http://schemas.microsoft.com/office/drawing/2014/main" id="{6CA17BC9-5CB5-412B-B1AD-8C189DDEBB4D}"/>
              </a:ext>
            </a:extLst>
          </p:cNvPr>
          <p:cNvSpPr>
            <a:spLocks xmlns:a="http://schemas.openxmlformats.org/drawingml/2006/main" noGrp="1"/>
          </p:cNvSpPr>
          <p:nvPr/>
        </p:nvSpPr>
        <p:spPr>
          <a:xfrm xmlns:a="http://schemas.openxmlformats.org/drawingml/2006/main">
            <a:off x="7524750" y="38195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FFFFFF"/>
                </a:solidFill>
              </a:defRPr>
            </a:pPr>
            <a:r>
              <a:rPr sz="1350" b="1">
                <a:solidFill>
                  <a:srgbClr val="FFFFFF"/>
                </a:solidFill>
              </a:rPr>
              <a:t>3</a:t>
            </a:r>
          </a:p>
        </p:txBody>
      </p:sp>
      <p:sp>
        <p:nvSpPr>
          <p:cNvPr id="21" name="">
            <a:extLst xmlns:a="http://schemas.openxmlformats.org/drawingml/2006/main">
              <a:ext uri="{FF2B5EF4-FFF2-40B4-BE49-F238E27FC236}">
                <a16:creationId xmlns:a16="http://schemas.microsoft.com/office/drawing/2014/main" id="{B5632C16-250D-4F5F-9C60-A28E602C47DF}"/>
              </a:ext>
            </a:extLst>
          </p:cNvPr>
          <p:cNvSpPr>
            <a:spLocks xmlns:a="http://schemas.openxmlformats.org/drawingml/2006/main" noGrp="1"/>
          </p:cNvSpPr>
          <p:nvPr/>
        </p:nvSpPr>
        <p:spPr>
          <a:xfrm xmlns:a="http://schemas.openxmlformats.org/drawingml/2006/main">
            <a:off x="8305800" y="3724275"/>
            <a:ext cx="257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1111"/>
                </a:solidFill>
              </a:defRPr>
            </a:pPr>
            <a:r>
              <a:rPr sz="1650" b="1">
                <a:solidFill>
                  <a:srgbClr val="111111"/>
                </a:solidFill>
              </a:rPr>
              <a:t>Freeze</a:t>
            </a:r>
          </a:p>
        </p:txBody>
      </p:sp>
      <p:sp>
        <p:nvSpPr>
          <p:cNvPr id="22" name="">
            <a:extLst xmlns:a="http://schemas.openxmlformats.org/drawingml/2006/main">
              <a:ext uri="{FF2B5EF4-FFF2-40B4-BE49-F238E27FC236}">
                <a16:creationId xmlns:a16="http://schemas.microsoft.com/office/drawing/2014/main" id="{DE8A1B83-4A2D-4F52-9A77-3B1242113B41}"/>
              </a:ext>
            </a:extLst>
          </p:cNvPr>
          <p:cNvSpPr>
            <a:spLocks xmlns:a="http://schemas.openxmlformats.org/drawingml/2006/main" noGrp="1"/>
          </p:cNvSpPr>
          <p:nvPr/>
        </p:nvSpPr>
        <p:spPr>
          <a:xfrm xmlns:a="http://schemas.openxmlformats.org/drawingml/2006/main">
            <a:off x="8305800" y="400050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646464"/>
                </a:solidFill>
              </a:defRPr>
            </a:pPr>
            <a:r>
              <a:rPr sz="1200" b="0">
                <a:solidFill>
                  <a:srgbClr val="646464"/>
                </a:solidFill>
              </a:rPr>
              <a:t>Filters, splits and exact hashes</a:t>
            </a:r>
          </a:p>
        </p:txBody>
      </p:sp>
      <p:sp>
        <p:nvSpPr>
          <p:cNvPr id="23" name="">
            <a:extLst xmlns:a="http://schemas.openxmlformats.org/drawingml/2006/main">
              <a:ext uri="{FF2B5EF4-FFF2-40B4-BE49-F238E27FC236}">
                <a16:creationId xmlns:a16="http://schemas.microsoft.com/office/drawing/2014/main" id="{239ACF05-B57F-4530-8791-F6852AAC0998}"/>
              </a:ext>
            </a:extLst>
          </p:cNvPr>
          <p:cNvSpPr>
            <a:spLocks xmlns:a="http://schemas.openxmlformats.org/drawingml/2006/main" noGrp="1"/>
          </p:cNvSpPr>
          <p:nvPr/>
        </p:nvSpPr>
        <p:spPr>
          <a:xfrm xmlns:a="http://schemas.openxmlformats.org/drawingml/2006/main">
            <a:off x="7524750" y="4667250"/>
            <a:ext cx="533400" cy="457200"/>
          </a:xfrm>
          <a:prstGeom xmlns:a="http://schemas.openxmlformats.org/drawingml/2006/main" prst="roundRect">
            <a:avLst>
              <a:gd name="adj" fmla="val 50000"/>
            </a:avLst>
          </a:prstGeom>
          <a:solidFill xmlns:a="http://schemas.openxmlformats.org/drawingml/2006/main">
            <a:srgbClr val="2F66F3"/>
          </a:solidFill>
          <a:ln xmlns:a="http://schemas.openxmlformats.org/drawingml/2006/main" w="9525">
            <a:solidFill>
              <a:srgbClr val="2F66F3"/>
            </a:solidFill>
            <a:prstDash val="solid"/>
          </a:ln>
        </p:spPr>
      </p:sp>
      <p:sp>
        <p:nvSpPr>
          <p:cNvPr id="24" name="">
            <a:extLst xmlns:a="http://schemas.openxmlformats.org/drawingml/2006/main">
              <a:ext uri="{FF2B5EF4-FFF2-40B4-BE49-F238E27FC236}">
                <a16:creationId xmlns:a16="http://schemas.microsoft.com/office/drawing/2014/main" id="{488C9432-2D69-45E5-B1E1-2B78D2891AAA}"/>
              </a:ext>
            </a:extLst>
          </p:cNvPr>
          <p:cNvSpPr>
            <a:spLocks xmlns:a="http://schemas.openxmlformats.org/drawingml/2006/main" noGrp="1"/>
          </p:cNvSpPr>
          <p:nvPr/>
        </p:nvSpPr>
        <p:spPr>
          <a:xfrm xmlns:a="http://schemas.openxmlformats.org/drawingml/2006/main">
            <a:off x="7524750" y="47720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FFFFFF"/>
                </a:solidFill>
              </a:defRPr>
            </a:pPr>
            <a:r>
              <a:rPr sz="1350" b="1">
                <a:solidFill>
                  <a:srgbClr val="FFFFFF"/>
                </a:solidFill>
              </a:rPr>
              <a:t>4</a:t>
            </a:r>
          </a:p>
        </p:txBody>
      </p:sp>
      <p:sp>
        <p:nvSpPr>
          <p:cNvPr id="25" name="">
            <a:extLst xmlns:a="http://schemas.openxmlformats.org/drawingml/2006/main">
              <a:ext uri="{FF2B5EF4-FFF2-40B4-BE49-F238E27FC236}">
                <a16:creationId xmlns:a16="http://schemas.microsoft.com/office/drawing/2014/main" id="{E359F01D-0A9C-4DA6-B6D7-58D9A20D4435}"/>
              </a:ext>
            </a:extLst>
          </p:cNvPr>
          <p:cNvSpPr>
            <a:spLocks xmlns:a="http://schemas.openxmlformats.org/drawingml/2006/main" noGrp="1"/>
          </p:cNvSpPr>
          <p:nvPr/>
        </p:nvSpPr>
        <p:spPr>
          <a:xfrm xmlns:a="http://schemas.openxmlformats.org/drawingml/2006/main">
            <a:off x="8305800" y="4676775"/>
            <a:ext cx="257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1111"/>
                </a:solidFill>
              </a:defRPr>
            </a:pPr>
            <a:r>
              <a:rPr sz="1650" b="1">
                <a:solidFill>
                  <a:srgbClr val="111111"/>
                </a:solidFill>
              </a:rPr>
              <a:t>Verify</a:t>
            </a:r>
          </a:p>
        </p:txBody>
      </p:sp>
      <p:sp>
        <p:nvSpPr>
          <p:cNvPr id="26" name="">
            <a:extLst xmlns:a="http://schemas.openxmlformats.org/drawingml/2006/main">
              <a:ext uri="{FF2B5EF4-FFF2-40B4-BE49-F238E27FC236}">
                <a16:creationId xmlns:a16="http://schemas.microsoft.com/office/drawing/2014/main" id="{CF68DD5F-6323-41FA-9A09-A9E55C70E927}"/>
              </a:ext>
            </a:extLst>
          </p:cNvPr>
          <p:cNvSpPr>
            <a:spLocks xmlns:a="http://schemas.openxmlformats.org/drawingml/2006/main" noGrp="1"/>
          </p:cNvSpPr>
          <p:nvPr/>
        </p:nvSpPr>
        <p:spPr>
          <a:xfrm xmlns:a="http://schemas.openxmlformats.org/drawingml/2006/main">
            <a:off x="8305800" y="495300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646464"/>
                </a:solidFill>
              </a:defRPr>
            </a:pPr>
            <a:r>
              <a:rPr sz="1200" b="0">
                <a:solidFill>
                  <a:srgbClr val="646464"/>
                </a:solidFill>
              </a:rPr>
              <a:t>Turkish gain + English retention, then M2-A/M2-B</a:t>
            </a:r>
          </a:p>
        </p:txBody>
      </p:sp>
    </p:spTree>
    <p:extLst>
      <p:ext uri="{BB962C8B-B14F-4D97-AF65-F5344CB8AC3E}">
        <p14:creationId xmlns:p14="http://schemas.microsoft.com/office/powerpoint/2010/main" val="57222544"/>
      </p:ext>
    </p:extLst>
  </p:cSld>
</p:sld>
</file>

<file path=ppt/slides/slide6.xml><?xml version="1.0" encoding="utf-8"?>
<p:sld xmlns:p="http://schemas.openxmlformats.org/presentationml/2006/main">
  <p:cSld>
    <p:bg>
      <p:bgPr>
        <a:solidFill xmlns:a="http://schemas.openxmlformats.org/drawingml/2006/main">
          <a:srgbClr val="F7F7F5"/>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9BA9D45E-F9CB-4831-A6F9-2161C4848520}"/>
              </a:ext>
            </a:extLst>
          </p:cNvPr>
          <p:cNvSpPr>
            <a:spLocks xmlns:a="http://schemas.openxmlformats.org/drawingml/2006/main" noGrp="1"/>
          </p:cNvSpPr>
          <p:nvPr/>
        </p:nvSpPr>
        <p:spPr>
          <a:xfrm xmlns:a="http://schemas.openxmlformats.org/drawingml/2006/main">
            <a:off x="514350" y="26670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F66F3"/>
                </a:solidFill>
              </a:defRPr>
            </a:pPr>
            <a:r>
              <a:rPr sz="900" b="1">
                <a:solidFill>
                  <a:srgbClr val="2F66F3"/>
                </a:solidFill>
              </a:rPr>
              <a:t>NEXT FOUR WEEKS</a:t>
            </a:r>
          </a:p>
        </p:txBody>
      </p:sp>
      <p:sp>
        <p:nvSpPr>
          <p:cNvPr id="2" name="">
            <a:extLst xmlns:a="http://schemas.openxmlformats.org/drawingml/2006/main">
              <a:ext uri="{FF2B5EF4-FFF2-40B4-BE49-F238E27FC236}">
                <a16:creationId xmlns:a16="http://schemas.microsoft.com/office/drawing/2014/main" id="{D6DCA3EE-C5A4-44EF-ACCA-9F81DEADCB6D}"/>
              </a:ext>
            </a:extLst>
          </p:cNvPr>
          <p:cNvSpPr>
            <a:spLocks xmlns:a="http://schemas.openxmlformats.org/drawingml/2006/main" noGrp="1"/>
          </p:cNvSpPr>
          <p:nvPr/>
        </p:nvSpPr>
        <p:spPr>
          <a:xfrm xmlns:a="http://schemas.openxmlformats.org/drawingml/2006/main">
            <a:off x="514350" y="59055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11111"/>
                </a:solidFill>
              </a:defRPr>
            </a:pPr>
            <a:r>
              <a:rPr sz="2850" b="1">
                <a:solidFill>
                  <a:srgbClr val="111111"/>
                </a:solidFill>
              </a:rPr>
              <a:t>Four focused weeks can close the core experimental loop</a:t>
            </a:r>
          </a:p>
        </p:txBody>
      </p:sp>
      <p:sp>
        <p:nvSpPr>
          <p:cNvPr id="3" name="">
            <a:extLst xmlns:a="http://schemas.openxmlformats.org/drawingml/2006/main">
              <a:ext uri="{FF2B5EF4-FFF2-40B4-BE49-F238E27FC236}">
                <a16:creationId xmlns:a16="http://schemas.microsoft.com/office/drawing/2014/main" id="{982344AB-75AC-4156-BE7C-F42AFF413064}"/>
              </a:ext>
            </a:extLst>
          </p:cNvPr>
          <p:cNvSpPr>
            <a:spLocks xmlns:a="http://schemas.openxmlformats.org/drawingml/2006/main" noGrp="1"/>
          </p:cNvSpPr>
          <p:nvPr/>
        </p:nvSpPr>
        <p:spPr>
          <a:xfrm xmlns:a="http://schemas.openxmlformats.org/drawingml/2006/main">
            <a:off x="514350" y="1104900"/>
            <a:ext cx="1104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46464"/>
                </a:solidFill>
              </a:defRPr>
            </a:pPr>
            <a:r>
              <a:rPr sz="1350" b="0">
                <a:solidFill>
                  <a:srgbClr val="646464"/>
                </a:solidFill>
              </a:rPr>
              <a:t>Priority order: model decision → corpus freeze → causal comparison → thesis integration.</a:t>
            </a:r>
          </a:p>
        </p:txBody>
      </p:sp>
      <p:sp>
        <p:nvSpPr>
          <p:cNvPr id="4" name="">
            <a:extLst xmlns:a="http://schemas.openxmlformats.org/drawingml/2006/main">
              <a:ext uri="{FF2B5EF4-FFF2-40B4-BE49-F238E27FC236}">
                <a16:creationId xmlns:a16="http://schemas.microsoft.com/office/drawing/2014/main" id="{4FCE8666-B07E-496B-906E-DFC56FA8DFF4}"/>
              </a:ext>
            </a:extLst>
          </p:cNvPr>
          <p:cNvSpPr>
            <a:spLocks xmlns:a="http://schemas.openxmlformats.org/drawingml/2006/main" noGrp="1"/>
          </p:cNvSpPr>
          <p:nvPr/>
        </p:nvSpPr>
        <p:spPr>
          <a:xfrm xmlns:a="http://schemas.openxmlformats.org/drawingml/2006/main">
            <a:off x="514350" y="6400800"/>
            <a:ext cx="11163300" cy="9525"/>
          </a:xfrm>
          <a:prstGeom xmlns:a="http://schemas.openxmlformats.org/drawingml/2006/main" prst="rect">
            <a:avLst/>
          </a:prstGeom>
          <a:solidFill xmlns:a="http://schemas.openxmlformats.org/drawingml/2006/main">
            <a:srgbClr val="D8D8D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C197167-3D33-4781-B8A4-12F72FC6F5B7}"/>
              </a:ext>
            </a:extLst>
          </p:cNvPr>
          <p:cNvSpPr>
            <a:spLocks xmlns:a="http://schemas.openxmlformats.org/drawingml/2006/main" noGrp="1"/>
          </p:cNvSpPr>
          <p:nvPr/>
        </p:nvSpPr>
        <p:spPr>
          <a:xfrm xmlns:a="http://schemas.openxmlformats.org/drawingml/2006/main">
            <a:off x="514350" y="6486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646464"/>
                </a:solidFill>
              </a:defRPr>
            </a:pPr>
            <a:r>
              <a:rPr sz="825" b="1">
                <a:solidFill>
                  <a:srgbClr val="646464"/>
                </a:solidFill>
              </a:rPr>
              <a:t>TRANSFER VS. RELEARNING  •  06 / 06</a:t>
            </a:r>
          </a:p>
        </p:txBody>
      </p:sp>
      <p:sp>
        <p:nvSpPr>
          <p:cNvPr id="6" name="">
            <a:extLst xmlns:a="http://schemas.openxmlformats.org/drawingml/2006/main">
              <a:ext uri="{FF2B5EF4-FFF2-40B4-BE49-F238E27FC236}">
                <a16:creationId xmlns:a16="http://schemas.microsoft.com/office/drawing/2014/main" id="{2C61509B-0EE6-46C0-873C-4DF965CA0F69}"/>
              </a:ext>
            </a:extLst>
          </p:cNvPr>
          <p:cNvSpPr>
            <a:spLocks xmlns:a="http://schemas.openxmlformats.org/drawingml/2006/main" noGrp="1"/>
          </p:cNvSpPr>
          <p:nvPr/>
        </p:nvSpPr>
        <p:spPr>
          <a:xfrm xmlns:a="http://schemas.openxmlformats.org/drawingml/2006/main">
            <a:off x="514350" y="1771650"/>
            <a:ext cx="2619375" cy="3581400"/>
          </a:xfrm>
          <a:prstGeom xmlns:a="http://schemas.openxmlformats.org/drawingml/2006/main" prst="roundRect">
            <a:avLst>
              <a:gd name="adj" fmla="val 4364"/>
            </a:avLst>
          </a:prstGeom>
          <a:solidFill xmlns:a="http://schemas.openxmlformats.org/drawingml/2006/main">
            <a:srgbClr val="FFFFFF"/>
          </a:solidFill>
          <a:ln xmlns:a="http://schemas.openxmlformats.org/drawingml/2006/main" w="9525">
            <a:solidFill>
              <a:srgbClr val="D8D8D2"/>
            </a:solidFill>
            <a:prstDash val="solid"/>
          </a:ln>
        </p:spPr>
      </p:sp>
      <p:sp>
        <p:nvSpPr>
          <p:cNvPr id="7" name="">
            <a:extLst xmlns:a="http://schemas.openxmlformats.org/drawingml/2006/main">
              <a:ext uri="{FF2B5EF4-FFF2-40B4-BE49-F238E27FC236}">
                <a16:creationId xmlns:a16="http://schemas.microsoft.com/office/drawing/2014/main" id="{7B2E2246-A9E8-4DD3-83CA-37B666EE43D4}"/>
              </a:ext>
            </a:extLst>
          </p:cNvPr>
          <p:cNvSpPr>
            <a:spLocks xmlns:a="http://schemas.openxmlformats.org/drawingml/2006/main" noGrp="1"/>
          </p:cNvSpPr>
          <p:nvPr/>
        </p:nvSpPr>
        <p:spPr>
          <a:xfrm xmlns:a="http://schemas.openxmlformats.org/drawingml/2006/main">
            <a:off x="514350" y="1771650"/>
            <a:ext cx="2619375" cy="95250"/>
          </a:xfrm>
          <a:prstGeom xmlns:a="http://schemas.openxmlformats.org/drawingml/2006/main" prst="rect">
            <a:avLst/>
          </a:prstGeom>
          <a:solidFill xmlns:a="http://schemas.openxmlformats.org/drawingml/2006/main">
            <a:srgbClr val="2F66F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637FFB1-C2F6-43FF-BDA3-88EBA127B72C}"/>
              </a:ext>
            </a:extLst>
          </p:cNvPr>
          <p:cNvSpPr>
            <a:spLocks xmlns:a="http://schemas.openxmlformats.org/drawingml/2006/main" noGrp="1"/>
          </p:cNvSpPr>
          <p:nvPr/>
        </p:nvSpPr>
        <p:spPr>
          <a:xfrm xmlns:a="http://schemas.openxmlformats.org/drawingml/2006/main">
            <a:off x="742950" y="21145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F66F3"/>
                </a:solidFill>
              </a:defRPr>
            </a:pPr>
            <a:r>
              <a:rPr sz="975" b="1">
                <a:solidFill>
                  <a:srgbClr val="2F66F3"/>
                </a:solidFill>
              </a:rPr>
              <a:t>WEEK 1</a:t>
            </a:r>
          </a:p>
        </p:txBody>
      </p:sp>
      <p:sp>
        <p:nvSpPr>
          <p:cNvPr id="9" name="">
            <a:extLst xmlns:a="http://schemas.openxmlformats.org/drawingml/2006/main">
              <a:ext uri="{FF2B5EF4-FFF2-40B4-BE49-F238E27FC236}">
                <a16:creationId xmlns:a16="http://schemas.microsoft.com/office/drawing/2014/main" id="{A541400F-C16E-4EA1-9927-5A476621A343}"/>
              </a:ext>
            </a:extLst>
          </p:cNvPr>
          <p:cNvSpPr>
            <a:spLocks xmlns:a="http://schemas.openxmlformats.org/drawingml/2006/main" noGrp="1"/>
          </p:cNvSpPr>
          <p:nvPr/>
        </p:nvSpPr>
        <p:spPr>
          <a:xfrm xmlns:a="http://schemas.openxmlformats.org/drawingml/2006/main">
            <a:off x="742950" y="2571750"/>
            <a:ext cx="2095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11111"/>
                </a:solidFill>
              </a:defRPr>
            </a:pPr>
            <a:r>
              <a:rPr sz="1875" b="1">
                <a:solidFill>
                  <a:srgbClr val="111111"/>
                </a:solidFill>
              </a:rPr>
              <a:t>Decide M1 + acquire vngrs</a:t>
            </a:r>
          </a:p>
        </p:txBody>
      </p:sp>
      <p:sp>
        <p:nvSpPr>
          <p:cNvPr id="10" name="">
            <a:extLst xmlns:a="http://schemas.openxmlformats.org/drawingml/2006/main">
              <a:ext uri="{FF2B5EF4-FFF2-40B4-BE49-F238E27FC236}">
                <a16:creationId xmlns:a16="http://schemas.microsoft.com/office/drawing/2014/main" id="{93E14522-8507-4815-995F-D0A30F170BB4}"/>
              </a:ext>
            </a:extLst>
          </p:cNvPr>
          <p:cNvSpPr>
            <a:spLocks xmlns:a="http://schemas.openxmlformats.org/drawingml/2006/main" noGrp="1"/>
          </p:cNvSpPr>
          <p:nvPr/>
        </p:nvSpPr>
        <p:spPr>
          <a:xfrm xmlns:a="http://schemas.openxmlformats.org/drawingml/2006/main">
            <a:off x="742950" y="3543300"/>
            <a:ext cx="21145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46464"/>
                </a:solidFill>
              </a:defRPr>
            </a:pPr>
            <a:r>
              <a:rPr sz="1350" b="0">
                <a:solidFill>
                  <a:srgbClr val="646464"/>
                </a:solidFill>
              </a:rPr>
              <a:t>Precommit OLMo early checkpoint decision. Download, hash and stratify the full corpus.</a:t>
            </a:r>
          </a:p>
        </p:txBody>
      </p:sp>
      <p:sp>
        <p:nvSpPr>
          <p:cNvPr id="11" name="">
            <a:extLst xmlns:a="http://schemas.openxmlformats.org/drawingml/2006/main">
              <a:ext uri="{FF2B5EF4-FFF2-40B4-BE49-F238E27FC236}">
                <a16:creationId xmlns:a16="http://schemas.microsoft.com/office/drawing/2014/main" id="{3196DF1D-6194-41F9-96CC-9B0FCA7F06FF}"/>
              </a:ext>
            </a:extLst>
          </p:cNvPr>
          <p:cNvSpPr>
            <a:spLocks xmlns:a="http://schemas.openxmlformats.org/drawingml/2006/main" noGrp="1"/>
          </p:cNvSpPr>
          <p:nvPr/>
        </p:nvSpPr>
        <p:spPr>
          <a:xfrm xmlns:a="http://schemas.openxmlformats.org/drawingml/2006/main">
            <a:off x="3362325" y="1771650"/>
            <a:ext cx="2619375" cy="3581400"/>
          </a:xfrm>
          <a:prstGeom xmlns:a="http://schemas.openxmlformats.org/drawingml/2006/main" prst="roundRect">
            <a:avLst>
              <a:gd name="adj" fmla="val 4364"/>
            </a:avLst>
          </a:prstGeom>
          <a:solidFill xmlns:a="http://schemas.openxmlformats.org/drawingml/2006/main">
            <a:srgbClr val="FFFFFF"/>
          </a:solidFill>
          <a:ln xmlns:a="http://schemas.openxmlformats.org/drawingml/2006/main" w="9525">
            <a:solidFill>
              <a:srgbClr val="D8D8D2"/>
            </a:solidFill>
            <a:prstDash val="solid"/>
          </a:ln>
        </p:spPr>
      </p:sp>
      <p:sp>
        <p:nvSpPr>
          <p:cNvPr id="12" name="">
            <a:extLst xmlns:a="http://schemas.openxmlformats.org/drawingml/2006/main">
              <a:ext uri="{FF2B5EF4-FFF2-40B4-BE49-F238E27FC236}">
                <a16:creationId xmlns:a16="http://schemas.microsoft.com/office/drawing/2014/main" id="{5C937E23-881D-471D-A74B-12A0242A08EB}"/>
              </a:ext>
            </a:extLst>
          </p:cNvPr>
          <p:cNvSpPr>
            <a:spLocks xmlns:a="http://schemas.openxmlformats.org/drawingml/2006/main" noGrp="1"/>
          </p:cNvSpPr>
          <p:nvPr/>
        </p:nvSpPr>
        <p:spPr>
          <a:xfrm xmlns:a="http://schemas.openxmlformats.org/drawingml/2006/main">
            <a:off x="3362325" y="1771650"/>
            <a:ext cx="2619375" cy="95250"/>
          </a:xfrm>
          <a:prstGeom xmlns:a="http://schemas.openxmlformats.org/drawingml/2006/main" prst="rect">
            <a:avLst/>
          </a:prstGeom>
          <a:solidFill xmlns:a="http://schemas.openxmlformats.org/drawingml/2006/main">
            <a:srgbClr val="00A7A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254951C-7176-4B96-9945-9687DE573835}"/>
              </a:ext>
            </a:extLst>
          </p:cNvPr>
          <p:cNvSpPr>
            <a:spLocks xmlns:a="http://schemas.openxmlformats.org/drawingml/2006/main" noGrp="1"/>
          </p:cNvSpPr>
          <p:nvPr/>
        </p:nvSpPr>
        <p:spPr>
          <a:xfrm xmlns:a="http://schemas.openxmlformats.org/drawingml/2006/main">
            <a:off x="3590925" y="21145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00A7A7"/>
                </a:solidFill>
              </a:defRPr>
            </a:pPr>
            <a:r>
              <a:rPr sz="975" b="1">
                <a:solidFill>
                  <a:srgbClr val="00A7A7"/>
                </a:solidFill>
              </a:rPr>
              <a:t>WEEK 2</a:t>
            </a:r>
          </a:p>
        </p:txBody>
      </p:sp>
      <p:sp>
        <p:nvSpPr>
          <p:cNvPr id="14" name="">
            <a:extLst xmlns:a="http://schemas.openxmlformats.org/drawingml/2006/main">
              <a:ext uri="{FF2B5EF4-FFF2-40B4-BE49-F238E27FC236}">
                <a16:creationId xmlns:a16="http://schemas.microsoft.com/office/drawing/2014/main" id="{4EF85EB8-947B-4558-AF44-5D3FDBA154CA}"/>
              </a:ext>
            </a:extLst>
          </p:cNvPr>
          <p:cNvSpPr>
            <a:spLocks xmlns:a="http://schemas.openxmlformats.org/drawingml/2006/main" noGrp="1"/>
          </p:cNvSpPr>
          <p:nvPr/>
        </p:nvSpPr>
        <p:spPr>
          <a:xfrm xmlns:a="http://schemas.openxmlformats.org/drawingml/2006/main">
            <a:off x="3590925" y="2571750"/>
            <a:ext cx="2095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11111"/>
                </a:solidFill>
              </a:defRPr>
            </a:pPr>
            <a:r>
              <a:rPr sz="1875" b="1">
                <a:solidFill>
                  <a:srgbClr val="111111"/>
                </a:solidFill>
              </a:rPr>
              <a:t>Audit + freeze corpus</a:t>
            </a:r>
          </a:p>
        </p:txBody>
      </p:sp>
      <p:sp>
        <p:nvSpPr>
          <p:cNvPr id="15" name="">
            <a:extLst xmlns:a="http://schemas.openxmlformats.org/drawingml/2006/main">
              <a:ext uri="{FF2B5EF4-FFF2-40B4-BE49-F238E27FC236}">
                <a16:creationId xmlns:a16="http://schemas.microsoft.com/office/drawing/2014/main" id="{99E6EF3E-947E-4151-B131-D38E4656349F}"/>
              </a:ext>
            </a:extLst>
          </p:cNvPr>
          <p:cNvSpPr>
            <a:spLocks xmlns:a="http://schemas.openxmlformats.org/drawingml/2006/main" noGrp="1"/>
          </p:cNvSpPr>
          <p:nvPr/>
        </p:nvSpPr>
        <p:spPr>
          <a:xfrm xmlns:a="http://schemas.openxmlformats.org/drawingml/2006/main">
            <a:off x="3590925" y="3543300"/>
            <a:ext cx="21145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46464"/>
                </a:solidFill>
              </a:defRPr>
            </a:pPr>
            <a:r>
              <a:rPr sz="1350" b="0">
                <a:solidFill>
                  <a:srgbClr val="646464"/>
                </a:solidFill>
              </a:rPr>
              <a:t>Human quality audit, filters, contamination checks, train/val/test and dose subsets.</a:t>
            </a:r>
          </a:p>
        </p:txBody>
      </p:sp>
      <p:sp>
        <p:nvSpPr>
          <p:cNvPr id="16" name="">
            <a:extLst xmlns:a="http://schemas.openxmlformats.org/drawingml/2006/main">
              <a:ext uri="{FF2B5EF4-FFF2-40B4-BE49-F238E27FC236}">
                <a16:creationId xmlns:a16="http://schemas.microsoft.com/office/drawing/2014/main" id="{4D1E3091-CAD1-4C59-80FC-5B0E1DC73D55}"/>
              </a:ext>
            </a:extLst>
          </p:cNvPr>
          <p:cNvSpPr>
            <a:spLocks xmlns:a="http://schemas.openxmlformats.org/drawingml/2006/main" noGrp="1"/>
          </p:cNvSpPr>
          <p:nvPr/>
        </p:nvSpPr>
        <p:spPr>
          <a:xfrm xmlns:a="http://schemas.openxmlformats.org/drawingml/2006/main">
            <a:off x="6210300" y="1771650"/>
            <a:ext cx="2619375" cy="3581400"/>
          </a:xfrm>
          <a:prstGeom xmlns:a="http://schemas.openxmlformats.org/drawingml/2006/main" prst="roundRect">
            <a:avLst>
              <a:gd name="adj" fmla="val 4364"/>
            </a:avLst>
          </a:prstGeom>
          <a:solidFill xmlns:a="http://schemas.openxmlformats.org/drawingml/2006/main">
            <a:srgbClr val="FFFFFF"/>
          </a:solidFill>
          <a:ln xmlns:a="http://schemas.openxmlformats.org/drawingml/2006/main" w="9525">
            <a:solidFill>
              <a:srgbClr val="D8D8D2"/>
            </a:solidFill>
            <a:prstDash val="solid"/>
          </a:ln>
        </p:spPr>
      </p:sp>
      <p:sp>
        <p:nvSpPr>
          <p:cNvPr id="17" name="">
            <a:extLst xmlns:a="http://schemas.openxmlformats.org/drawingml/2006/main">
              <a:ext uri="{FF2B5EF4-FFF2-40B4-BE49-F238E27FC236}">
                <a16:creationId xmlns:a16="http://schemas.microsoft.com/office/drawing/2014/main" id="{7C18D26D-7FF4-492E-AA54-7460DA74EE3C}"/>
              </a:ext>
            </a:extLst>
          </p:cNvPr>
          <p:cNvSpPr>
            <a:spLocks xmlns:a="http://schemas.openxmlformats.org/drawingml/2006/main" noGrp="1"/>
          </p:cNvSpPr>
          <p:nvPr/>
        </p:nvSpPr>
        <p:spPr>
          <a:xfrm xmlns:a="http://schemas.openxmlformats.org/drawingml/2006/main">
            <a:off x="6210300" y="1771650"/>
            <a:ext cx="2619375" cy="95250"/>
          </a:xfrm>
          <a:prstGeom xmlns:a="http://schemas.openxmlformats.org/drawingml/2006/main" prst="rect">
            <a:avLst/>
          </a:prstGeom>
          <a:solidFill xmlns:a="http://schemas.openxmlformats.org/drawingml/2006/main">
            <a:srgbClr val="F28C2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B92CF46-E350-499D-9D7C-EE781FB54C36}"/>
              </a:ext>
            </a:extLst>
          </p:cNvPr>
          <p:cNvSpPr>
            <a:spLocks xmlns:a="http://schemas.openxmlformats.org/drawingml/2006/main" noGrp="1"/>
          </p:cNvSpPr>
          <p:nvPr/>
        </p:nvSpPr>
        <p:spPr>
          <a:xfrm xmlns:a="http://schemas.openxmlformats.org/drawingml/2006/main">
            <a:off x="6438900" y="21145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28C28"/>
                </a:solidFill>
              </a:defRPr>
            </a:pPr>
            <a:r>
              <a:rPr sz="975" b="1">
                <a:solidFill>
                  <a:srgbClr val="F28C28"/>
                </a:solidFill>
              </a:rPr>
              <a:t>WEEK 3</a:t>
            </a:r>
          </a:p>
        </p:txBody>
      </p:sp>
      <p:sp>
        <p:nvSpPr>
          <p:cNvPr id="19" name="">
            <a:extLst xmlns:a="http://schemas.openxmlformats.org/drawingml/2006/main">
              <a:ext uri="{FF2B5EF4-FFF2-40B4-BE49-F238E27FC236}">
                <a16:creationId xmlns:a16="http://schemas.microsoft.com/office/drawing/2014/main" id="{CAC45883-3435-4CEB-BF7D-0FCC60FAA9E8}"/>
              </a:ext>
            </a:extLst>
          </p:cNvPr>
          <p:cNvSpPr>
            <a:spLocks xmlns:a="http://schemas.openxmlformats.org/drawingml/2006/main" noGrp="1"/>
          </p:cNvSpPr>
          <p:nvPr/>
        </p:nvSpPr>
        <p:spPr>
          <a:xfrm xmlns:a="http://schemas.openxmlformats.org/drawingml/2006/main">
            <a:off x="6438900" y="2571750"/>
            <a:ext cx="2095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11111"/>
                </a:solidFill>
              </a:defRPr>
            </a:pPr>
            <a:r>
              <a:rPr sz="1875" b="1">
                <a:solidFill>
                  <a:srgbClr val="111111"/>
                </a:solidFill>
              </a:rPr>
              <a:t>Run M2-A / M2-B</a:t>
            </a:r>
          </a:p>
        </p:txBody>
      </p:sp>
      <p:sp>
        <p:nvSpPr>
          <p:cNvPr id="20" name="">
            <a:extLst xmlns:a="http://schemas.openxmlformats.org/drawingml/2006/main">
              <a:ext uri="{FF2B5EF4-FFF2-40B4-BE49-F238E27FC236}">
                <a16:creationId xmlns:a16="http://schemas.microsoft.com/office/drawing/2014/main" id="{EB48F97D-E02D-42D4-BDEE-F43C92923FC1}"/>
              </a:ext>
            </a:extLst>
          </p:cNvPr>
          <p:cNvSpPr>
            <a:spLocks xmlns:a="http://schemas.openxmlformats.org/drawingml/2006/main" noGrp="1"/>
          </p:cNvSpPr>
          <p:nvPr/>
        </p:nvSpPr>
        <p:spPr>
          <a:xfrm xmlns:a="http://schemas.openxmlformats.org/drawingml/2006/main">
            <a:off x="6438900" y="3543300"/>
            <a:ext cx="21145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46464"/>
                </a:solidFill>
              </a:defRPr>
            </a:pPr>
            <a:r>
              <a:rPr sz="1350" b="0">
                <a:solidFill>
                  <a:srgbClr val="646464"/>
                </a:solidFill>
              </a:rPr>
              <a:t>Matched Turkish adaptation arms; manipulation checks; two seeds if compute permits.</a:t>
            </a:r>
          </a:p>
        </p:txBody>
      </p:sp>
      <p:sp>
        <p:nvSpPr>
          <p:cNvPr id="21" name="">
            <a:extLst xmlns:a="http://schemas.openxmlformats.org/drawingml/2006/main">
              <a:ext uri="{FF2B5EF4-FFF2-40B4-BE49-F238E27FC236}">
                <a16:creationId xmlns:a16="http://schemas.microsoft.com/office/drawing/2014/main" id="{ED9F2FD5-66C2-4E31-83E8-7544F0C7153F}"/>
              </a:ext>
            </a:extLst>
          </p:cNvPr>
          <p:cNvSpPr>
            <a:spLocks xmlns:a="http://schemas.openxmlformats.org/drawingml/2006/main" noGrp="1"/>
          </p:cNvSpPr>
          <p:nvPr/>
        </p:nvSpPr>
        <p:spPr>
          <a:xfrm xmlns:a="http://schemas.openxmlformats.org/drawingml/2006/main">
            <a:off x="9058275" y="1771650"/>
            <a:ext cx="2619375" cy="3581400"/>
          </a:xfrm>
          <a:prstGeom xmlns:a="http://schemas.openxmlformats.org/drawingml/2006/main" prst="roundRect">
            <a:avLst>
              <a:gd name="adj" fmla="val 4364"/>
            </a:avLst>
          </a:prstGeom>
          <a:solidFill xmlns:a="http://schemas.openxmlformats.org/drawingml/2006/main">
            <a:srgbClr val="FFFFFF"/>
          </a:solidFill>
          <a:ln xmlns:a="http://schemas.openxmlformats.org/drawingml/2006/main" w="9525">
            <a:solidFill>
              <a:srgbClr val="D8D8D2"/>
            </a:solidFill>
            <a:prstDash val="solid"/>
          </a:ln>
        </p:spPr>
      </p:sp>
      <p:sp>
        <p:nvSpPr>
          <p:cNvPr id="22" name="">
            <a:extLst xmlns:a="http://schemas.openxmlformats.org/drawingml/2006/main">
              <a:ext uri="{FF2B5EF4-FFF2-40B4-BE49-F238E27FC236}">
                <a16:creationId xmlns:a16="http://schemas.microsoft.com/office/drawing/2014/main" id="{7AC3E504-4993-4C72-A72C-C4D0A19C1A0A}"/>
              </a:ext>
            </a:extLst>
          </p:cNvPr>
          <p:cNvSpPr>
            <a:spLocks xmlns:a="http://schemas.openxmlformats.org/drawingml/2006/main" noGrp="1"/>
          </p:cNvSpPr>
          <p:nvPr/>
        </p:nvSpPr>
        <p:spPr>
          <a:xfrm xmlns:a="http://schemas.openxmlformats.org/drawingml/2006/main">
            <a:off x="9058275" y="1771650"/>
            <a:ext cx="2619375" cy="95250"/>
          </a:xfrm>
          <a:prstGeom xmlns:a="http://schemas.openxmlformats.org/drawingml/2006/main" prst="rect">
            <a:avLst/>
          </a:prstGeom>
          <a:solidFill xmlns:a="http://schemas.openxmlformats.org/drawingml/2006/main">
            <a:srgbClr val="2E8B57"/>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D4A8619A-39F3-4636-B0A8-62B78BDC56A6}"/>
              </a:ext>
            </a:extLst>
          </p:cNvPr>
          <p:cNvSpPr>
            <a:spLocks xmlns:a="http://schemas.openxmlformats.org/drawingml/2006/main" noGrp="1"/>
          </p:cNvSpPr>
          <p:nvPr/>
        </p:nvSpPr>
        <p:spPr>
          <a:xfrm xmlns:a="http://schemas.openxmlformats.org/drawingml/2006/main">
            <a:off x="9286875" y="21145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E8B57"/>
                </a:solidFill>
              </a:defRPr>
            </a:pPr>
            <a:r>
              <a:rPr sz="975" b="1">
                <a:solidFill>
                  <a:srgbClr val="2E8B57"/>
                </a:solidFill>
              </a:rPr>
              <a:t>WEEK 4</a:t>
            </a:r>
          </a:p>
        </p:txBody>
      </p:sp>
      <p:sp>
        <p:nvSpPr>
          <p:cNvPr id="24" name="">
            <a:extLst xmlns:a="http://schemas.openxmlformats.org/drawingml/2006/main">
              <a:ext uri="{FF2B5EF4-FFF2-40B4-BE49-F238E27FC236}">
                <a16:creationId xmlns:a16="http://schemas.microsoft.com/office/drawing/2014/main" id="{DE400CAF-EF87-454D-90AD-3628F9E043B7}"/>
              </a:ext>
            </a:extLst>
          </p:cNvPr>
          <p:cNvSpPr>
            <a:spLocks xmlns:a="http://schemas.openxmlformats.org/drawingml/2006/main" noGrp="1"/>
          </p:cNvSpPr>
          <p:nvPr/>
        </p:nvSpPr>
        <p:spPr>
          <a:xfrm xmlns:a="http://schemas.openxmlformats.org/drawingml/2006/main">
            <a:off x="9286875" y="2571750"/>
            <a:ext cx="2095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11111"/>
                </a:solidFill>
              </a:defRPr>
            </a:pPr>
            <a:r>
              <a:rPr sz="1875" b="1">
                <a:solidFill>
                  <a:srgbClr val="111111"/>
                </a:solidFill>
              </a:rPr>
              <a:t>Analyze + write</a:t>
            </a:r>
          </a:p>
        </p:txBody>
      </p:sp>
      <p:sp>
        <p:nvSpPr>
          <p:cNvPr id="25" name="">
            <a:extLst xmlns:a="http://schemas.openxmlformats.org/drawingml/2006/main">
              <a:ext uri="{FF2B5EF4-FFF2-40B4-BE49-F238E27FC236}">
                <a16:creationId xmlns:a16="http://schemas.microsoft.com/office/drawing/2014/main" id="{081E49A9-B3FB-4391-9B86-2206384D01A3}"/>
              </a:ext>
            </a:extLst>
          </p:cNvPr>
          <p:cNvSpPr>
            <a:spLocks xmlns:a="http://schemas.openxmlformats.org/drawingml/2006/main" noGrp="1"/>
          </p:cNvSpPr>
          <p:nvPr/>
        </p:nvSpPr>
        <p:spPr>
          <a:xfrm xmlns:a="http://schemas.openxmlformats.org/drawingml/2006/main">
            <a:off x="9286875" y="3543300"/>
            <a:ext cx="21145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46464"/>
                </a:solidFill>
              </a:defRPr>
            </a:pPr>
            <a:r>
              <a:rPr sz="1350" b="0">
                <a:solidFill>
                  <a:srgbClr val="646464"/>
                </a:solidFill>
              </a:rPr>
              <a:t>Bootstrap contrasts, retention analysis, artifact freeze, near-final Results and Discussion.</a:t>
            </a:r>
          </a:p>
        </p:txBody>
      </p:sp>
      <p:sp>
        <p:nvSpPr>
          <p:cNvPr id="26" name="">
            <a:extLst xmlns:a="http://schemas.openxmlformats.org/drawingml/2006/main">
              <a:ext uri="{FF2B5EF4-FFF2-40B4-BE49-F238E27FC236}">
                <a16:creationId xmlns:a16="http://schemas.microsoft.com/office/drawing/2014/main" id="{446AA559-4B92-4858-BF3F-26A1F5111F7F}"/>
              </a:ext>
            </a:extLst>
          </p:cNvPr>
          <p:cNvSpPr>
            <a:spLocks xmlns:a="http://schemas.openxmlformats.org/drawingml/2006/main" noGrp="1"/>
          </p:cNvSpPr>
          <p:nvPr/>
        </p:nvSpPr>
        <p:spPr>
          <a:xfrm xmlns:a="http://schemas.openxmlformats.org/drawingml/2006/main">
            <a:off x="2133600" y="5619750"/>
            <a:ext cx="7924800" cy="552450"/>
          </a:xfrm>
          <a:prstGeom xmlns:a="http://schemas.openxmlformats.org/drawingml/2006/main" prst="roundRect">
            <a:avLst>
              <a:gd name="adj" fmla="val 20690"/>
            </a:avLst>
          </a:prstGeom>
          <a:solidFill xmlns:a="http://schemas.openxmlformats.org/drawingml/2006/main">
            <a:srgbClr val="FFF0DF"/>
          </a:solidFill>
          <a:ln xmlns:a="http://schemas.openxmlformats.org/drawingml/2006/main" w="9525">
            <a:solidFill>
              <a:srgbClr val="F28C28"/>
            </a:solidFill>
            <a:prstDash val="solid"/>
          </a:ln>
        </p:spPr>
      </p:sp>
      <p:sp>
        <p:nvSpPr>
          <p:cNvPr id="27" name="">
            <a:extLst xmlns:a="http://schemas.openxmlformats.org/drawingml/2006/main">
              <a:ext uri="{FF2B5EF4-FFF2-40B4-BE49-F238E27FC236}">
                <a16:creationId xmlns:a16="http://schemas.microsoft.com/office/drawing/2014/main" id="{DE853104-5A6C-41B4-8042-96C0DA01AA16}"/>
              </a:ext>
            </a:extLst>
          </p:cNvPr>
          <p:cNvSpPr>
            <a:spLocks xmlns:a="http://schemas.openxmlformats.org/drawingml/2006/main" noGrp="1"/>
          </p:cNvSpPr>
          <p:nvPr/>
        </p:nvSpPr>
        <p:spPr>
          <a:xfrm xmlns:a="http://schemas.openxmlformats.org/drawingml/2006/main">
            <a:off x="2362200" y="5772150"/>
            <a:ext cx="7467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11111"/>
                </a:solidFill>
              </a:defRPr>
            </a:pPr>
            <a:r>
              <a:rPr sz="1350" b="1">
                <a:solidFill>
                  <a:srgbClr val="111111"/>
                </a:solidFill>
              </a:rPr>
              <a:t>Stop rule: if OLMo still misses retention, freeze it as a negative — no open-ended model fishing.</a:t>
            </a:r>
          </a:p>
        </p:txBody>
      </p:sp>
    </p:spTree>
    <p:extLst>
      <p:ext uri="{BB962C8B-B14F-4D97-AF65-F5344CB8AC3E}">
        <p14:creationId xmlns:p14="http://schemas.microsoft.com/office/powerpoint/2010/main" val="18186510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2026-08-14T06:48:26.8290000Z</dcterms:created>
  <dcterms:modified xsi:type="dcterms:W3CDTF">2026-08-14T06:48:26.8300000Z</dcterms:modified>
</coreProperties>
</file>